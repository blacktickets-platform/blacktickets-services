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BlackTickets: a full-stack, production-grade event booking system built to demonstrate real DevOps, Kubernetes, and AI capabilities. Walk through each microservice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full AWS architecture: VPC with public/private subnets, EKS cluster, RDS PostgreSQL, ECR for container registry, SQS for async messaging, Lambda for event processing, Bedrock for AI. ArgoCD manages GitOps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organizes the entire AWS infrastructure into 12 self-contained modules. Remote state is stored in S3 with DynamoDB locking to prevent concurrent modifications. Each module is independently versioned and reusable.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EKS cluster uses managed node groups. Each microservice runs in its own Kubernetes deployment with service definitions. ALB Ingress Controller routes external traffic. External Secrets Operator syncs secrets from AWS Secrets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IRSA allows Kubernetes service accounts to assume IAM roles directly via OIDC federation — no access keys stored in pods. Secrets Manager stores all credentials, and External Secrets Operator syncs them into Kubernetes Secrets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 pipeline runs on every push: lint, test, SonarCloud quality gate, Snyk for dependencies, Trivy for image scanning. On success, Docker image is built, pushed to ECR, Helm values updated with new image tag, and ArgoCD automatically syncs to 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scrapes metrics from all pods every 15 seconds. Grafana visualizes pod health, latency, and error rates. CloudWatch monitors EKS node-level metrics. CloudTrail provides full API-level audit logs for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booking is created, the booking-service publishes a message to SQS. Lambda picks it up and publishes to SNS, which sends an email to the customer. This is fully async — the API response is instant regardless of email delivery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chatbot-service wraps the Amazon Bedrock Agent API. The agent understands user intent (e.g., 'book 2 tickets to the music festival on Friday'), calls event-service to look up events, then calls booking-service to complete the booking — all autonomously.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advanced multi-account pattern. The chatbot-service in Account A uses IRSA to call STS and assume a cross-account IAM role in Account B, which has Bedrock access. This isolates AI workloads, reduces blast radius, and is aligned with AWS Well-Architected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these weren't just academic exercises — these are real production-class problems. SCP policy issues, cross-account IAM chaining, and GitOps discipline are things senior engineers deal with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breadth of what was built: 12 Terraform modules, 5 microservices, 9-stage CI/CD, 3 security tools, 4 observability tools, and a novel cross-account AI architecture. This is a production-grade system, not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0" y="-1371600"/>
            <a:ext cx="7315200" cy="7315200"/>
          </a:xfrm>
          <a:prstGeom prst="ellipse">
            <a:avLst/>
          </a:prstGeom>
          <a:solidFill>
            <a:srgbClr val="146EB4">
              <a:alpha val="8000"/>
            </a:srgbClr>
          </a:solidFill>
          <a:ln w="12700">
            <a:solidFill>
              <a:srgbClr val="146EB4">
                <a:alpha val="8000"/>
              </a:srgbClr>
            </a:solidFill>
            <a:prstDash val="solid"/>
          </a:ln>
        </p:spPr>
      </p:sp>
      <p:sp>
        <p:nvSpPr>
          <p:cNvPr id="3" name="Shape 1"/>
          <p:cNvSpPr/>
          <p:nvPr/>
        </p:nvSpPr>
        <p:spPr>
          <a:xfrm>
            <a:off x="-1828800" y="1828800"/>
            <a:ext cx="5486400" cy="5486400"/>
          </a:xfrm>
          <a:prstGeom prst="ellipse">
            <a:avLst/>
          </a:prstGeom>
          <a:solidFill>
            <a:srgbClr val="00A4BD">
              <a:alpha val="6000"/>
            </a:srgbClr>
          </a:solidFill>
          <a:ln w="12700">
            <a:solidFill>
              <a:srgbClr val="00A4BD">
                <a:alpha val="6000"/>
              </a:srgbClr>
            </a:solidFill>
            <a:prstDash val="solid"/>
          </a:ln>
        </p:spPr>
      </p:sp>
      <p:sp>
        <p:nvSpPr>
          <p:cNvPr id="4" name="Text 2"/>
          <p:cNvSpPr/>
          <p:nvPr/>
        </p:nvSpPr>
        <p:spPr>
          <a:xfrm>
            <a:off x="548640" y="502920"/>
            <a:ext cx="804672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CAPSTONE PROJECT  •  DEVOPS + CLOUD + AI</a:t>
            </a:r>
            <a:endParaRPr lang="en-US" sz="1000" dirty="0"/>
          </a:p>
        </p:txBody>
      </p:sp>
      <p:sp>
        <p:nvSpPr>
          <p:cNvPr id="5" name="Text 3"/>
          <p:cNvSpPr/>
          <p:nvPr/>
        </p:nvSpPr>
        <p:spPr>
          <a:xfrm>
            <a:off x="548640" y="960120"/>
            <a:ext cx="8229600" cy="137160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BlackTickets</a:t>
            </a:r>
            <a:endParaRPr lang="en-US" sz="7200" dirty="0"/>
          </a:p>
        </p:txBody>
      </p:sp>
      <p:sp>
        <p:nvSpPr>
          <p:cNvPr id="6" name="Text 4"/>
          <p:cNvSpPr/>
          <p:nvPr/>
        </p:nvSpPr>
        <p:spPr>
          <a:xfrm>
            <a:off x="548640" y="2331720"/>
            <a:ext cx="8229600" cy="594360"/>
          </a:xfrm>
          <a:prstGeom prst="rect">
            <a:avLst/>
          </a:prstGeom>
          <a:noFill/>
          <a:ln/>
        </p:spPr>
        <p:txBody>
          <a:bodyPr wrap="square" lIns="0" tIns="0" rIns="0" bIns="0" rtlCol="0" anchor="ctr"/>
          <a:lstStyle/>
          <a:p>
            <a:pPr indent="0" marL="0">
              <a:buNone/>
            </a:pPr>
            <a:r>
              <a:rPr lang="en-US" sz="2200" dirty="0">
                <a:solidFill>
                  <a:srgbClr val="00A4BD"/>
                </a:solidFill>
                <a:latin typeface="Calibri" pitchFamily="34" charset="0"/>
                <a:ea typeface="Calibri" pitchFamily="34" charset="-122"/>
                <a:cs typeface="Calibri" pitchFamily="34" charset="-120"/>
              </a:rPr>
              <a:t>Production-Grade Cloud-Native Event Booking Platform</a:t>
            </a:r>
            <a:endParaRPr lang="en-US" sz="2200" dirty="0"/>
          </a:p>
        </p:txBody>
      </p:sp>
      <p:sp>
        <p:nvSpPr>
          <p:cNvPr id="7" name="Text 5"/>
          <p:cNvSpPr/>
          <p:nvPr/>
        </p:nvSpPr>
        <p:spPr>
          <a:xfrm>
            <a:off x="548640" y="2971800"/>
            <a:ext cx="8229600" cy="36576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Amazon EKS  ·  Terraform IaC  ·  ArgoCD GitOps  ·  Amazon Bedrock AI  ·  DevSecOps</a:t>
            </a:r>
            <a:endParaRPr lang="en-US" sz="1300" dirty="0"/>
          </a:p>
        </p:txBody>
      </p:sp>
      <p:sp>
        <p:nvSpPr>
          <p:cNvPr id="8" name="Shape 6"/>
          <p:cNvSpPr/>
          <p:nvPr/>
        </p:nvSpPr>
        <p:spPr>
          <a:xfrm>
            <a:off x="548640" y="4069080"/>
            <a:ext cx="1554480" cy="384048"/>
          </a:xfrm>
          <a:prstGeom prst="roundRect">
            <a:avLst>
              <a:gd name="adj" fmla="val 19048"/>
            </a:avLst>
          </a:prstGeom>
          <a:solidFill>
            <a:srgbClr val="FF9900">
              <a:alpha val="20000"/>
            </a:srgbClr>
          </a:solidFill>
          <a:ln w="15240">
            <a:solidFill>
              <a:srgbClr val="FF9900"/>
            </a:solidFill>
            <a:prstDash val="solid"/>
          </a:ln>
        </p:spPr>
      </p:sp>
      <p:sp>
        <p:nvSpPr>
          <p:cNvPr id="9" name="Text 7"/>
          <p:cNvSpPr/>
          <p:nvPr/>
        </p:nvSpPr>
        <p:spPr>
          <a:xfrm>
            <a:off x="548640" y="4069080"/>
            <a:ext cx="1554480" cy="384048"/>
          </a:xfrm>
          <a:prstGeom prst="rect">
            <a:avLst/>
          </a:prstGeom>
          <a:noFill/>
          <a:ln/>
        </p:spPr>
        <p:txBody>
          <a:bodyPr wrap="square" lIns="0" tIns="0" rIns="0" bIns="0"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EKS</a:t>
            </a:r>
            <a:endParaRPr lang="en-US" sz="1000" dirty="0"/>
          </a:p>
        </p:txBody>
      </p:sp>
      <p:sp>
        <p:nvSpPr>
          <p:cNvPr id="10" name="Shape 8"/>
          <p:cNvSpPr/>
          <p:nvPr/>
        </p:nvSpPr>
        <p:spPr>
          <a:xfrm>
            <a:off x="2240280" y="4069080"/>
            <a:ext cx="1554480" cy="384048"/>
          </a:xfrm>
          <a:prstGeom prst="roundRect">
            <a:avLst>
              <a:gd name="adj" fmla="val 19048"/>
            </a:avLst>
          </a:prstGeom>
          <a:solidFill>
            <a:srgbClr val="00A4BD">
              <a:alpha val="20000"/>
            </a:srgbClr>
          </a:solidFill>
          <a:ln w="15240">
            <a:solidFill>
              <a:srgbClr val="00A4BD"/>
            </a:solidFill>
            <a:prstDash val="solid"/>
          </a:ln>
        </p:spPr>
      </p:sp>
      <p:sp>
        <p:nvSpPr>
          <p:cNvPr id="11" name="Text 9"/>
          <p:cNvSpPr/>
          <p:nvPr/>
        </p:nvSpPr>
        <p:spPr>
          <a:xfrm>
            <a:off x="2240280" y="4069080"/>
            <a:ext cx="1554480" cy="384048"/>
          </a:xfrm>
          <a:prstGeom prst="rect">
            <a:avLst/>
          </a:prstGeom>
          <a:noFill/>
          <a:ln/>
        </p:spPr>
        <p:txBody>
          <a:bodyPr wrap="square" lIns="0" tIns="0" rIns="0" bIns="0" rtlCol="0" anchor="ctr"/>
          <a:lstStyle/>
          <a:p>
            <a:pPr algn="ctr" indent="0" marL="0">
              <a:buNone/>
            </a:pPr>
            <a:r>
              <a:rPr lang="en-US" sz="1000" b="1" dirty="0">
                <a:solidFill>
                  <a:srgbClr val="00A4BD"/>
                </a:solidFill>
                <a:latin typeface="Calibri" pitchFamily="34" charset="0"/>
                <a:ea typeface="Calibri" pitchFamily="34" charset="-122"/>
                <a:cs typeface="Calibri" pitchFamily="34" charset="-120"/>
              </a:rPr>
              <a:t>TERRAFORM</a:t>
            </a:r>
            <a:endParaRPr lang="en-US" sz="1000" dirty="0"/>
          </a:p>
        </p:txBody>
      </p:sp>
      <p:sp>
        <p:nvSpPr>
          <p:cNvPr id="12" name="Shape 10"/>
          <p:cNvSpPr/>
          <p:nvPr/>
        </p:nvSpPr>
        <p:spPr>
          <a:xfrm>
            <a:off x="3931920" y="4069080"/>
            <a:ext cx="1554480" cy="384048"/>
          </a:xfrm>
          <a:prstGeom prst="roundRect">
            <a:avLst>
              <a:gd name="adj" fmla="val 19048"/>
            </a:avLst>
          </a:prstGeom>
          <a:solidFill>
            <a:srgbClr val="A371F7">
              <a:alpha val="20000"/>
            </a:srgbClr>
          </a:solidFill>
          <a:ln w="15240">
            <a:solidFill>
              <a:srgbClr val="A371F7"/>
            </a:solidFill>
            <a:prstDash val="solid"/>
          </a:ln>
        </p:spPr>
      </p:sp>
      <p:sp>
        <p:nvSpPr>
          <p:cNvPr id="13" name="Text 11"/>
          <p:cNvSpPr/>
          <p:nvPr/>
        </p:nvSpPr>
        <p:spPr>
          <a:xfrm>
            <a:off x="3931920" y="4069080"/>
            <a:ext cx="1554480" cy="384048"/>
          </a:xfrm>
          <a:prstGeom prst="rect">
            <a:avLst/>
          </a:prstGeom>
          <a:noFill/>
          <a:ln/>
        </p:spPr>
        <p:txBody>
          <a:bodyPr wrap="square" lIns="0" tIns="0" rIns="0" bIns="0" rtlCol="0" anchor="ctr"/>
          <a:lstStyle/>
          <a:p>
            <a:pPr algn="ctr" indent="0" marL="0">
              <a:buNone/>
            </a:pPr>
            <a:r>
              <a:rPr lang="en-US" sz="1000" b="1" dirty="0">
                <a:solidFill>
                  <a:srgbClr val="A371F7"/>
                </a:solidFill>
                <a:latin typeface="Calibri" pitchFamily="34" charset="0"/>
                <a:ea typeface="Calibri" pitchFamily="34" charset="-122"/>
                <a:cs typeface="Calibri" pitchFamily="34" charset="-120"/>
              </a:rPr>
              <a:t>ARGOCD</a:t>
            </a:r>
            <a:endParaRPr lang="en-US" sz="1000" dirty="0"/>
          </a:p>
        </p:txBody>
      </p:sp>
      <p:sp>
        <p:nvSpPr>
          <p:cNvPr id="14" name="Shape 12"/>
          <p:cNvSpPr/>
          <p:nvPr/>
        </p:nvSpPr>
        <p:spPr>
          <a:xfrm>
            <a:off x="5623560" y="4069080"/>
            <a:ext cx="1554480" cy="384048"/>
          </a:xfrm>
          <a:prstGeom prst="roundRect">
            <a:avLst>
              <a:gd name="adj" fmla="val 19048"/>
            </a:avLst>
          </a:prstGeom>
          <a:solidFill>
            <a:srgbClr val="2EA44F">
              <a:alpha val="20000"/>
            </a:srgbClr>
          </a:solidFill>
          <a:ln w="15240">
            <a:solidFill>
              <a:srgbClr val="2EA44F"/>
            </a:solidFill>
            <a:prstDash val="solid"/>
          </a:ln>
        </p:spPr>
      </p:sp>
      <p:sp>
        <p:nvSpPr>
          <p:cNvPr id="15" name="Text 13"/>
          <p:cNvSpPr/>
          <p:nvPr/>
        </p:nvSpPr>
        <p:spPr>
          <a:xfrm>
            <a:off x="5623560" y="4069080"/>
            <a:ext cx="1554480" cy="384048"/>
          </a:xfrm>
          <a:prstGeom prst="rect">
            <a:avLst/>
          </a:prstGeom>
          <a:noFill/>
          <a:ln/>
        </p:spPr>
        <p:txBody>
          <a:bodyPr wrap="square" lIns="0" tIns="0" rIns="0" bIns="0" rtlCol="0" anchor="ctr"/>
          <a:lstStyle/>
          <a:p>
            <a:pPr algn="ctr" indent="0" marL="0">
              <a:buNone/>
            </a:pPr>
            <a:r>
              <a:rPr lang="en-US" sz="1000" b="1" dirty="0">
                <a:solidFill>
                  <a:srgbClr val="2EA44F"/>
                </a:solidFill>
                <a:latin typeface="Calibri" pitchFamily="34" charset="0"/>
                <a:ea typeface="Calibri" pitchFamily="34" charset="-122"/>
                <a:cs typeface="Calibri" pitchFamily="34" charset="-120"/>
              </a:rPr>
              <a:t>BEDROCK AI</a:t>
            </a:r>
            <a:endParaRPr lang="en-US" sz="1000" dirty="0"/>
          </a:p>
        </p:txBody>
      </p:sp>
      <p:sp>
        <p:nvSpPr>
          <p:cNvPr id="16" name="Shape 14"/>
          <p:cNvSpPr/>
          <p:nvPr/>
        </p:nvSpPr>
        <p:spPr>
          <a:xfrm>
            <a:off x="7315200" y="4069080"/>
            <a:ext cx="1554480" cy="384048"/>
          </a:xfrm>
          <a:prstGeom prst="roundRect">
            <a:avLst>
              <a:gd name="adj" fmla="val 19048"/>
            </a:avLst>
          </a:prstGeom>
          <a:solidFill>
            <a:srgbClr val="F85149">
              <a:alpha val="20000"/>
            </a:srgbClr>
          </a:solidFill>
          <a:ln w="15240">
            <a:solidFill>
              <a:srgbClr val="F85149"/>
            </a:solidFill>
            <a:prstDash val="solid"/>
          </a:ln>
        </p:spPr>
      </p:sp>
      <p:sp>
        <p:nvSpPr>
          <p:cNvPr id="17" name="Text 15"/>
          <p:cNvSpPr/>
          <p:nvPr/>
        </p:nvSpPr>
        <p:spPr>
          <a:xfrm>
            <a:off x="7315200" y="4069080"/>
            <a:ext cx="1554480" cy="384048"/>
          </a:xfrm>
          <a:prstGeom prst="rect">
            <a:avLst/>
          </a:prstGeom>
          <a:noFill/>
          <a:ln/>
        </p:spPr>
        <p:txBody>
          <a:bodyPr wrap="square" lIns="0" tIns="0" rIns="0" bIns="0" rtlCol="0" anchor="ctr"/>
          <a:lstStyle/>
          <a:p>
            <a:pPr algn="ctr" indent="0" marL="0">
              <a:buNone/>
            </a:pPr>
            <a:r>
              <a:rPr lang="en-US" sz="1000" b="1" dirty="0">
                <a:solidFill>
                  <a:srgbClr val="F85149"/>
                </a:solidFill>
                <a:latin typeface="Calibri" pitchFamily="34" charset="0"/>
                <a:ea typeface="Calibri" pitchFamily="34" charset="-122"/>
                <a:cs typeface="Calibri" pitchFamily="34" charset="-120"/>
              </a:rPr>
              <a:t>DEVSECOPS</a:t>
            </a:r>
            <a:endParaRPr lang="en-US" sz="1000" dirty="0"/>
          </a:p>
        </p:txBody>
      </p:sp>
      <p:sp>
        <p:nvSpPr>
          <p:cNvPr id="18" name="Shape 16"/>
          <p:cNvSpPr/>
          <p:nvPr/>
        </p:nvSpPr>
        <p:spPr>
          <a:xfrm>
            <a:off x="6949440" y="731520"/>
            <a:ext cx="1920240" cy="566928"/>
          </a:xfrm>
          <a:prstGeom prst="roundRect">
            <a:avLst>
              <a:gd name="adj" fmla="val 9677"/>
            </a:avLst>
          </a:prstGeom>
          <a:solidFill>
            <a:srgbClr val="161B22"/>
          </a:solidFill>
          <a:ln w="12700">
            <a:solidFill>
              <a:srgbClr val="30363D"/>
            </a:solidFill>
            <a:prstDash val="solid"/>
          </a:ln>
          <a:effectLst>
            <a:outerShdw sx="100000" sy="100000" kx="0" ky="0" algn="bl" rotWithShape="0" blurRad="101600" dist="38100" dir="2700000">
              <a:srgbClr val="000000">
                <a:alpha val="30000"/>
              </a:srgbClr>
            </a:outerShdw>
          </a:effectLst>
        </p:spPr>
      </p:sp>
      <p:sp>
        <p:nvSpPr>
          <p:cNvPr id="19" name="Text 17"/>
          <p:cNvSpPr/>
          <p:nvPr/>
        </p:nvSpPr>
        <p:spPr>
          <a:xfrm>
            <a:off x="6949440" y="731520"/>
            <a:ext cx="1920240" cy="566928"/>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frontend</a:t>
            </a:r>
            <a:endParaRPr lang="en-US" sz="1100" dirty="0"/>
          </a:p>
        </p:txBody>
      </p:sp>
      <p:sp>
        <p:nvSpPr>
          <p:cNvPr id="20" name="Shape 18"/>
          <p:cNvSpPr/>
          <p:nvPr/>
        </p:nvSpPr>
        <p:spPr>
          <a:xfrm>
            <a:off x="6949440" y="1481328"/>
            <a:ext cx="1920240" cy="566928"/>
          </a:xfrm>
          <a:prstGeom prst="roundRect">
            <a:avLst>
              <a:gd name="adj" fmla="val 9677"/>
            </a:avLst>
          </a:prstGeom>
          <a:solidFill>
            <a:srgbClr val="161B22"/>
          </a:solidFill>
          <a:ln w="12700">
            <a:solidFill>
              <a:srgbClr val="30363D"/>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6949440" y="1481328"/>
            <a:ext cx="1920240" cy="566928"/>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identity-service</a:t>
            </a:r>
            <a:endParaRPr lang="en-US" sz="1100" dirty="0"/>
          </a:p>
        </p:txBody>
      </p:sp>
      <p:sp>
        <p:nvSpPr>
          <p:cNvPr id="22" name="Shape 20"/>
          <p:cNvSpPr/>
          <p:nvPr/>
        </p:nvSpPr>
        <p:spPr>
          <a:xfrm>
            <a:off x="6949440" y="2231136"/>
            <a:ext cx="1920240" cy="566928"/>
          </a:xfrm>
          <a:prstGeom prst="roundRect">
            <a:avLst>
              <a:gd name="adj" fmla="val 9677"/>
            </a:avLst>
          </a:prstGeom>
          <a:solidFill>
            <a:srgbClr val="161B22"/>
          </a:solidFill>
          <a:ln w="12700">
            <a:solidFill>
              <a:srgbClr val="30363D"/>
            </a:solidFill>
            <a:prstDash val="solid"/>
          </a:ln>
          <a:effectLst>
            <a:outerShdw sx="100000" sy="100000" kx="0" ky="0" algn="bl" rotWithShape="0" blurRad="101600" dist="38100" dir="2700000">
              <a:srgbClr val="000000">
                <a:alpha val="30000"/>
              </a:srgbClr>
            </a:outerShdw>
          </a:effectLst>
        </p:spPr>
      </p:sp>
      <p:sp>
        <p:nvSpPr>
          <p:cNvPr id="23" name="Text 21"/>
          <p:cNvSpPr/>
          <p:nvPr/>
        </p:nvSpPr>
        <p:spPr>
          <a:xfrm>
            <a:off x="6949440" y="2231136"/>
            <a:ext cx="1920240" cy="566928"/>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event-service</a:t>
            </a:r>
            <a:endParaRPr lang="en-US" sz="1100" dirty="0"/>
          </a:p>
        </p:txBody>
      </p:sp>
      <p:sp>
        <p:nvSpPr>
          <p:cNvPr id="24" name="Shape 22"/>
          <p:cNvSpPr/>
          <p:nvPr/>
        </p:nvSpPr>
        <p:spPr>
          <a:xfrm>
            <a:off x="6949440" y="2980944"/>
            <a:ext cx="1920240" cy="566928"/>
          </a:xfrm>
          <a:prstGeom prst="roundRect">
            <a:avLst>
              <a:gd name="adj" fmla="val 9677"/>
            </a:avLst>
          </a:prstGeom>
          <a:solidFill>
            <a:srgbClr val="161B22"/>
          </a:solidFill>
          <a:ln w="12700">
            <a:solidFill>
              <a:srgbClr val="30363D"/>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6949440" y="2980944"/>
            <a:ext cx="1920240" cy="566928"/>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booking-service</a:t>
            </a:r>
            <a:endParaRPr lang="en-US" sz="1100" dirty="0"/>
          </a:p>
        </p:txBody>
      </p:sp>
      <p:sp>
        <p:nvSpPr>
          <p:cNvPr id="26" name="Shape 24"/>
          <p:cNvSpPr/>
          <p:nvPr/>
        </p:nvSpPr>
        <p:spPr>
          <a:xfrm>
            <a:off x="6949440" y="3730752"/>
            <a:ext cx="1920240" cy="566928"/>
          </a:xfrm>
          <a:prstGeom prst="roundRect">
            <a:avLst>
              <a:gd name="adj" fmla="val 9677"/>
            </a:avLst>
          </a:prstGeom>
          <a:solidFill>
            <a:srgbClr val="161B22"/>
          </a:solidFill>
          <a:ln w="12700">
            <a:solidFill>
              <a:srgbClr val="A371F7"/>
            </a:solidFill>
            <a:prstDash val="solid"/>
          </a:ln>
          <a:effectLst>
            <a:outerShdw sx="100000" sy="100000" kx="0" ky="0" algn="bl" rotWithShape="0" blurRad="101600" dist="38100" dir="2700000">
              <a:srgbClr val="000000">
                <a:alpha val="30000"/>
              </a:srgbClr>
            </a:outerShdw>
          </a:effectLst>
        </p:spPr>
      </p:sp>
      <p:sp>
        <p:nvSpPr>
          <p:cNvPr id="27" name="Text 25"/>
          <p:cNvSpPr/>
          <p:nvPr/>
        </p:nvSpPr>
        <p:spPr>
          <a:xfrm>
            <a:off x="6949440" y="3730752"/>
            <a:ext cx="1920240" cy="566928"/>
          </a:xfrm>
          <a:prstGeom prst="rect">
            <a:avLst/>
          </a:prstGeom>
          <a:noFill/>
          <a:ln/>
        </p:spPr>
        <p:txBody>
          <a:bodyPr wrap="square" lIns="0" tIns="0" rIns="0" bIns="0" rtlCol="0" anchor="ctr"/>
          <a:lstStyle/>
          <a:p>
            <a:pPr algn="ctr" indent="0" marL="0">
              <a:buNone/>
            </a:pPr>
            <a:r>
              <a:rPr lang="en-US" sz="1100" dirty="0">
                <a:solidFill>
                  <a:srgbClr val="A371F7"/>
                </a:solidFill>
                <a:latin typeface="Calibri" pitchFamily="34" charset="0"/>
                <a:ea typeface="Calibri" pitchFamily="34" charset="-122"/>
                <a:cs typeface="Calibri" pitchFamily="34" charset="-120"/>
              </a:rPr>
              <a:t>chatbot-service</a:t>
            </a:r>
            <a:endParaRPr lang="en-US" sz="1100" dirty="0"/>
          </a:p>
        </p:txBody>
      </p:sp>
      <p:sp>
        <p:nvSpPr>
          <p:cNvPr id="28" name="Text 26"/>
          <p:cNvSpPr/>
          <p:nvPr/>
        </p:nvSpPr>
        <p:spPr>
          <a:xfrm>
            <a:off x="6949440" y="4572000"/>
            <a:ext cx="1920240" cy="274320"/>
          </a:xfrm>
          <a:prstGeom prst="rect">
            <a:avLst/>
          </a:prstGeom>
          <a:noFill/>
          <a:ln/>
        </p:spPr>
        <p:txBody>
          <a:bodyPr wrap="square" lIns="0" tIns="0" rIns="0" bIns="0" rtlCol="0" anchor="ctr"/>
          <a:lstStyle/>
          <a:p>
            <a:pPr algn="ctr" indent="0" marL="0">
              <a:buNone/>
            </a:pPr>
            <a:r>
              <a:rPr lang="en-US" sz="900" spc="200" kern="0" dirty="0">
                <a:solidFill>
                  <a:srgbClr val="6E7681"/>
                </a:solidFill>
                <a:latin typeface="Calibri" pitchFamily="34" charset="0"/>
                <a:ea typeface="Calibri" pitchFamily="34" charset="-122"/>
                <a:cs typeface="Calibri" pitchFamily="34" charset="-120"/>
              </a:rPr>
              <a:t>MICROSERVICES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PROBLEM STATEMENT</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What's Broken in Traditional Ticketing</a:t>
            </a:r>
            <a:endParaRPr lang="en-US" sz="3200" dirty="0"/>
          </a:p>
        </p:txBody>
      </p:sp>
      <p:sp>
        <p:nvSpPr>
          <p:cNvPr id="4" name="Shape 2"/>
          <p:cNvSpPr/>
          <p:nvPr/>
        </p:nvSpPr>
        <p:spPr>
          <a:xfrm>
            <a:off x="457200" y="1325880"/>
            <a:ext cx="3977640" cy="914400"/>
          </a:xfrm>
          <a:prstGeom prst="roundRect">
            <a:avLst>
              <a:gd name="adj" fmla="val 8000"/>
            </a:avLst>
          </a:prstGeom>
          <a:solidFill>
            <a:srgbClr val="161B22"/>
          </a:solidFill>
          <a:ln w="10160">
            <a:solidFill>
              <a:srgbClr val="F85149">
                <a:alpha val="30000"/>
              </a:srgbClr>
            </a:solidFill>
            <a:prstDash val="solid"/>
          </a:ln>
          <a:effectLst>
            <a:outerShdw sx="100000" sy="100000" kx="0" ky="0" algn="bl" rotWithShape="0" blurRad="101600" dist="38100" dir="2700000">
              <a:srgbClr val="000000">
                <a:alpha val="30000"/>
              </a:srgbClr>
            </a:outerShdw>
          </a:effectLst>
        </p:spPr>
      </p:sp>
      <p:sp>
        <p:nvSpPr>
          <p:cNvPr id="5" name="Shape 3"/>
          <p:cNvSpPr/>
          <p:nvPr/>
        </p:nvSpPr>
        <p:spPr>
          <a:xfrm>
            <a:off x="594360" y="1581912"/>
            <a:ext cx="411480" cy="411480"/>
          </a:xfrm>
          <a:prstGeom prst="ellipse">
            <a:avLst/>
          </a:prstGeom>
          <a:solidFill>
            <a:srgbClr val="F85149">
              <a:alpha val="25000"/>
            </a:srgbClr>
          </a:solidFill>
          <a:ln w="6350">
            <a:solidFill>
              <a:srgbClr val="F85149"/>
            </a:solidFill>
            <a:prstDash val="solid"/>
          </a:ln>
        </p:spPr>
      </p:sp>
      <p:sp>
        <p:nvSpPr>
          <p:cNvPr id="6" name="Text 4"/>
          <p:cNvSpPr/>
          <p:nvPr/>
        </p:nvSpPr>
        <p:spPr>
          <a:xfrm>
            <a:off x="594360" y="1581912"/>
            <a:ext cx="411480" cy="411480"/>
          </a:xfrm>
          <a:prstGeom prst="rect">
            <a:avLst/>
          </a:prstGeom>
          <a:noFill/>
          <a:ln/>
        </p:spPr>
        <p:txBody>
          <a:bodyPr wrap="square" lIns="0" tIns="0" rIns="0" bIns="0" rtlCol="0" anchor="ctr"/>
          <a:lstStyle/>
          <a:p>
            <a:pPr algn="ctr" indent="0" marL="0">
              <a:buNone/>
            </a:pPr>
            <a:r>
              <a:rPr lang="en-US" sz="1400" dirty="0">
                <a:solidFill>
                  <a:srgbClr val="F85149"/>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115568" y="1399032"/>
            <a:ext cx="3200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Monolithic Architecture</a:t>
            </a:r>
            <a:endParaRPr lang="en-US" sz="1300" dirty="0"/>
          </a:p>
        </p:txBody>
      </p:sp>
      <p:sp>
        <p:nvSpPr>
          <p:cNvPr id="8" name="Text 6"/>
          <p:cNvSpPr/>
          <p:nvPr/>
        </p:nvSpPr>
        <p:spPr>
          <a:xfrm>
            <a:off x="1115568" y="1737360"/>
            <a:ext cx="3200400" cy="43891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Tightly coupled services — one failure crashes everything</a:t>
            </a:r>
            <a:endParaRPr lang="en-US" sz="1050" dirty="0"/>
          </a:p>
        </p:txBody>
      </p:sp>
      <p:sp>
        <p:nvSpPr>
          <p:cNvPr id="9" name="Shape 7"/>
          <p:cNvSpPr/>
          <p:nvPr/>
        </p:nvSpPr>
        <p:spPr>
          <a:xfrm>
            <a:off x="457200" y="2423160"/>
            <a:ext cx="3977640" cy="914400"/>
          </a:xfrm>
          <a:prstGeom prst="roundRect">
            <a:avLst>
              <a:gd name="adj" fmla="val 8000"/>
            </a:avLst>
          </a:prstGeom>
          <a:solidFill>
            <a:srgbClr val="161B22"/>
          </a:solidFill>
          <a:ln w="10160">
            <a:solidFill>
              <a:srgbClr val="F85149">
                <a:alpha val="30000"/>
              </a:srgbClr>
            </a:solidFill>
            <a:prstDash val="solid"/>
          </a:ln>
          <a:effectLst>
            <a:outerShdw sx="100000" sy="100000" kx="0" ky="0" algn="bl" rotWithShape="0" blurRad="101600" dist="38100" dir="2700000">
              <a:srgbClr val="000000">
                <a:alpha val="30000"/>
              </a:srgbClr>
            </a:outerShdw>
          </a:effectLst>
        </p:spPr>
      </p:sp>
      <p:sp>
        <p:nvSpPr>
          <p:cNvPr id="10" name="Shape 8"/>
          <p:cNvSpPr/>
          <p:nvPr/>
        </p:nvSpPr>
        <p:spPr>
          <a:xfrm>
            <a:off x="594360" y="2679192"/>
            <a:ext cx="411480" cy="411480"/>
          </a:xfrm>
          <a:prstGeom prst="ellipse">
            <a:avLst/>
          </a:prstGeom>
          <a:solidFill>
            <a:srgbClr val="F85149">
              <a:alpha val="25000"/>
            </a:srgbClr>
          </a:solidFill>
          <a:ln w="6350">
            <a:solidFill>
              <a:srgbClr val="F85149"/>
            </a:solidFill>
            <a:prstDash val="solid"/>
          </a:ln>
        </p:spPr>
      </p:sp>
      <p:sp>
        <p:nvSpPr>
          <p:cNvPr id="11" name="Text 9"/>
          <p:cNvSpPr/>
          <p:nvPr/>
        </p:nvSpPr>
        <p:spPr>
          <a:xfrm>
            <a:off x="594360" y="2679192"/>
            <a:ext cx="411480" cy="411480"/>
          </a:xfrm>
          <a:prstGeom prst="rect">
            <a:avLst/>
          </a:prstGeom>
          <a:noFill/>
          <a:ln/>
        </p:spPr>
        <p:txBody>
          <a:bodyPr wrap="square" lIns="0" tIns="0" rIns="0" bIns="0" rtlCol="0" anchor="ctr"/>
          <a:lstStyle/>
          <a:p>
            <a:pPr algn="ctr" indent="0" marL="0">
              <a:buNone/>
            </a:pPr>
            <a:r>
              <a:rPr lang="en-US" sz="1400" dirty="0">
                <a:solidFill>
                  <a:srgbClr val="F85149"/>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115568" y="2496312"/>
            <a:ext cx="3200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Scalability</a:t>
            </a:r>
            <a:endParaRPr lang="en-US" sz="1300" dirty="0"/>
          </a:p>
        </p:txBody>
      </p:sp>
      <p:sp>
        <p:nvSpPr>
          <p:cNvPr id="13" name="Text 11"/>
          <p:cNvSpPr/>
          <p:nvPr/>
        </p:nvSpPr>
        <p:spPr>
          <a:xfrm>
            <a:off x="1115568" y="2834640"/>
            <a:ext cx="3200400" cy="43891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Cannot handle traffic spikes during peak event launches</a:t>
            </a:r>
            <a:endParaRPr lang="en-US" sz="1050" dirty="0"/>
          </a:p>
        </p:txBody>
      </p:sp>
      <p:sp>
        <p:nvSpPr>
          <p:cNvPr id="14" name="Shape 12"/>
          <p:cNvSpPr/>
          <p:nvPr/>
        </p:nvSpPr>
        <p:spPr>
          <a:xfrm>
            <a:off x="457200" y="3520440"/>
            <a:ext cx="3977640" cy="914400"/>
          </a:xfrm>
          <a:prstGeom prst="roundRect">
            <a:avLst>
              <a:gd name="adj" fmla="val 8000"/>
            </a:avLst>
          </a:prstGeom>
          <a:solidFill>
            <a:srgbClr val="161B22"/>
          </a:solidFill>
          <a:ln w="10160">
            <a:solidFill>
              <a:srgbClr val="F85149">
                <a:alpha val="30000"/>
              </a:srgbClr>
            </a:solidFill>
            <a:prstDash val="solid"/>
          </a:ln>
          <a:effectLst>
            <a:outerShdw sx="100000" sy="100000" kx="0" ky="0" algn="bl" rotWithShape="0" blurRad="101600" dist="38100" dir="2700000">
              <a:srgbClr val="000000">
                <a:alpha val="30000"/>
              </a:srgbClr>
            </a:outerShdw>
          </a:effectLst>
        </p:spPr>
      </p:sp>
      <p:sp>
        <p:nvSpPr>
          <p:cNvPr id="15" name="Shape 13"/>
          <p:cNvSpPr/>
          <p:nvPr/>
        </p:nvSpPr>
        <p:spPr>
          <a:xfrm>
            <a:off x="594360" y="3776472"/>
            <a:ext cx="411480" cy="411480"/>
          </a:xfrm>
          <a:prstGeom prst="ellipse">
            <a:avLst/>
          </a:prstGeom>
          <a:solidFill>
            <a:srgbClr val="F85149">
              <a:alpha val="25000"/>
            </a:srgbClr>
          </a:solidFill>
          <a:ln w="6350">
            <a:solidFill>
              <a:srgbClr val="F85149"/>
            </a:solidFill>
            <a:prstDash val="solid"/>
          </a:ln>
        </p:spPr>
      </p:sp>
      <p:sp>
        <p:nvSpPr>
          <p:cNvPr id="16" name="Text 14"/>
          <p:cNvSpPr/>
          <p:nvPr/>
        </p:nvSpPr>
        <p:spPr>
          <a:xfrm>
            <a:off x="594360" y="3776472"/>
            <a:ext cx="411480" cy="411480"/>
          </a:xfrm>
          <a:prstGeom prst="rect">
            <a:avLst/>
          </a:prstGeom>
          <a:noFill/>
          <a:ln/>
        </p:spPr>
        <p:txBody>
          <a:bodyPr wrap="square" lIns="0" tIns="0" rIns="0" bIns="0" rtlCol="0" anchor="ctr"/>
          <a:lstStyle/>
          <a:p>
            <a:pPr algn="ctr" indent="0" marL="0">
              <a:buNone/>
            </a:pPr>
            <a:r>
              <a:rPr lang="en-US" sz="1400" dirty="0">
                <a:solidFill>
                  <a:srgbClr val="F85149"/>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115568" y="3593592"/>
            <a:ext cx="3200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Manual Deployments</a:t>
            </a:r>
            <a:endParaRPr lang="en-US" sz="1300" dirty="0"/>
          </a:p>
        </p:txBody>
      </p:sp>
      <p:sp>
        <p:nvSpPr>
          <p:cNvPr id="18" name="Text 16"/>
          <p:cNvSpPr/>
          <p:nvPr/>
        </p:nvSpPr>
        <p:spPr>
          <a:xfrm>
            <a:off x="1115568" y="3931920"/>
            <a:ext cx="3200400" cy="43891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Slow, error-prone releases with no rollback strategy</a:t>
            </a:r>
            <a:endParaRPr lang="en-US" sz="1050" dirty="0"/>
          </a:p>
        </p:txBody>
      </p:sp>
      <p:sp>
        <p:nvSpPr>
          <p:cNvPr id="19" name="Shape 17"/>
          <p:cNvSpPr/>
          <p:nvPr/>
        </p:nvSpPr>
        <p:spPr>
          <a:xfrm>
            <a:off x="4663440" y="1325880"/>
            <a:ext cx="3977640" cy="914400"/>
          </a:xfrm>
          <a:prstGeom prst="roundRect">
            <a:avLst>
              <a:gd name="adj" fmla="val 8000"/>
            </a:avLst>
          </a:prstGeom>
          <a:solidFill>
            <a:srgbClr val="161B22"/>
          </a:solidFill>
          <a:ln w="10160">
            <a:solidFill>
              <a:srgbClr val="F85149">
                <a:alpha val="30000"/>
              </a:srgbClr>
            </a:solidFill>
            <a:prstDash val="solid"/>
          </a:ln>
          <a:effectLst>
            <a:outerShdw sx="100000" sy="100000" kx="0" ky="0" algn="bl" rotWithShape="0" blurRad="101600" dist="38100" dir="2700000">
              <a:srgbClr val="000000">
                <a:alpha val="30000"/>
              </a:srgbClr>
            </a:outerShdw>
          </a:effectLst>
        </p:spPr>
      </p:sp>
      <p:sp>
        <p:nvSpPr>
          <p:cNvPr id="20" name="Shape 18"/>
          <p:cNvSpPr/>
          <p:nvPr/>
        </p:nvSpPr>
        <p:spPr>
          <a:xfrm>
            <a:off x="4800600" y="1581912"/>
            <a:ext cx="411480" cy="411480"/>
          </a:xfrm>
          <a:prstGeom prst="ellipse">
            <a:avLst/>
          </a:prstGeom>
          <a:solidFill>
            <a:srgbClr val="F85149">
              <a:alpha val="25000"/>
            </a:srgbClr>
          </a:solidFill>
          <a:ln w="6350">
            <a:solidFill>
              <a:srgbClr val="F85149"/>
            </a:solidFill>
            <a:prstDash val="solid"/>
          </a:ln>
        </p:spPr>
      </p:sp>
      <p:sp>
        <p:nvSpPr>
          <p:cNvPr id="21" name="Text 19"/>
          <p:cNvSpPr/>
          <p:nvPr/>
        </p:nvSpPr>
        <p:spPr>
          <a:xfrm>
            <a:off x="4800600" y="1581912"/>
            <a:ext cx="411480" cy="411480"/>
          </a:xfrm>
          <a:prstGeom prst="rect">
            <a:avLst/>
          </a:prstGeom>
          <a:noFill/>
          <a:ln/>
        </p:spPr>
        <p:txBody>
          <a:bodyPr wrap="square" lIns="0" tIns="0" rIns="0" bIns="0" rtlCol="0" anchor="ctr"/>
          <a:lstStyle/>
          <a:p>
            <a:pPr algn="ctr" indent="0" marL="0">
              <a:buNone/>
            </a:pPr>
            <a:r>
              <a:rPr lang="en-US" sz="1400" dirty="0">
                <a:solidFill>
                  <a:srgbClr val="F85149"/>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5321808" y="1399032"/>
            <a:ext cx="3200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Weak Security</a:t>
            </a:r>
            <a:endParaRPr lang="en-US" sz="1300" dirty="0"/>
          </a:p>
        </p:txBody>
      </p:sp>
      <p:sp>
        <p:nvSpPr>
          <p:cNvPr id="23" name="Text 21"/>
          <p:cNvSpPr/>
          <p:nvPr/>
        </p:nvSpPr>
        <p:spPr>
          <a:xfrm>
            <a:off x="5321808" y="1737360"/>
            <a:ext cx="3200400" cy="43891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Hardcoded credentials, no least-privilege IAM, exposed secrets</a:t>
            </a:r>
            <a:endParaRPr lang="en-US" sz="1050" dirty="0"/>
          </a:p>
        </p:txBody>
      </p:sp>
      <p:sp>
        <p:nvSpPr>
          <p:cNvPr id="24" name="Shape 22"/>
          <p:cNvSpPr/>
          <p:nvPr/>
        </p:nvSpPr>
        <p:spPr>
          <a:xfrm>
            <a:off x="4663440" y="2423160"/>
            <a:ext cx="3977640" cy="914400"/>
          </a:xfrm>
          <a:prstGeom prst="roundRect">
            <a:avLst>
              <a:gd name="adj" fmla="val 8000"/>
            </a:avLst>
          </a:prstGeom>
          <a:solidFill>
            <a:srgbClr val="161B22"/>
          </a:solidFill>
          <a:ln w="10160">
            <a:solidFill>
              <a:srgbClr val="F85149">
                <a:alpha val="30000"/>
              </a:srgbClr>
            </a:solidFill>
            <a:prstDash val="solid"/>
          </a:ln>
          <a:effectLst>
            <a:outerShdw sx="100000" sy="100000" kx="0" ky="0" algn="bl" rotWithShape="0" blurRad="101600" dist="38100" dir="2700000">
              <a:srgbClr val="000000">
                <a:alpha val="30000"/>
              </a:srgbClr>
            </a:outerShdw>
          </a:effectLst>
        </p:spPr>
      </p:sp>
      <p:sp>
        <p:nvSpPr>
          <p:cNvPr id="25" name="Shape 23"/>
          <p:cNvSpPr/>
          <p:nvPr/>
        </p:nvSpPr>
        <p:spPr>
          <a:xfrm>
            <a:off x="4800600" y="2679192"/>
            <a:ext cx="411480" cy="411480"/>
          </a:xfrm>
          <a:prstGeom prst="ellipse">
            <a:avLst/>
          </a:prstGeom>
          <a:solidFill>
            <a:srgbClr val="F85149">
              <a:alpha val="25000"/>
            </a:srgbClr>
          </a:solidFill>
          <a:ln w="6350">
            <a:solidFill>
              <a:srgbClr val="F85149"/>
            </a:solidFill>
            <a:prstDash val="solid"/>
          </a:ln>
        </p:spPr>
      </p:sp>
      <p:sp>
        <p:nvSpPr>
          <p:cNvPr id="26" name="Text 24"/>
          <p:cNvSpPr/>
          <p:nvPr/>
        </p:nvSpPr>
        <p:spPr>
          <a:xfrm>
            <a:off x="4800600" y="2679192"/>
            <a:ext cx="411480" cy="411480"/>
          </a:xfrm>
          <a:prstGeom prst="rect">
            <a:avLst/>
          </a:prstGeom>
          <a:noFill/>
          <a:ln/>
        </p:spPr>
        <p:txBody>
          <a:bodyPr wrap="square" lIns="0" tIns="0" rIns="0" bIns="0" rtlCol="0" anchor="ctr"/>
          <a:lstStyle/>
          <a:p>
            <a:pPr algn="ctr" indent="0" marL="0">
              <a:buNone/>
            </a:pPr>
            <a:r>
              <a:rPr lang="en-US" sz="1400" dirty="0">
                <a:solidFill>
                  <a:srgbClr val="F85149"/>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5321808" y="2496312"/>
            <a:ext cx="3200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Zero Observability</a:t>
            </a:r>
            <a:endParaRPr lang="en-US" sz="1300" dirty="0"/>
          </a:p>
        </p:txBody>
      </p:sp>
      <p:sp>
        <p:nvSpPr>
          <p:cNvPr id="28" name="Text 26"/>
          <p:cNvSpPr/>
          <p:nvPr/>
        </p:nvSpPr>
        <p:spPr>
          <a:xfrm>
            <a:off x="5321808" y="2834640"/>
            <a:ext cx="3200400" cy="43891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No metrics, no alerts — blind to production issues</a:t>
            </a:r>
            <a:endParaRPr lang="en-US" sz="1050" dirty="0"/>
          </a:p>
        </p:txBody>
      </p:sp>
      <p:sp>
        <p:nvSpPr>
          <p:cNvPr id="29" name="Shape 27"/>
          <p:cNvSpPr/>
          <p:nvPr/>
        </p:nvSpPr>
        <p:spPr>
          <a:xfrm>
            <a:off x="4663440" y="3520440"/>
            <a:ext cx="3977640" cy="914400"/>
          </a:xfrm>
          <a:prstGeom prst="roundRect">
            <a:avLst>
              <a:gd name="adj" fmla="val 8000"/>
            </a:avLst>
          </a:prstGeom>
          <a:solidFill>
            <a:srgbClr val="161B22"/>
          </a:solidFill>
          <a:ln w="10160">
            <a:solidFill>
              <a:srgbClr val="F85149">
                <a:alpha val="30000"/>
              </a:srgbClr>
            </a:solidFill>
            <a:prstDash val="solid"/>
          </a:ln>
          <a:effectLst>
            <a:outerShdw sx="100000" sy="100000" kx="0" ky="0" algn="bl" rotWithShape="0" blurRad="101600" dist="38100" dir="2700000">
              <a:srgbClr val="000000">
                <a:alpha val="30000"/>
              </a:srgbClr>
            </a:outerShdw>
          </a:effectLst>
        </p:spPr>
      </p:sp>
      <p:sp>
        <p:nvSpPr>
          <p:cNvPr id="30" name="Shape 28"/>
          <p:cNvSpPr/>
          <p:nvPr/>
        </p:nvSpPr>
        <p:spPr>
          <a:xfrm>
            <a:off x="4800600" y="3776472"/>
            <a:ext cx="411480" cy="411480"/>
          </a:xfrm>
          <a:prstGeom prst="ellipse">
            <a:avLst/>
          </a:prstGeom>
          <a:solidFill>
            <a:srgbClr val="F85149">
              <a:alpha val="25000"/>
            </a:srgbClr>
          </a:solidFill>
          <a:ln w="6350">
            <a:solidFill>
              <a:srgbClr val="F85149"/>
            </a:solidFill>
            <a:prstDash val="solid"/>
          </a:ln>
        </p:spPr>
      </p:sp>
      <p:sp>
        <p:nvSpPr>
          <p:cNvPr id="31" name="Text 29"/>
          <p:cNvSpPr/>
          <p:nvPr/>
        </p:nvSpPr>
        <p:spPr>
          <a:xfrm>
            <a:off x="4800600" y="3776472"/>
            <a:ext cx="411480" cy="411480"/>
          </a:xfrm>
          <a:prstGeom prst="rect">
            <a:avLst/>
          </a:prstGeom>
          <a:noFill/>
          <a:ln/>
        </p:spPr>
        <p:txBody>
          <a:bodyPr wrap="square" lIns="0" tIns="0" rIns="0" bIns="0" rtlCol="0" anchor="ctr"/>
          <a:lstStyle/>
          <a:p>
            <a:pPr algn="ctr" indent="0" marL="0">
              <a:buNone/>
            </a:pPr>
            <a:r>
              <a:rPr lang="en-US" sz="1400" dirty="0">
                <a:solidFill>
                  <a:srgbClr val="F85149"/>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5321808" y="3593592"/>
            <a:ext cx="3200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AI Automation</a:t>
            </a:r>
            <a:endParaRPr lang="en-US" sz="1300" dirty="0"/>
          </a:p>
        </p:txBody>
      </p:sp>
      <p:sp>
        <p:nvSpPr>
          <p:cNvPr id="33" name="Text 31"/>
          <p:cNvSpPr/>
          <p:nvPr/>
        </p:nvSpPr>
        <p:spPr>
          <a:xfrm>
            <a:off x="5321808" y="3931920"/>
            <a:ext cx="3200400" cy="43891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Customers still book manually with no intelligent assistance</a:t>
            </a:r>
            <a:endParaRPr lang="en-US" sz="1050" dirty="0"/>
          </a:p>
        </p:txBody>
      </p:sp>
      <p:sp>
        <p:nvSpPr>
          <p:cNvPr id="34" name="Shape 32"/>
          <p:cNvSpPr/>
          <p:nvPr/>
        </p:nvSpPr>
        <p:spPr>
          <a:xfrm>
            <a:off x="2926080" y="4681728"/>
            <a:ext cx="3291840" cy="320040"/>
          </a:xfrm>
          <a:prstGeom prst="rect">
            <a:avLst/>
          </a:prstGeom>
          <a:solidFill>
            <a:srgbClr val="FF9900">
              <a:alpha val="15000"/>
            </a:srgbClr>
          </a:solidFill>
          <a:ln w="12700">
            <a:solidFill>
              <a:srgbClr val="FF9900"/>
            </a:solidFill>
            <a:prstDash val="solid"/>
          </a:ln>
        </p:spPr>
      </p:sp>
      <p:sp>
        <p:nvSpPr>
          <p:cNvPr id="35" name="Text 33"/>
          <p:cNvSpPr/>
          <p:nvPr/>
        </p:nvSpPr>
        <p:spPr>
          <a:xfrm>
            <a:off x="2926080" y="4681728"/>
            <a:ext cx="3291840" cy="320040"/>
          </a:xfrm>
          <a:prstGeom prst="rect">
            <a:avLst/>
          </a:prstGeom>
          <a:noFill/>
          <a:ln/>
        </p:spPr>
        <p:txBody>
          <a:bodyPr wrap="square" lIns="0" tIns="0" rIns="0" bIns="0"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  BlackTickets solves all of these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SOLUTION OVERVIEW</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BlackTickets — Built for Production</a:t>
            </a:r>
            <a:endParaRPr lang="en-US" sz="3200" dirty="0"/>
          </a:p>
        </p:txBody>
      </p:sp>
      <p:sp>
        <p:nvSpPr>
          <p:cNvPr id="4" name="Shape 2"/>
          <p:cNvSpPr/>
          <p:nvPr/>
        </p:nvSpPr>
        <p:spPr>
          <a:xfrm>
            <a:off x="457200" y="1371600"/>
            <a:ext cx="1508760" cy="3383280"/>
          </a:xfrm>
          <a:prstGeom prst="roundRect">
            <a:avLst>
              <a:gd name="adj" fmla="val 6061"/>
            </a:avLst>
          </a:prstGeom>
          <a:solidFill>
            <a:srgbClr val="161B22"/>
          </a:solidFill>
          <a:ln w="15240">
            <a:solidFill>
              <a:srgbClr val="FF9900"/>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457200" y="1508760"/>
            <a:ext cx="1508760" cy="502920"/>
          </a:xfrm>
          <a:prstGeom prst="rect">
            <a:avLst/>
          </a:prstGeom>
          <a:noFill/>
          <a:ln/>
        </p:spPr>
        <p:txBody>
          <a:bodyPr wrap="square" lIns="0" tIns="0" rIns="0" bIns="0" rtlCol="0" anchor="ctr"/>
          <a:lstStyle/>
          <a:p>
            <a:pPr algn="ctr" indent="0" marL="0">
              <a:buNone/>
            </a:pPr>
            <a:r>
              <a:rPr lang="en-US" sz="2600" b="1" dirty="0">
                <a:solidFill>
                  <a:srgbClr val="FF9900"/>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457200" y="2084832"/>
            <a:ext cx="1508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Scalable</a:t>
            </a:r>
            <a:endParaRPr lang="en-US" sz="1600" dirty="0"/>
          </a:p>
        </p:txBody>
      </p:sp>
      <p:sp>
        <p:nvSpPr>
          <p:cNvPr id="7" name="Shape 5"/>
          <p:cNvSpPr/>
          <p:nvPr/>
        </p:nvSpPr>
        <p:spPr>
          <a:xfrm>
            <a:off x="731520" y="2523744"/>
            <a:ext cx="960120" cy="0"/>
          </a:xfrm>
          <a:prstGeom prst="line">
            <a:avLst/>
          </a:prstGeom>
          <a:noFill/>
          <a:ln w="15240">
            <a:solidFill>
              <a:srgbClr val="FF9900">
                <a:alpha val="60000"/>
              </a:srgbClr>
            </a:solidFill>
            <a:prstDash val="solid"/>
          </a:ln>
        </p:spPr>
      </p:sp>
      <p:sp>
        <p:nvSpPr>
          <p:cNvPr id="8" name="Text 6"/>
          <p:cNvSpPr/>
          <p:nvPr/>
        </p:nvSpPr>
        <p:spPr>
          <a:xfrm>
            <a:off x="548640" y="2651760"/>
            <a:ext cx="1325880" cy="1828800"/>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Kubernetes HPA</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EKS Auto-scaling</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Microservices isolation</a:t>
            </a:r>
            <a:endParaRPr lang="en-US" sz="1000" dirty="0"/>
          </a:p>
        </p:txBody>
      </p:sp>
      <p:sp>
        <p:nvSpPr>
          <p:cNvPr id="9" name="Shape 7"/>
          <p:cNvSpPr/>
          <p:nvPr/>
        </p:nvSpPr>
        <p:spPr>
          <a:xfrm>
            <a:off x="2121408" y="1371600"/>
            <a:ext cx="1508760" cy="3383280"/>
          </a:xfrm>
          <a:prstGeom prst="roundRect">
            <a:avLst>
              <a:gd name="adj" fmla="val 6061"/>
            </a:avLst>
          </a:prstGeom>
          <a:solidFill>
            <a:srgbClr val="161B22"/>
          </a:solidFill>
          <a:ln w="15240">
            <a:solidFill>
              <a:srgbClr val="00A4BD"/>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2121408" y="1508760"/>
            <a:ext cx="1508760" cy="502920"/>
          </a:xfrm>
          <a:prstGeom prst="rect">
            <a:avLst/>
          </a:prstGeom>
          <a:noFill/>
          <a:ln/>
        </p:spPr>
        <p:txBody>
          <a:bodyPr wrap="square" lIns="0" tIns="0" rIns="0" bIns="0" rtlCol="0" anchor="ctr"/>
          <a:lstStyle/>
          <a:p>
            <a:pPr algn="ctr" indent="0" marL="0">
              <a:buNone/>
            </a:pPr>
            <a:r>
              <a:rPr lang="en-US" sz="2600" b="1" dirty="0">
                <a:solidFill>
                  <a:srgbClr val="00A4BD"/>
                </a:solidFill>
                <a:latin typeface="Cambria" pitchFamily="34" charset="0"/>
                <a:ea typeface="Cambria" pitchFamily="34" charset="-122"/>
                <a:cs typeface="Cambria" pitchFamily="34" charset="-120"/>
              </a:rPr>
              <a:t>02</a:t>
            </a:r>
            <a:endParaRPr lang="en-US" sz="2600" dirty="0"/>
          </a:p>
        </p:txBody>
      </p:sp>
      <p:sp>
        <p:nvSpPr>
          <p:cNvPr id="11" name="Text 9"/>
          <p:cNvSpPr/>
          <p:nvPr/>
        </p:nvSpPr>
        <p:spPr>
          <a:xfrm>
            <a:off x="2121408" y="2084832"/>
            <a:ext cx="1508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Automated</a:t>
            </a:r>
            <a:endParaRPr lang="en-US" sz="1600" dirty="0"/>
          </a:p>
        </p:txBody>
      </p:sp>
      <p:sp>
        <p:nvSpPr>
          <p:cNvPr id="12" name="Shape 10"/>
          <p:cNvSpPr/>
          <p:nvPr/>
        </p:nvSpPr>
        <p:spPr>
          <a:xfrm>
            <a:off x="2395728" y="2523744"/>
            <a:ext cx="960120" cy="0"/>
          </a:xfrm>
          <a:prstGeom prst="line">
            <a:avLst/>
          </a:prstGeom>
          <a:noFill/>
          <a:ln w="15240">
            <a:solidFill>
              <a:srgbClr val="00A4BD">
                <a:alpha val="60000"/>
              </a:srgbClr>
            </a:solidFill>
            <a:prstDash val="solid"/>
          </a:ln>
        </p:spPr>
      </p:sp>
      <p:sp>
        <p:nvSpPr>
          <p:cNvPr id="13" name="Text 11"/>
          <p:cNvSpPr/>
          <p:nvPr/>
        </p:nvSpPr>
        <p:spPr>
          <a:xfrm>
            <a:off x="2212848" y="2651760"/>
            <a:ext cx="1325880" cy="1828800"/>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GitOps with ArgoCD</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GitHub Actions CI/CD</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Zero-touch deployments</a:t>
            </a:r>
            <a:endParaRPr lang="en-US" sz="1000" dirty="0"/>
          </a:p>
        </p:txBody>
      </p:sp>
      <p:sp>
        <p:nvSpPr>
          <p:cNvPr id="14" name="Shape 12"/>
          <p:cNvSpPr/>
          <p:nvPr/>
        </p:nvSpPr>
        <p:spPr>
          <a:xfrm>
            <a:off x="3785616" y="1371600"/>
            <a:ext cx="1508760" cy="3383280"/>
          </a:xfrm>
          <a:prstGeom prst="roundRect">
            <a:avLst>
              <a:gd name="adj" fmla="val 6061"/>
            </a:avLst>
          </a:prstGeom>
          <a:solidFill>
            <a:srgbClr val="161B22"/>
          </a:solidFill>
          <a:ln w="15240">
            <a:solidFill>
              <a:srgbClr val="2EA44F"/>
            </a:solidFill>
            <a:prstDash val="solid"/>
          </a:ln>
          <a:effectLst>
            <a:outerShdw sx="100000" sy="100000" kx="0" ky="0" algn="bl" rotWithShape="0" blurRad="101600" dist="38100" dir="2700000">
              <a:srgbClr val="000000">
                <a:alpha val="30000"/>
              </a:srgbClr>
            </a:outerShdw>
          </a:effectLst>
        </p:spPr>
      </p:sp>
      <p:sp>
        <p:nvSpPr>
          <p:cNvPr id="15" name="Text 13"/>
          <p:cNvSpPr/>
          <p:nvPr/>
        </p:nvSpPr>
        <p:spPr>
          <a:xfrm>
            <a:off x="3785616" y="1508760"/>
            <a:ext cx="1508760" cy="502920"/>
          </a:xfrm>
          <a:prstGeom prst="rect">
            <a:avLst/>
          </a:prstGeom>
          <a:noFill/>
          <a:ln/>
        </p:spPr>
        <p:txBody>
          <a:bodyPr wrap="square" lIns="0" tIns="0" rIns="0" bIns="0" rtlCol="0" anchor="ctr"/>
          <a:lstStyle/>
          <a:p>
            <a:pPr algn="ctr" indent="0" marL="0">
              <a:buNone/>
            </a:pPr>
            <a:r>
              <a:rPr lang="en-US" sz="2600" b="1" dirty="0">
                <a:solidFill>
                  <a:srgbClr val="2EA44F"/>
                </a:solidFill>
                <a:latin typeface="Cambria" pitchFamily="34" charset="0"/>
                <a:ea typeface="Cambria" pitchFamily="34" charset="-122"/>
                <a:cs typeface="Cambria" pitchFamily="34" charset="-120"/>
              </a:rPr>
              <a:t>03</a:t>
            </a:r>
            <a:endParaRPr lang="en-US" sz="2600" dirty="0"/>
          </a:p>
        </p:txBody>
      </p:sp>
      <p:sp>
        <p:nvSpPr>
          <p:cNvPr id="16" name="Text 14"/>
          <p:cNvSpPr/>
          <p:nvPr/>
        </p:nvSpPr>
        <p:spPr>
          <a:xfrm>
            <a:off x="3785616" y="2084832"/>
            <a:ext cx="1508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Secure</a:t>
            </a:r>
            <a:endParaRPr lang="en-US" sz="1600" dirty="0"/>
          </a:p>
        </p:txBody>
      </p:sp>
      <p:sp>
        <p:nvSpPr>
          <p:cNvPr id="17" name="Shape 15"/>
          <p:cNvSpPr/>
          <p:nvPr/>
        </p:nvSpPr>
        <p:spPr>
          <a:xfrm>
            <a:off x="4059936" y="2523744"/>
            <a:ext cx="960120" cy="0"/>
          </a:xfrm>
          <a:prstGeom prst="line">
            <a:avLst/>
          </a:prstGeom>
          <a:noFill/>
          <a:ln w="15240">
            <a:solidFill>
              <a:srgbClr val="2EA44F">
                <a:alpha val="60000"/>
              </a:srgbClr>
            </a:solidFill>
            <a:prstDash val="solid"/>
          </a:ln>
        </p:spPr>
      </p:sp>
      <p:sp>
        <p:nvSpPr>
          <p:cNvPr id="18" name="Text 16"/>
          <p:cNvSpPr/>
          <p:nvPr/>
        </p:nvSpPr>
        <p:spPr>
          <a:xfrm>
            <a:off x="3877056" y="2651760"/>
            <a:ext cx="1325880" cy="1828800"/>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IRSA + Least Privilege</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Secrets Manager</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DevsecOps pipeline</a:t>
            </a:r>
            <a:endParaRPr lang="en-US" sz="1000" dirty="0"/>
          </a:p>
        </p:txBody>
      </p:sp>
      <p:sp>
        <p:nvSpPr>
          <p:cNvPr id="19" name="Shape 17"/>
          <p:cNvSpPr/>
          <p:nvPr/>
        </p:nvSpPr>
        <p:spPr>
          <a:xfrm>
            <a:off x="5449824" y="1371600"/>
            <a:ext cx="1508760" cy="3383280"/>
          </a:xfrm>
          <a:prstGeom prst="roundRect">
            <a:avLst>
              <a:gd name="adj" fmla="val 6061"/>
            </a:avLst>
          </a:prstGeom>
          <a:solidFill>
            <a:srgbClr val="161B22"/>
          </a:solidFill>
          <a:ln w="15240">
            <a:solidFill>
              <a:srgbClr val="A371F7"/>
            </a:solidFill>
            <a:prstDash val="solid"/>
          </a:ln>
          <a:effectLst>
            <a:outerShdw sx="100000" sy="100000" kx="0" ky="0" algn="bl" rotWithShape="0" blurRad="101600" dist="38100" dir="2700000">
              <a:srgbClr val="000000">
                <a:alpha val="30000"/>
              </a:srgbClr>
            </a:outerShdw>
          </a:effectLst>
        </p:spPr>
      </p:sp>
      <p:sp>
        <p:nvSpPr>
          <p:cNvPr id="20" name="Text 18"/>
          <p:cNvSpPr/>
          <p:nvPr/>
        </p:nvSpPr>
        <p:spPr>
          <a:xfrm>
            <a:off x="5449824" y="1508760"/>
            <a:ext cx="1508760" cy="502920"/>
          </a:xfrm>
          <a:prstGeom prst="rect">
            <a:avLst/>
          </a:prstGeom>
          <a:noFill/>
          <a:ln/>
        </p:spPr>
        <p:txBody>
          <a:bodyPr wrap="square" lIns="0" tIns="0" rIns="0" bIns="0" rtlCol="0" anchor="ctr"/>
          <a:lstStyle/>
          <a:p>
            <a:pPr algn="ctr" indent="0" marL="0">
              <a:buNone/>
            </a:pPr>
            <a:r>
              <a:rPr lang="en-US" sz="2600" b="1" dirty="0">
                <a:solidFill>
                  <a:srgbClr val="A371F7"/>
                </a:solidFill>
                <a:latin typeface="Cambria" pitchFamily="34" charset="0"/>
                <a:ea typeface="Cambria" pitchFamily="34" charset="-122"/>
                <a:cs typeface="Cambria" pitchFamily="34" charset="-120"/>
              </a:rPr>
              <a:t>04</a:t>
            </a:r>
            <a:endParaRPr lang="en-US" sz="2600" dirty="0"/>
          </a:p>
        </p:txBody>
      </p:sp>
      <p:sp>
        <p:nvSpPr>
          <p:cNvPr id="21" name="Text 19"/>
          <p:cNvSpPr/>
          <p:nvPr/>
        </p:nvSpPr>
        <p:spPr>
          <a:xfrm>
            <a:off x="5449824" y="2084832"/>
            <a:ext cx="1508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Observable</a:t>
            </a:r>
            <a:endParaRPr lang="en-US" sz="1600" dirty="0"/>
          </a:p>
        </p:txBody>
      </p:sp>
      <p:sp>
        <p:nvSpPr>
          <p:cNvPr id="22" name="Shape 20"/>
          <p:cNvSpPr/>
          <p:nvPr/>
        </p:nvSpPr>
        <p:spPr>
          <a:xfrm>
            <a:off x="5724144" y="2523744"/>
            <a:ext cx="960120" cy="0"/>
          </a:xfrm>
          <a:prstGeom prst="line">
            <a:avLst/>
          </a:prstGeom>
          <a:noFill/>
          <a:ln w="15240">
            <a:solidFill>
              <a:srgbClr val="A371F7">
                <a:alpha val="60000"/>
              </a:srgbClr>
            </a:solidFill>
            <a:prstDash val="solid"/>
          </a:ln>
        </p:spPr>
      </p:sp>
      <p:sp>
        <p:nvSpPr>
          <p:cNvPr id="23" name="Text 21"/>
          <p:cNvSpPr/>
          <p:nvPr/>
        </p:nvSpPr>
        <p:spPr>
          <a:xfrm>
            <a:off x="5541264" y="2651760"/>
            <a:ext cx="1325880" cy="1828800"/>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Prometheus + Grafana</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CloudWatch + CloudTrail</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Real-time alerting</a:t>
            </a:r>
            <a:endParaRPr lang="en-US" sz="1000" dirty="0"/>
          </a:p>
        </p:txBody>
      </p:sp>
      <p:sp>
        <p:nvSpPr>
          <p:cNvPr id="24" name="Shape 22"/>
          <p:cNvSpPr/>
          <p:nvPr/>
        </p:nvSpPr>
        <p:spPr>
          <a:xfrm>
            <a:off x="7114032" y="1371600"/>
            <a:ext cx="1508760" cy="3383280"/>
          </a:xfrm>
          <a:prstGeom prst="roundRect">
            <a:avLst>
              <a:gd name="adj" fmla="val 6061"/>
            </a:avLst>
          </a:prstGeom>
          <a:solidFill>
            <a:srgbClr val="161B22"/>
          </a:solidFill>
          <a:ln w="15240">
            <a:solidFill>
              <a:srgbClr val="E3B341"/>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7114032" y="1508760"/>
            <a:ext cx="1508760" cy="502920"/>
          </a:xfrm>
          <a:prstGeom prst="rect">
            <a:avLst/>
          </a:prstGeom>
          <a:noFill/>
          <a:ln/>
        </p:spPr>
        <p:txBody>
          <a:bodyPr wrap="square" lIns="0" tIns="0" rIns="0" bIns="0" rtlCol="0" anchor="ctr"/>
          <a:lstStyle/>
          <a:p>
            <a:pPr algn="ctr" indent="0" marL="0">
              <a:buNone/>
            </a:pPr>
            <a:r>
              <a:rPr lang="en-US" sz="2600" b="1" dirty="0">
                <a:solidFill>
                  <a:srgbClr val="E3B341"/>
                </a:solidFill>
                <a:latin typeface="Cambria" pitchFamily="34" charset="0"/>
                <a:ea typeface="Cambria" pitchFamily="34" charset="-122"/>
                <a:cs typeface="Cambria" pitchFamily="34" charset="-120"/>
              </a:rPr>
              <a:t>05</a:t>
            </a:r>
            <a:endParaRPr lang="en-US" sz="2600" dirty="0"/>
          </a:p>
        </p:txBody>
      </p:sp>
      <p:sp>
        <p:nvSpPr>
          <p:cNvPr id="26" name="Text 24"/>
          <p:cNvSpPr/>
          <p:nvPr/>
        </p:nvSpPr>
        <p:spPr>
          <a:xfrm>
            <a:off x="7114032" y="2084832"/>
            <a:ext cx="150876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AI-Enabled</a:t>
            </a:r>
            <a:endParaRPr lang="en-US" sz="1600" dirty="0"/>
          </a:p>
        </p:txBody>
      </p:sp>
      <p:sp>
        <p:nvSpPr>
          <p:cNvPr id="27" name="Shape 25"/>
          <p:cNvSpPr/>
          <p:nvPr/>
        </p:nvSpPr>
        <p:spPr>
          <a:xfrm>
            <a:off x="7388352" y="2523744"/>
            <a:ext cx="960120" cy="0"/>
          </a:xfrm>
          <a:prstGeom prst="line">
            <a:avLst/>
          </a:prstGeom>
          <a:noFill/>
          <a:ln w="15240">
            <a:solidFill>
              <a:srgbClr val="E3B341">
                <a:alpha val="60000"/>
              </a:srgbClr>
            </a:solidFill>
            <a:prstDash val="solid"/>
          </a:ln>
        </p:spPr>
      </p:sp>
      <p:sp>
        <p:nvSpPr>
          <p:cNvPr id="28" name="Text 26"/>
          <p:cNvSpPr/>
          <p:nvPr/>
        </p:nvSpPr>
        <p:spPr>
          <a:xfrm>
            <a:off x="7205472" y="2651760"/>
            <a:ext cx="1325880" cy="1828800"/>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Amazon Bedrock Agent</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Agentic booking flow</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Event-driven confirms</a:t>
            </a:r>
            <a:endParaRPr lang="en-US" sz="1000" dirty="0"/>
          </a:p>
        </p:txBody>
      </p:sp>
      <p:sp>
        <p:nvSpPr>
          <p:cNvPr id="29" name="Text 27"/>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100" dirty="0">
                <a:solidFill>
                  <a:srgbClr val="6E7681"/>
                </a:solidFill>
                <a:latin typeface="Calibri" pitchFamily="34" charset="0"/>
                <a:ea typeface="Calibri" pitchFamily="34" charset="-122"/>
                <a:cs typeface="Calibri" pitchFamily="34" charset="-120"/>
              </a:rPr>
              <a:t>Stack:  AWS EKS  ·  Terraform  ·  Helm  ·  ArgoCD  ·  GitHub Actions  ·  Amazon Bedrock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ARCHITECTURE OVERVIEW</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Final AWS Architecture</a:t>
            </a:r>
            <a:endParaRPr lang="en-US" sz="3200" dirty="0"/>
          </a:p>
        </p:txBody>
      </p:sp>
      <p:sp>
        <p:nvSpPr>
          <p:cNvPr id="4" name="Shape 2"/>
          <p:cNvSpPr/>
          <p:nvPr/>
        </p:nvSpPr>
        <p:spPr>
          <a:xfrm>
            <a:off x="457200" y="1280160"/>
            <a:ext cx="8229600" cy="2926080"/>
          </a:xfrm>
          <a:prstGeom prst="roundRect">
            <a:avLst>
              <a:gd name="adj" fmla="val 3750"/>
            </a:avLst>
          </a:prstGeom>
          <a:solidFill>
            <a:srgbClr val="161B22"/>
          </a:solidFill>
          <a:ln w="19050">
            <a:solidFill>
              <a:srgbClr val="30363D"/>
            </a:solidFill>
            <a:prstDash val="dash"/>
          </a:ln>
        </p:spPr>
      </p:sp>
      <p:sp>
        <p:nvSpPr>
          <p:cNvPr id="5" name="Text 3"/>
          <p:cNvSpPr/>
          <p:nvPr/>
        </p:nvSpPr>
        <p:spPr>
          <a:xfrm>
            <a:off x="457200" y="1280160"/>
            <a:ext cx="8229600" cy="2926080"/>
          </a:xfrm>
          <a:prstGeom prst="rect">
            <a:avLst/>
          </a:prstGeom>
          <a:noFill/>
          <a:ln/>
        </p:spPr>
        <p:txBody>
          <a:bodyPr wrap="square" lIns="0" tIns="0" rIns="0" bIns="0" rtlCol="0" anchor="ctr"/>
          <a:lstStyle/>
          <a:p>
            <a:pPr algn="ctr" indent="0" marL="0">
              <a:buNone/>
            </a:pPr>
            <a:r>
              <a:rPr lang="en-US" sz="1800" i="1" dirty="0">
                <a:solidFill>
                  <a:srgbClr val="6E7681"/>
                </a:solidFill>
                <a:latin typeface="Calibri" pitchFamily="34" charset="0"/>
                <a:ea typeface="Calibri" pitchFamily="34" charset="-122"/>
                <a:cs typeface="Calibri" pitchFamily="34" charset="-120"/>
              </a:rPr>
              <a:t>[ Insert AWS Architecture Diagram Here ]</a:t>
            </a:r>
            <a:endParaRPr lang="en-US" sz="1800" dirty="0"/>
          </a:p>
        </p:txBody>
      </p:sp>
      <p:sp>
        <p:nvSpPr>
          <p:cNvPr id="6" name="Shape 4"/>
          <p:cNvSpPr/>
          <p:nvPr/>
        </p:nvSpPr>
        <p:spPr>
          <a:xfrm>
            <a:off x="457200" y="4389120"/>
            <a:ext cx="1261872" cy="502920"/>
          </a:xfrm>
          <a:prstGeom prst="roundRect">
            <a:avLst>
              <a:gd name="adj" fmla="val 10909"/>
            </a:avLst>
          </a:prstGeom>
          <a:solidFill>
            <a:srgbClr val="FF9900">
              <a:alpha val="15000"/>
            </a:srgbClr>
          </a:solidFill>
          <a:ln w="10160">
            <a:solidFill>
              <a:srgbClr val="FF9900"/>
            </a:solidFill>
            <a:prstDash val="solid"/>
          </a:ln>
        </p:spPr>
      </p:sp>
      <p:sp>
        <p:nvSpPr>
          <p:cNvPr id="7" name="Text 5"/>
          <p:cNvSpPr/>
          <p:nvPr/>
        </p:nvSpPr>
        <p:spPr>
          <a:xfrm>
            <a:off x="457200" y="4389120"/>
            <a:ext cx="1261872" cy="502920"/>
          </a:xfrm>
          <a:prstGeom prst="rect">
            <a:avLst/>
          </a:prstGeom>
          <a:noFill/>
          <a:ln/>
        </p:spPr>
        <p:txBody>
          <a:bodyPr wrap="square" lIns="0" tIns="0" rIns="0" bIns="0"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VPC + Subnets</a:t>
            </a:r>
            <a:endParaRPr lang="en-US" sz="1000" dirty="0"/>
          </a:p>
        </p:txBody>
      </p:sp>
      <p:sp>
        <p:nvSpPr>
          <p:cNvPr id="8" name="Shape 6"/>
          <p:cNvSpPr/>
          <p:nvPr/>
        </p:nvSpPr>
        <p:spPr>
          <a:xfrm>
            <a:off x="1847088" y="4389120"/>
            <a:ext cx="1261872" cy="502920"/>
          </a:xfrm>
          <a:prstGeom prst="roundRect">
            <a:avLst>
              <a:gd name="adj" fmla="val 10909"/>
            </a:avLst>
          </a:prstGeom>
          <a:solidFill>
            <a:srgbClr val="00A4BD">
              <a:alpha val="15000"/>
            </a:srgbClr>
          </a:solidFill>
          <a:ln w="10160">
            <a:solidFill>
              <a:srgbClr val="00A4BD"/>
            </a:solidFill>
            <a:prstDash val="solid"/>
          </a:ln>
        </p:spPr>
      </p:sp>
      <p:sp>
        <p:nvSpPr>
          <p:cNvPr id="9" name="Text 7"/>
          <p:cNvSpPr/>
          <p:nvPr/>
        </p:nvSpPr>
        <p:spPr>
          <a:xfrm>
            <a:off x="1847088" y="4389120"/>
            <a:ext cx="1261872" cy="502920"/>
          </a:xfrm>
          <a:prstGeom prst="rect">
            <a:avLst/>
          </a:prstGeom>
          <a:noFill/>
          <a:ln/>
        </p:spPr>
        <p:txBody>
          <a:bodyPr wrap="square" lIns="0" tIns="0" rIns="0" bIns="0" rtlCol="0" anchor="ctr"/>
          <a:lstStyle/>
          <a:p>
            <a:pPr algn="ctr" indent="0" marL="0">
              <a:buNone/>
            </a:pPr>
            <a:r>
              <a:rPr lang="en-US" sz="1000" b="1" dirty="0">
                <a:solidFill>
                  <a:srgbClr val="00A4BD"/>
                </a:solidFill>
                <a:latin typeface="Calibri" pitchFamily="34" charset="0"/>
                <a:ea typeface="Calibri" pitchFamily="34" charset="-122"/>
                <a:cs typeface="Calibri" pitchFamily="34" charset="-120"/>
              </a:rPr>
              <a:t>Amazon EKS</a:t>
            </a:r>
            <a:endParaRPr lang="en-US" sz="1000" dirty="0"/>
          </a:p>
        </p:txBody>
      </p:sp>
      <p:sp>
        <p:nvSpPr>
          <p:cNvPr id="10" name="Shape 8"/>
          <p:cNvSpPr/>
          <p:nvPr/>
        </p:nvSpPr>
        <p:spPr>
          <a:xfrm>
            <a:off x="3236976" y="4389120"/>
            <a:ext cx="1261872" cy="502920"/>
          </a:xfrm>
          <a:prstGeom prst="roundRect">
            <a:avLst>
              <a:gd name="adj" fmla="val 10909"/>
            </a:avLst>
          </a:prstGeom>
          <a:solidFill>
            <a:srgbClr val="2EA44F">
              <a:alpha val="15000"/>
            </a:srgbClr>
          </a:solidFill>
          <a:ln w="10160">
            <a:solidFill>
              <a:srgbClr val="2EA44F"/>
            </a:solidFill>
            <a:prstDash val="solid"/>
          </a:ln>
        </p:spPr>
      </p:sp>
      <p:sp>
        <p:nvSpPr>
          <p:cNvPr id="11" name="Text 9"/>
          <p:cNvSpPr/>
          <p:nvPr/>
        </p:nvSpPr>
        <p:spPr>
          <a:xfrm>
            <a:off x="3236976" y="4389120"/>
            <a:ext cx="1261872" cy="502920"/>
          </a:xfrm>
          <a:prstGeom prst="rect">
            <a:avLst/>
          </a:prstGeom>
          <a:noFill/>
          <a:ln/>
        </p:spPr>
        <p:txBody>
          <a:bodyPr wrap="square" lIns="0" tIns="0" rIns="0" bIns="0" rtlCol="0" anchor="ctr"/>
          <a:lstStyle/>
          <a:p>
            <a:pPr algn="ctr" indent="0" marL="0">
              <a:buNone/>
            </a:pPr>
            <a:r>
              <a:rPr lang="en-US" sz="1000" b="1" dirty="0">
                <a:solidFill>
                  <a:srgbClr val="2EA44F"/>
                </a:solidFill>
                <a:latin typeface="Calibri" pitchFamily="34" charset="0"/>
                <a:ea typeface="Calibri" pitchFamily="34" charset="-122"/>
                <a:cs typeface="Calibri" pitchFamily="34" charset="-120"/>
              </a:rPr>
              <a:t>Amazon RDS</a:t>
            </a:r>
            <a:endParaRPr lang="en-US" sz="1000" dirty="0"/>
          </a:p>
        </p:txBody>
      </p:sp>
      <p:sp>
        <p:nvSpPr>
          <p:cNvPr id="12" name="Shape 10"/>
          <p:cNvSpPr/>
          <p:nvPr/>
        </p:nvSpPr>
        <p:spPr>
          <a:xfrm>
            <a:off x="4626864" y="4389120"/>
            <a:ext cx="1261872" cy="502920"/>
          </a:xfrm>
          <a:prstGeom prst="roundRect">
            <a:avLst>
              <a:gd name="adj" fmla="val 10909"/>
            </a:avLst>
          </a:prstGeom>
          <a:solidFill>
            <a:srgbClr val="E3B341">
              <a:alpha val="15000"/>
            </a:srgbClr>
          </a:solidFill>
          <a:ln w="10160">
            <a:solidFill>
              <a:srgbClr val="E3B341"/>
            </a:solidFill>
            <a:prstDash val="solid"/>
          </a:ln>
        </p:spPr>
      </p:sp>
      <p:sp>
        <p:nvSpPr>
          <p:cNvPr id="13" name="Text 11"/>
          <p:cNvSpPr/>
          <p:nvPr/>
        </p:nvSpPr>
        <p:spPr>
          <a:xfrm>
            <a:off x="4626864" y="4389120"/>
            <a:ext cx="1261872" cy="502920"/>
          </a:xfrm>
          <a:prstGeom prst="rect">
            <a:avLst/>
          </a:prstGeom>
          <a:noFill/>
          <a:ln/>
        </p:spPr>
        <p:txBody>
          <a:bodyPr wrap="square" lIns="0" tIns="0" rIns="0" bIns="0" rtlCol="0" anchor="ctr"/>
          <a:lstStyle/>
          <a:p>
            <a:pPr algn="ctr" indent="0" marL="0">
              <a:buNone/>
            </a:pPr>
            <a:r>
              <a:rPr lang="en-US" sz="1000" b="1" dirty="0">
                <a:solidFill>
                  <a:srgbClr val="E3B341"/>
                </a:solidFill>
                <a:latin typeface="Calibri" pitchFamily="34" charset="0"/>
                <a:ea typeface="Calibri" pitchFamily="34" charset="-122"/>
                <a:cs typeface="Calibri" pitchFamily="34" charset="-120"/>
              </a:rPr>
              <a:t>SQS + Lambda</a:t>
            </a:r>
            <a:endParaRPr lang="en-US" sz="1000" dirty="0"/>
          </a:p>
        </p:txBody>
      </p:sp>
      <p:sp>
        <p:nvSpPr>
          <p:cNvPr id="14" name="Shape 12"/>
          <p:cNvSpPr/>
          <p:nvPr/>
        </p:nvSpPr>
        <p:spPr>
          <a:xfrm>
            <a:off x="6016752" y="4389120"/>
            <a:ext cx="1261872" cy="502920"/>
          </a:xfrm>
          <a:prstGeom prst="roundRect">
            <a:avLst>
              <a:gd name="adj" fmla="val 10909"/>
            </a:avLst>
          </a:prstGeom>
          <a:solidFill>
            <a:srgbClr val="A371F7">
              <a:alpha val="15000"/>
            </a:srgbClr>
          </a:solidFill>
          <a:ln w="10160">
            <a:solidFill>
              <a:srgbClr val="A371F7"/>
            </a:solidFill>
            <a:prstDash val="solid"/>
          </a:ln>
        </p:spPr>
      </p:sp>
      <p:sp>
        <p:nvSpPr>
          <p:cNvPr id="15" name="Text 13"/>
          <p:cNvSpPr/>
          <p:nvPr/>
        </p:nvSpPr>
        <p:spPr>
          <a:xfrm>
            <a:off x="6016752" y="4389120"/>
            <a:ext cx="1261872" cy="502920"/>
          </a:xfrm>
          <a:prstGeom prst="rect">
            <a:avLst/>
          </a:prstGeom>
          <a:noFill/>
          <a:ln/>
        </p:spPr>
        <p:txBody>
          <a:bodyPr wrap="square" lIns="0" tIns="0" rIns="0" bIns="0" rtlCol="0" anchor="ctr"/>
          <a:lstStyle/>
          <a:p>
            <a:pPr algn="ctr" indent="0" marL="0">
              <a:buNone/>
            </a:pPr>
            <a:r>
              <a:rPr lang="en-US" sz="1000" b="1" dirty="0">
                <a:solidFill>
                  <a:srgbClr val="A371F7"/>
                </a:solidFill>
                <a:latin typeface="Calibri" pitchFamily="34" charset="0"/>
                <a:ea typeface="Calibri" pitchFamily="34" charset="-122"/>
                <a:cs typeface="Calibri" pitchFamily="34" charset="-120"/>
              </a:rPr>
              <a:t>Bedrock AI</a:t>
            </a:r>
            <a:endParaRPr lang="en-US" sz="1000" dirty="0"/>
          </a:p>
        </p:txBody>
      </p:sp>
      <p:sp>
        <p:nvSpPr>
          <p:cNvPr id="16" name="Shape 14"/>
          <p:cNvSpPr/>
          <p:nvPr/>
        </p:nvSpPr>
        <p:spPr>
          <a:xfrm>
            <a:off x="7406640" y="4389120"/>
            <a:ext cx="1261872" cy="502920"/>
          </a:xfrm>
          <a:prstGeom prst="roundRect">
            <a:avLst>
              <a:gd name="adj" fmla="val 10909"/>
            </a:avLst>
          </a:prstGeom>
          <a:solidFill>
            <a:srgbClr val="146EB4">
              <a:alpha val="15000"/>
            </a:srgbClr>
          </a:solidFill>
          <a:ln w="10160">
            <a:solidFill>
              <a:srgbClr val="146EB4"/>
            </a:solidFill>
            <a:prstDash val="solid"/>
          </a:ln>
        </p:spPr>
      </p:sp>
      <p:sp>
        <p:nvSpPr>
          <p:cNvPr id="17" name="Text 15"/>
          <p:cNvSpPr/>
          <p:nvPr/>
        </p:nvSpPr>
        <p:spPr>
          <a:xfrm>
            <a:off x="7406640" y="4389120"/>
            <a:ext cx="1261872" cy="502920"/>
          </a:xfrm>
          <a:prstGeom prst="rect">
            <a:avLst/>
          </a:prstGeom>
          <a:noFill/>
          <a:ln/>
        </p:spPr>
        <p:txBody>
          <a:bodyPr wrap="square" lIns="0" tIns="0" rIns="0" bIns="0" rtlCol="0" anchor="ctr"/>
          <a:lstStyle/>
          <a:p>
            <a:pPr algn="ctr" indent="0" marL="0">
              <a:buNone/>
            </a:pPr>
            <a:r>
              <a:rPr lang="en-US" sz="1000" b="1" dirty="0">
                <a:solidFill>
                  <a:srgbClr val="146EB4"/>
                </a:solidFill>
                <a:latin typeface="Calibri" pitchFamily="34" charset="0"/>
                <a:ea typeface="Calibri" pitchFamily="34" charset="-122"/>
                <a:cs typeface="Calibri" pitchFamily="34" charset="-120"/>
              </a:rPr>
              <a:t>ECR + S3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INFRASTRUCTURE AS CODE</a:t>
            </a:r>
            <a:endParaRPr lang="en-US" sz="1000" dirty="0"/>
          </a:p>
        </p:txBody>
      </p:sp>
      <p:sp>
        <p:nvSpPr>
          <p:cNvPr id="3" name="Text 1"/>
          <p:cNvSpPr/>
          <p:nvPr/>
        </p:nvSpPr>
        <p:spPr>
          <a:xfrm>
            <a:off x="457200" y="548640"/>
            <a:ext cx="5943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Modular Terraform Architecture</a:t>
            </a:r>
            <a:endParaRPr lang="en-US" sz="3200" dirty="0"/>
          </a:p>
        </p:txBody>
      </p:sp>
      <p:sp>
        <p:nvSpPr>
          <p:cNvPr id="4" name="Shape 2"/>
          <p:cNvSpPr/>
          <p:nvPr/>
        </p:nvSpPr>
        <p:spPr>
          <a:xfrm>
            <a:off x="457200" y="1325880"/>
            <a:ext cx="1627632" cy="749808"/>
          </a:xfrm>
          <a:prstGeom prst="roundRect">
            <a:avLst>
              <a:gd name="adj" fmla="val 8537"/>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457200" y="1325880"/>
            <a:ext cx="1627632" cy="749808"/>
          </a:xfrm>
          <a:prstGeom prst="rect">
            <a:avLst/>
          </a:prstGeom>
          <a:noFill/>
          <a:ln/>
        </p:spPr>
        <p:txBody>
          <a:bodyPr wrap="square" lIns="0" tIns="0" rIns="0" bIns="0"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networking</a:t>
            </a:r>
            <a:endParaRPr lang="en-US" sz="1200" dirty="0"/>
          </a:p>
        </p:txBody>
      </p:sp>
      <p:sp>
        <p:nvSpPr>
          <p:cNvPr id="6" name="Shape 4"/>
          <p:cNvSpPr/>
          <p:nvPr/>
        </p:nvSpPr>
        <p:spPr>
          <a:xfrm>
            <a:off x="2286000" y="1325880"/>
            <a:ext cx="1627632" cy="749808"/>
          </a:xfrm>
          <a:prstGeom prst="roundRect">
            <a:avLst>
              <a:gd name="adj" fmla="val 8537"/>
            </a:avLst>
          </a:prstGeom>
          <a:solidFill>
            <a:srgbClr val="161B22"/>
          </a:solidFill>
          <a:ln w="12700">
            <a:solidFill>
              <a:srgbClr val="146EB4"/>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2286000" y="1325880"/>
            <a:ext cx="1627632" cy="749808"/>
          </a:xfrm>
          <a:prstGeom prst="rect">
            <a:avLst/>
          </a:prstGeom>
          <a:noFill/>
          <a:ln/>
        </p:spPr>
        <p:txBody>
          <a:bodyPr wrap="square" lIns="0" tIns="0" rIns="0" bIns="0" rtlCol="0" anchor="ctr"/>
          <a:lstStyle/>
          <a:p>
            <a:pPr algn="ctr" indent="0" marL="0">
              <a:buNone/>
            </a:pPr>
            <a:r>
              <a:rPr lang="en-US" sz="1200" b="1" dirty="0">
                <a:solidFill>
                  <a:srgbClr val="146EB4"/>
                </a:solidFill>
                <a:latin typeface="Calibri" pitchFamily="34" charset="0"/>
                <a:ea typeface="Calibri" pitchFamily="34" charset="-122"/>
                <a:cs typeface="Calibri" pitchFamily="34" charset="-120"/>
              </a:rPr>
              <a:t>iam</a:t>
            </a:r>
            <a:endParaRPr lang="en-US" sz="1200" dirty="0"/>
          </a:p>
        </p:txBody>
      </p:sp>
      <p:sp>
        <p:nvSpPr>
          <p:cNvPr id="8" name="Shape 6"/>
          <p:cNvSpPr/>
          <p:nvPr/>
        </p:nvSpPr>
        <p:spPr>
          <a:xfrm>
            <a:off x="4114800" y="1325880"/>
            <a:ext cx="1627632" cy="749808"/>
          </a:xfrm>
          <a:prstGeom prst="roundRect">
            <a:avLst>
              <a:gd name="adj" fmla="val 8537"/>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9" name="Text 7"/>
          <p:cNvSpPr/>
          <p:nvPr/>
        </p:nvSpPr>
        <p:spPr>
          <a:xfrm>
            <a:off x="4114800" y="1325880"/>
            <a:ext cx="1627632" cy="749808"/>
          </a:xfrm>
          <a:prstGeom prst="rect">
            <a:avLst/>
          </a:prstGeom>
          <a:noFill/>
          <a:ln/>
        </p:spPr>
        <p:txBody>
          <a:bodyPr wrap="square" lIns="0" tIns="0" rIns="0" bIns="0" rtlCol="0" anchor="ctr"/>
          <a:lstStyle/>
          <a:p>
            <a:pPr algn="ctr" indent="0" marL="0">
              <a:buNone/>
            </a:pPr>
            <a:r>
              <a:rPr lang="en-US" sz="1200" b="1" dirty="0">
                <a:solidFill>
                  <a:srgbClr val="00A4BD"/>
                </a:solidFill>
                <a:latin typeface="Calibri" pitchFamily="34" charset="0"/>
                <a:ea typeface="Calibri" pitchFamily="34" charset="-122"/>
                <a:cs typeface="Calibri" pitchFamily="34" charset="-120"/>
              </a:rPr>
              <a:t>eks</a:t>
            </a:r>
            <a:endParaRPr lang="en-US" sz="1200" dirty="0"/>
          </a:p>
        </p:txBody>
      </p:sp>
      <p:sp>
        <p:nvSpPr>
          <p:cNvPr id="10" name="Shape 8"/>
          <p:cNvSpPr/>
          <p:nvPr/>
        </p:nvSpPr>
        <p:spPr>
          <a:xfrm>
            <a:off x="5943600" y="1325880"/>
            <a:ext cx="1627632" cy="749808"/>
          </a:xfrm>
          <a:prstGeom prst="roundRect">
            <a:avLst>
              <a:gd name="adj" fmla="val 8537"/>
            </a:avLst>
          </a:prstGeom>
          <a:solidFill>
            <a:srgbClr val="161B22"/>
          </a:solidFill>
          <a:ln w="12700">
            <a:solidFill>
              <a:srgbClr val="2EA44F"/>
            </a:solidFill>
            <a:prstDash val="solid"/>
          </a:ln>
          <a:effectLst>
            <a:outerShdw sx="100000" sy="100000" kx="0" ky="0" algn="bl" rotWithShape="0" blurRad="101600" dist="38100" dir="2700000">
              <a:srgbClr val="000000">
                <a:alpha val="30000"/>
              </a:srgbClr>
            </a:outerShdw>
          </a:effectLst>
        </p:spPr>
      </p:sp>
      <p:sp>
        <p:nvSpPr>
          <p:cNvPr id="11" name="Text 9"/>
          <p:cNvSpPr/>
          <p:nvPr/>
        </p:nvSpPr>
        <p:spPr>
          <a:xfrm>
            <a:off x="5943600" y="1325880"/>
            <a:ext cx="1627632" cy="749808"/>
          </a:xfrm>
          <a:prstGeom prst="rect">
            <a:avLst/>
          </a:prstGeom>
          <a:noFill/>
          <a:ln/>
        </p:spPr>
        <p:txBody>
          <a:bodyPr wrap="square" lIns="0" tIns="0" rIns="0" bIns="0" rtlCol="0" anchor="ctr"/>
          <a:lstStyle/>
          <a:p>
            <a:pPr algn="ctr" indent="0" marL="0">
              <a:buNone/>
            </a:pPr>
            <a:r>
              <a:rPr lang="en-US" sz="1200" b="1" dirty="0">
                <a:solidFill>
                  <a:srgbClr val="2EA44F"/>
                </a:solidFill>
                <a:latin typeface="Calibri" pitchFamily="34" charset="0"/>
                <a:ea typeface="Calibri" pitchFamily="34" charset="-122"/>
                <a:cs typeface="Calibri" pitchFamily="34" charset="-120"/>
              </a:rPr>
              <a:t>ecr</a:t>
            </a:r>
            <a:endParaRPr lang="en-US" sz="1200" dirty="0"/>
          </a:p>
        </p:txBody>
      </p:sp>
      <p:sp>
        <p:nvSpPr>
          <p:cNvPr id="12" name="Shape 10"/>
          <p:cNvSpPr/>
          <p:nvPr/>
        </p:nvSpPr>
        <p:spPr>
          <a:xfrm>
            <a:off x="457200" y="2286000"/>
            <a:ext cx="1627632" cy="749808"/>
          </a:xfrm>
          <a:prstGeom prst="roundRect">
            <a:avLst>
              <a:gd name="adj" fmla="val 8537"/>
            </a:avLst>
          </a:prstGeom>
          <a:solidFill>
            <a:srgbClr val="161B22"/>
          </a:solidFill>
          <a:ln w="12700">
            <a:solidFill>
              <a:srgbClr val="A371F7"/>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457200" y="2286000"/>
            <a:ext cx="1627632" cy="749808"/>
          </a:xfrm>
          <a:prstGeom prst="rect">
            <a:avLst/>
          </a:prstGeom>
          <a:noFill/>
          <a:ln/>
        </p:spPr>
        <p:txBody>
          <a:bodyPr wrap="square" lIns="0" tIns="0" rIns="0" bIns="0" rtlCol="0" anchor="ctr"/>
          <a:lstStyle/>
          <a:p>
            <a:pPr algn="ctr" indent="0" marL="0">
              <a:buNone/>
            </a:pPr>
            <a:r>
              <a:rPr lang="en-US" sz="1200" b="1" dirty="0">
                <a:solidFill>
                  <a:srgbClr val="A371F7"/>
                </a:solidFill>
                <a:latin typeface="Calibri" pitchFamily="34" charset="0"/>
                <a:ea typeface="Calibri" pitchFamily="34" charset="-122"/>
                <a:cs typeface="Calibri" pitchFamily="34" charset="-120"/>
              </a:rPr>
              <a:t>rds</a:t>
            </a:r>
            <a:endParaRPr lang="en-US" sz="1200" dirty="0"/>
          </a:p>
        </p:txBody>
      </p:sp>
      <p:sp>
        <p:nvSpPr>
          <p:cNvPr id="14" name="Shape 12"/>
          <p:cNvSpPr/>
          <p:nvPr/>
        </p:nvSpPr>
        <p:spPr>
          <a:xfrm>
            <a:off x="2286000" y="2286000"/>
            <a:ext cx="1627632" cy="749808"/>
          </a:xfrm>
          <a:prstGeom prst="roundRect">
            <a:avLst>
              <a:gd name="adj" fmla="val 8537"/>
            </a:avLst>
          </a:prstGeom>
          <a:solidFill>
            <a:srgbClr val="161B22"/>
          </a:solidFill>
          <a:ln w="12700">
            <a:solidFill>
              <a:srgbClr val="E3B341"/>
            </a:solidFill>
            <a:prstDash val="solid"/>
          </a:ln>
          <a:effectLst>
            <a:outerShdw sx="100000" sy="100000" kx="0" ky="0" algn="bl" rotWithShape="0" blurRad="101600" dist="38100" dir="2700000">
              <a:srgbClr val="000000">
                <a:alpha val="30000"/>
              </a:srgbClr>
            </a:outerShdw>
          </a:effectLst>
        </p:spPr>
      </p:sp>
      <p:sp>
        <p:nvSpPr>
          <p:cNvPr id="15" name="Text 13"/>
          <p:cNvSpPr/>
          <p:nvPr/>
        </p:nvSpPr>
        <p:spPr>
          <a:xfrm>
            <a:off x="2286000" y="2286000"/>
            <a:ext cx="1627632" cy="749808"/>
          </a:xfrm>
          <a:prstGeom prst="rect">
            <a:avLst/>
          </a:prstGeom>
          <a:noFill/>
          <a:ln/>
        </p:spPr>
        <p:txBody>
          <a:bodyPr wrap="square" lIns="0" tIns="0" rIns="0" bIns="0" rtlCol="0" anchor="ctr"/>
          <a:lstStyle/>
          <a:p>
            <a:pPr algn="ctr" indent="0" marL="0">
              <a:buNone/>
            </a:pPr>
            <a:r>
              <a:rPr lang="en-US" sz="1200" b="1" dirty="0">
                <a:solidFill>
                  <a:srgbClr val="E3B341"/>
                </a:solidFill>
                <a:latin typeface="Calibri" pitchFamily="34" charset="0"/>
                <a:ea typeface="Calibri" pitchFamily="34" charset="-122"/>
                <a:cs typeface="Calibri" pitchFamily="34" charset="-120"/>
              </a:rPr>
              <a:t>s3</a:t>
            </a:r>
            <a:endParaRPr lang="en-US" sz="1200" dirty="0"/>
          </a:p>
        </p:txBody>
      </p:sp>
      <p:sp>
        <p:nvSpPr>
          <p:cNvPr id="16" name="Shape 14"/>
          <p:cNvSpPr/>
          <p:nvPr/>
        </p:nvSpPr>
        <p:spPr>
          <a:xfrm>
            <a:off x="4114800" y="2286000"/>
            <a:ext cx="1627632" cy="749808"/>
          </a:xfrm>
          <a:prstGeom prst="roundRect">
            <a:avLst>
              <a:gd name="adj" fmla="val 8537"/>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17" name="Text 15"/>
          <p:cNvSpPr/>
          <p:nvPr/>
        </p:nvSpPr>
        <p:spPr>
          <a:xfrm>
            <a:off x="4114800" y="2286000"/>
            <a:ext cx="1627632" cy="749808"/>
          </a:xfrm>
          <a:prstGeom prst="rect">
            <a:avLst/>
          </a:prstGeom>
          <a:noFill/>
          <a:ln/>
        </p:spPr>
        <p:txBody>
          <a:bodyPr wrap="square" lIns="0" tIns="0" rIns="0" bIns="0"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sqs</a:t>
            </a:r>
            <a:endParaRPr lang="en-US" sz="1200" dirty="0"/>
          </a:p>
        </p:txBody>
      </p:sp>
      <p:sp>
        <p:nvSpPr>
          <p:cNvPr id="18" name="Shape 16"/>
          <p:cNvSpPr/>
          <p:nvPr/>
        </p:nvSpPr>
        <p:spPr>
          <a:xfrm>
            <a:off x="5943600" y="2286000"/>
            <a:ext cx="1627632" cy="749808"/>
          </a:xfrm>
          <a:prstGeom prst="roundRect">
            <a:avLst>
              <a:gd name="adj" fmla="val 8537"/>
            </a:avLst>
          </a:prstGeom>
          <a:solidFill>
            <a:srgbClr val="161B22"/>
          </a:solidFill>
          <a:ln w="12700">
            <a:solidFill>
              <a:srgbClr val="146EB4"/>
            </a:solidFill>
            <a:prstDash val="solid"/>
          </a:ln>
          <a:effectLst>
            <a:outerShdw sx="100000" sy="100000" kx="0" ky="0" algn="bl" rotWithShape="0" blurRad="101600" dist="38100" dir="2700000">
              <a:srgbClr val="000000">
                <a:alpha val="30000"/>
              </a:srgbClr>
            </a:outerShdw>
          </a:effectLst>
        </p:spPr>
      </p:sp>
      <p:sp>
        <p:nvSpPr>
          <p:cNvPr id="19" name="Text 17"/>
          <p:cNvSpPr/>
          <p:nvPr/>
        </p:nvSpPr>
        <p:spPr>
          <a:xfrm>
            <a:off x="5943600" y="2286000"/>
            <a:ext cx="1627632" cy="749808"/>
          </a:xfrm>
          <a:prstGeom prst="rect">
            <a:avLst/>
          </a:prstGeom>
          <a:noFill/>
          <a:ln/>
        </p:spPr>
        <p:txBody>
          <a:bodyPr wrap="square" lIns="0" tIns="0" rIns="0" bIns="0" rtlCol="0" anchor="ctr"/>
          <a:lstStyle/>
          <a:p>
            <a:pPr algn="ctr" indent="0" marL="0">
              <a:buNone/>
            </a:pPr>
            <a:r>
              <a:rPr lang="en-US" sz="1200" b="1" dirty="0">
                <a:solidFill>
                  <a:srgbClr val="146EB4"/>
                </a:solidFill>
                <a:latin typeface="Calibri" pitchFamily="34" charset="0"/>
                <a:ea typeface="Calibri" pitchFamily="34" charset="-122"/>
                <a:cs typeface="Calibri" pitchFamily="34" charset="-120"/>
              </a:rPr>
              <a:t>sns</a:t>
            </a:r>
            <a:endParaRPr lang="en-US" sz="1200" dirty="0"/>
          </a:p>
        </p:txBody>
      </p:sp>
      <p:sp>
        <p:nvSpPr>
          <p:cNvPr id="20" name="Shape 18"/>
          <p:cNvSpPr/>
          <p:nvPr/>
        </p:nvSpPr>
        <p:spPr>
          <a:xfrm>
            <a:off x="457200" y="3246120"/>
            <a:ext cx="1627632" cy="749808"/>
          </a:xfrm>
          <a:prstGeom prst="roundRect">
            <a:avLst>
              <a:gd name="adj" fmla="val 8537"/>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457200" y="3246120"/>
            <a:ext cx="1627632" cy="749808"/>
          </a:xfrm>
          <a:prstGeom prst="rect">
            <a:avLst/>
          </a:prstGeom>
          <a:noFill/>
          <a:ln/>
        </p:spPr>
        <p:txBody>
          <a:bodyPr wrap="square" lIns="0" tIns="0" rIns="0" bIns="0" rtlCol="0" anchor="ctr"/>
          <a:lstStyle/>
          <a:p>
            <a:pPr algn="ctr" indent="0" marL="0">
              <a:buNone/>
            </a:pPr>
            <a:r>
              <a:rPr lang="en-US" sz="1200" b="1" dirty="0">
                <a:solidFill>
                  <a:srgbClr val="00A4BD"/>
                </a:solidFill>
                <a:latin typeface="Calibri" pitchFamily="34" charset="0"/>
                <a:ea typeface="Calibri" pitchFamily="34" charset="-122"/>
                <a:cs typeface="Calibri" pitchFamily="34" charset="-120"/>
              </a:rPr>
              <a:t>lambda</a:t>
            </a:r>
            <a:endParaRPr lang="en-US" sz="1200" dirty="0"/>
          </a:p>
        </p:txBody>
      </p:sp>
      <p:sp>
        <p:nvSpPr>
          <p:cNvPr id="22" name="Shape 20"/>
          <p:cNvSpPr/>
          <p:nvPr/>
        </p:nvSpPr>
        <p:spPr>
          <a:xfrm>
            <a:off x="2286000" y="3246120"/>
            <a:ext cx="1627632" cy="749808"/>
          </a:xfrm>
          <a:prstGeom prst="roundRect">
            <a:avLst>
              <a:gd name="adj" fmla="val 8537"/>
            </a:avLst>
          </a:prstGeom>
          <a:solidFill>
            <a:srgbClr val="161B22"/>
          </a:solidFill>
          <a:ln w="12700">
            <a:solidFill>
              <a:srgbClr val="2EA44F"/>
            </a:solidFill>
            <a:prstDash val="solid"/>
          </a:ln>
          <a:effectLst>
            <a:outerShdw sx="100000" sy="100000" kx="0" ky="0" algn="bl" rotWithShape="0" blurRad="101600" dist="38100" dir="2700000">
              <a:srgbClr val="000000">
                <a:alpha val="30000"/>
              </a:srgbClr>
            </a:outerShdw>
          </a:effectLst>
        </p:spPr>
      </p:sp>
      <p:sp>
        <p:nvSpPr>
          <p:cNvPr id="23" name="Text 21"/>
          <p:cNvSpPr/>
          <p:nvPr/>
        </p:nvSpPr>
        <p:spPr>
          <a:xfrm>
            <a:off x="2286000" y="3246120"/>
            <a:ext cx="1627632" cy="749808"/>
          </a:xfrm>
          <a:prstGeom prst="rect">
            <a:avLst/>
          </a:prstGeom>
          <a:noFill/>
          <a:ln/>
        </p:spPr>
        <p:txBody>
          <a:bodyPr wrap="square" lIns="0" tIns="0" rIns="0" bIns="0" rtlCol="0" anchor="ctr"/>
          <a:lstStyle/>
          <a:p>
            <a:pPr algn="ctr" indent="0" marL="0">
              <a:buNone/>
            </a:pPr>
            <a:r>
              <a:rPr lang="en-US" sz="1200" b="1" dirty="0">
                <a:solidFill>
                  <a:srgbClr val="2EA44F"/>
                </a:solidFill>
                <a:latin typeface="Calibri" pitchFamily="34" charset="0"/>
                <a:ea typeface="Calibri" pitchFamily="34" charset="-122"/>
                <a:cs typeface="Calibri" pitchFamily="34" charset="-120"/>
              </a:rPr>
              <a:t>monitoring</a:t>
            </a:r>
            <a:endParaRPr lang="en-US" sz="1200" dirty="0"/>
          </a:p>
        </p:txBody>
      </p:sp>
      <p:sp>
        <p:nvSpPr>
          <p:cNvPr id="24" name="Shape 22"/>
          <p:cNvSpPr/>
          <p:nvPr/>
        </p:nvSpPr>
        <p:spPr>
          <a:xfrm>
            <a:off x="4114800" y="3246120"/>
            <a:ext cx="1627632" cy="749808"/>
          </a:xfrm>
          <a:prstGeom prst="roundRect">
            <a:avLst>
              <a:gd name="adj" fmla="val 8537"/>
            </a:avLst>
          </a:prstGeom>
          <a:solidFill>
            <a:srgbClr val="161B22"/>
          </a:solidFill>
          <a:ln w="12700">
            <a:solidFill>
              <a:srgbClr val="A371F7"/>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4114800" y="3246120"/>
            <a:ext cx="1627632" cy="749808"/>
          </a:xfrm>
          <a:prstGeom prst="rect">
            <a:avLst/>
          </a:prstGeom>
          <a:noFill/>
          <a:ln/>
        </p:spPr>
        <p:txBody>
          <a:bodyPr wrap="square" lIns="0" tIns="0" rIns="0" bIns="0" rtlCol="0" anchor="ctr"/>
          <a:lstStyle/>
          <a:p>
            <a:pPr algn="ctr" indent="0" marL="0">
              <a:buNone/>
            </a:pPr>
            <a:r>
              <a:rPr lang="en-US" sz="1200" b="1" dirty="0">
                <a:solidFill>
                  <a:srgbClr val="A371F7"/>
                </a:solidFill>
                <a:latin typeface="Calibri" pitchFamily="34" charset="0"/>
                <a:ea typeface="Calibri" pitchFamily="34" charset="-122"/>
                <a:cs typeface="Calibri" pitchFamily="34" charset="-120"/>
              </a:rPr>
              <a:t>argocd</a:t>
            </a:r>
            <a:endParaRPr lang="en-US" sz="1200" dirty="0"/>
          </a:p>
        </p:txBody>
      </p:sp>
      <p:sp>
        <p:nvSpPr>
          <p:cNvPr id="26" name="Shape 24"/>
          <p:cNvSpPr/>
          <p:nvPr/>
        </p:nvSpPr>
        <p:spPr>
          <a:xfrm>
            <a:off x="5943600" y="3246120"/>
            <a:ext cx="1627632" cy="749808"/>
          </a:xfrm>
          <a:prstGeom prst="roundRect">
            <a:avLst>
              <a:gd name="adj" fmla="val 8537"/>
            </a:avLst>
          </a:prstGeom>
          <a:solidFill>
            <a:srgbClr val="161B22"/>
          </a:solidFill>
          <a:ln w="12700">
            <a:solidFill>
              <a:srgbClr val="E3B341"/>
            </a:solidFill>
            <a:prstDash val="solid"/>
          </a:ln>
          <a:effectLst>
            <a:outerShdw sx="100000" sy="100000" kx="0" ky="0" algn="bl" rotWithShape="0" blurRad="101600" dist="38100" dir="2700000">
              <a:srgbClr val="000000">
                <a:alpha val="30000"/>
              </a:srgbClr>
            </a:outerShdw>
          </a:effectLst>
        </p:spPr>
      </p:sp>
      <p:sp>
        <p:nvSpPr>
          <p:cNvPr id="27" name="Text 25"/>
          <p:cNvSpPr/>
          <p:nvPr/>
        </p:nvSpPr>
        <p:spPr>
          <a:xfrm>
            <a:off x="5943600" y="3246120"/>
            <a:ext cx="1627632" cy="749808"/>
          </a:xfrm>
          <a:prstGeom prst="rect">
            <a:avLst/>
          </a:prstGeom>
          <a:noFill/>
          <a:ln/>
        </p:spPr>
        <p:txBody>
          <a:bodyPr wrap="square" lIns="0" tIns="0" rIns="0" bIns="0" rtlCol="0" anchor="ctr"/>
          <a:lstStyle/>
          <a:p>
            <a:pPr algn="ctr" indent="0" marL="0">
              <a:buNone/>
            </a:pPr>
            <a:r>
              <a:rPr lang="en-US" sz="1200" b="1" dirty="0">
                <a:solidFill>
                  <a:srgbClr val="E3B341"/>
                </a:solidFill>
                <a:latin typeface="Calibri" pitchFamily="34" charset="0"/>
                <a:ea typeface="Calibri" pitchFamily="34" charset="-122"/>
                <a:cs typeface="Calibri" pitchFamily="34" charset="-120"/>
              </a:rPr>
              <a:t>irsa</a:t>
            </a:r>
            <a:endParaRPr lang="en-US" sz="1200" dirty="0"/>
          </a:p>
        </p:txBody>
      </p:sp>
      <p:sp>
        <p:nvSpPr>
          <p:cNvPr id="28" name="Shape 26"/>
          <p:cNvSpPr/>
          <p:nvPr/>
        </p:nvSpPr>
        <p:spPr>
          <a:xfrm>
            <a:off x="6126480" y="1325880"/>
            <a:ext cx="2743200" cy="3474720"/>
          </a:xfrm>
          <a:prstGeom prst="roundRect">
            <a:avLst>
              <a:gd name="adj" fmla="val 3333"/>
            </a:avLst>
          </a:prstGeom>
          <a:solidFill>
            <a:srgbClr val="1C2333"/>
          </a:solidFill>
          <a:ln w="10160">
            <a:solidFill>
              <a:srgbClr val="30363D"/>
            </a:solidFill>
            <a:prstDash val="solid"/>
          </a:ln>
          <a:effectLst>
            <a:outerShdw sx="100000" sy="100000" kx="0" ky="0" algn="bl" rotWithShape="0" blurRad="101600" dist="38100" dir="2700000">
              <a:srgbClr val="000000">
                <a:alpha val="30000"/>
              </a:srgbClr>
            </a:outerShdw>
          </a:effectLst>
        </p:spPr>
      </p:sp>
      <p:sp>
        <p:nvSpPr>
          <p:cNvPr id="29" name="Text 27"/>
          <p:cNvSpPr/>
          <p:nvPr/>
        </p:nvSpPr>
        <p:spPr>
          <a:xfrm>
            <a:off x="6263640" y="1463040"/>
            <a:ext cx="2468880" cy="347472"/>
          </a:xfrm>
          <a:prstGeom prst="rect">
            <a:avLst/>
          </a:prstGeom>
          <a:noFill/>
          <a:ln/>
        </p:spPr>
        <p:txBody>
          <a:bodyPr wrap="square" lIns="0" tIns="0" rIns="0" bIns="0" rtlCol="0" anchor="ctr"/>
          <a:lstStyle/>
          <a:p>
            <a:pPr indent="0" marL="0">
              <a:buNone/>
            </a:pPr>
            <a:r>
              <a:rPr lang="en-US" sz="1400" b="1" dirty="0">
                <a:solidFill>
                  <a:srgbClr val="FF9900"/>
                </a:solidFill>
                <a:latin typeface="Calibri" pitchFamily="34" charset="0"/>
                <a:ea typeface="Calibri" pitchFamily="34" charset="-122"/>
                <a:cs typeface="Calibri" pitchFamily="34" charset="-120"/>
              </a:rPr>
              <a:t>Remote State</a:t>
            </a:r>
            <a:endParaRPr lang="en-US" sz="1400" dirty="0"/>
          </a:p>
        </p:txBody>
      </p:sp>
      <p:sp>
        <p:nvSpPr>
          <p:cNvPr id="30" name="Text 28"/>
          <p:cNvSpPr/>
          <p:nvPr/>
        </p:nvSpPr>
        <p:spPr>
          <a:xfrm>
            <a:off x="6263640" y="1874520"/>
            <a:ext cx="2468880" cy="91440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S3 Bucket</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DynamoDB Lock Table</a:t>
            </a:r>
            <a:endParaRPr lang="en-US" sz="1100" dirty="0"/>
          </a:p>
          <a:p>
            <a:pPr marL="342900" indent="-342900">
              <a:buSzPct val="100000"/>
              <a:buChar char="•"/>
            </a:pPr>
            <a:r>
              <a:rPr lang="en-US" sz="1100" dirty="0">
                <a:solidFill>
                  <a:srgbClr val="8B949E"/>
                </a:solidFill>
                <a:latin typeface="Calibri" pitchFamily="34" charset="0"/>
                <a:ea typeface="Calibri" pitchFamily="34" charset="-122"/>
                <a:cs typeface="Calibri" pitchFamily="34" charset="-120"/>
              </a:rPr>
              <a:t>State isolation per env</a:t>
            </a:r>
            <a:endParaRPr lang="en-US" sz="1100" dirty="0"/>
          </a:p>
        </p:txBody>
      </p:sp>
      <p:sp>
        <p:nvSpPr>
          <p:cNvPr id="31" name="Shape 29"/>
          <p:cNvSpPr/>
          <p:nvPr/>
        </p:nvSpPr>
        <p:spPr>
          <a:xfrm>
            <a:off x="6263640" y="2852928"/>
            <a:ext cx="2377440" cy="0"/>
          </a:xfrm>
          <a:prstGeom prst="line">
            <a:avLst/>
          </a:prstGeom>
          <a:noFill/>
          <a:ln w="10160">
            <a:solidFill>
              <a:srgbClr val="30363D"/>
            </a:solidFill>
            <a:prstDash val="solid"/>
          </a:ln>
        </p:spPr>
      </p:sp>
      <p:sp>
        <p:nvSpPr>
          <p:cNvPr id="32" name="Text 30"/>
          <p:cNvSpPr/>
          <p:nvPr/>
        </p:nvSpPr>
        <p:spPr>
          <a:xfrm>
            <a:off x="6263640" y="2971800"/>
            <a:ext cx="2468880" cy="347472"/>
          </a:xfrm>
          <a:prstGeom prst="rect">
            <a:avLst/>
          </a:prstGeom>
          <a:noFill/>
          <a:ln/>
        </p:spPr>
        <p:txBody>
          <a:bodyPr wrap="square" lIns="0" tIns="0" rIns="0" bIns="0" rtlCol="0" anchor="ctr"/>
          <a:lstStyle/>
          <a:p>
            <a:pPr indent="0" marL="0">
              <a:buNone/>
            </a:pPr>
            <a:r>
              <a:rPr lang="en-US" sz="1400" b="1" dirty="0">
                <a:solidFill>
                  <a:srgbClr val="00A4BD"/>
                </a:solidFill>
                <a:latin typeface="Calibri" pitchFamily="34" charset="0"/>
                <a:ea typeface="Calibri" pitchFamily="34" charset="-122"/>
                <a:cs typeface="Calibri" pitchFamily="34" charset="-120"/>
              </a:rPr>
              <a:t>Design Principles</a:t>
            </a:r>
            <a:endParaRPr lang="en-US" sz="1400" dirty="0"/>
          </a:p>
        </p:txBody>
      </p:sp>
      <p:sp>
        <p:nvSpPr>
          <p:cNvPr id="33" name="Text 31"/>
          <p:cNvSpPr/>
          <p:nvPr/>
        </p:nvSpPr>
        <p:spPr>
          <a:xfrm>
            <a:off x="6263640" y="3364992"/>
            <a:ext cx="2468880" cy="118872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One module per AWS service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Reusable across environments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Variable-driven config</a:t>
            </a:r>
            <a:endParaRPr lang="en-US" sz="1100" dirty="0"/>
          </a:p>
          <a:p>
            <a:pPr marL="342900" indent="-342900">
              <a:buSzPct val="100000"/>
              <a:buChar char="•"/>
            </a:pPr>
            <a:r>
              <a:rPr lang="en-US" sz="1100" dirty="0">
                <a:solidFill>
                  <a:srgbClr val="8B949E"/>
                </a:solidFill>
                <a:latin typeface="Calibri" pitchFamily="34" charset="0"/>
                <a:ea typeface="Calibri" pitchFamily="34" charset="-122"/>
                <a:cs typeface="Calibri" pitchFamily="34" charset="-120"/>
              </a:rPr>
              <a:t>Full dependency graph</a:t>
            </a:r>
            <a:endParaRPr lang="en-US" sz="1100" dirty="0"/>
          </a:p>
        </p:txBody>
      </p:sp>
      <p:sp>
        <p:nvSpPr>
          <p:cNvPr id="34" name="Text 32"/>
          <p:cNvSpPr/>
          <p:nvPr/>
        </p:nvSpPr>
        <p:spPr>
          <a:xfrm>
            <a:off x="457200" y="4754880"/>
            <a:ext cx="54864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12 Terraform Modules  ·  Fully Modular  ·  S3 Remote State  ·  DynamoDB Locking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00A4BD"/>
                </a:solidFill>
                <a:latin typeface="Calibri" pitchFamily="34" charset="0"/>
                <a:ea typeface="Calibri" pitchFamily="34" charset="-122"/>
                <a:cs typeface="Calibri" pitchFamily="34" charset="-120"/>
              </a:rPr>
              <a:t>KUBERNETES ARCHITECTURE</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Amazon EKS Cluster Design</a:t>
            </a:r>
            <a:endParaRPr lang="en-US" sz="3200" dirty="0"/>
          </a:p>
        </p:txBody>
      </p:sp>
      <p:sp>
        <p:nvSpPr>
          <p:cNvPr id="4" name="Shape 2"/>
          <p:cNvSpPr/>
          <p:nvPr/>
        </p:nvSpPr>
        <p:spPr>
          <a:xfrm>
            <a:off x="457200" y="1280160"/>
            <a:ext cx="5303520" cy="2926080"/>
          </a:xfrm>
          <a:prstGeom prst="roundRect">
            <a:avLst>
              <a:gd name="adj" fmla="val 3750"/>
            </a:avLst>
          </a:prstGeom>
          <a:solidFill>
            <a:srgbClr val="161B22"/>
          </a:solidFill>
          <a:ln w="19050">
            <a:solidFill>
              <a:srgbClr val="30363D"/>
            </a:solidFill>
            <a:prstDash val="dash"/>
          </a:ln>
        </p:spPr>
      </p:sp>
      <p:sp>
        <p:nvSpPr>
          <p:cNvPr id="5" name="Text 3"/>
          <p:cNvSpPr/>
          <p:nvPr/>
        </p:nvSpPr>
        <p:spPr>
          <a:xfrm>
            <a:off x="457200" y="1280160"/>
            <a:ext cx="5303520" cy="2926080"/>
          </a:xfrm>
          <a:prstGeom prst="rect">
            <a:avLst/>
          </a:prstGeom>
          <a:noFill/>
          <a:ln/>
        </p:spPr>
        <p:txBody>
          <a:bodyPr wrap="square" lIns="0" tIns="0" rIns="0" bIns="0" rtlCol="0" anchor="ctr"/>
          <a:lstStyle/>
          <a:p>
            <a:pPr algn="ctr" indent="0" marL="0">
              <a:buNone/>
            </a:pPr>
            <a:r>
              <a:rPr lang="en-US" sz="1500" i="1" dirty="0">
                <a:solidFill>
                  <a:srgbClr val="6E7681"/>
                </a:solidFill>
                <a:latin typeface="Calibri" pitchFamily="34" charset="0"/>
                <a:ea typeface="Calibri" pitchFamily="34" charset="-122"/>
                <a:cs typeface="Calibri" pitchFamily="34" charset="-120"/>
              </a:rPr>
              <a:t>[ Insert EKS Architecture Diagram Here ]</a:t>
            </a:r>
            <a:endParaRPr lang="en-US" sz="1500" dirty="0"/>
          </a:p>
        </p:txBody>
      </p:sp>
      <p:sp>
        <p:nvSpPr>
          <p:cNvPr id="6" name="Shape 4"/>
          <p:cNvSpPr/>
          <p:nvPr/>
        </p:nvSpPr>
        <p:spPr>
          <a:xfrm>
            <a:off x="5943600" y="1280160"/>
            <a:ext cx="2926080" cy="658368"/>
          </a:xfrm>
          <a:prstGeom prst="roundRect">
            <a:avLst>
              <a:gd name="adj" fmla="val 9722"/>
            </a:avLst>
          </a:prstGeom>
          <a:solidFill>
            <a:srgbClr val="161B22"/>
          </a:solidFill>
          <a:ln w="10160">
            <a:solidFill>
              <a:srgbClr val="FF9900"/>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6080760" y="1353312"/>
            <a:ext cx="2743200"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Namespace Isolation</a:t>
            </a:r>
            <a:endParaRPr lang="en-US" sz="1200" dirty="0"/>
          </a:p>
        </p:txBody>
      </p:sp>
      <p:sp>
        <p:nvSpPr>
          <p:cNvPr id="8" name="Text 6"/>
          <p:cNvSpPr/>
          <p:nvPr/>
        </p:nvSpPr>
        <p:spPr>
          <a:xfrm>
            <a:off x="6080760" y="1609344"/>
            <a:ext cx="2743200" cy="25603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Production / monitoring separated</a:t>
            </a:r>
            <a:endParaRPr lang="en-US" sz="1050" dirty="0"/>
          </a:p>
        </p:txBody>
      </p:sp>
      <p:sp>
        <p:nvSpPr>
          <p:cNvPr id="9" name="Shape 7"/>
          <p:cNvSpPr/>
          <p:nvPr/>
        </p:nvSpPr>
        <p:spPr>
          <a:xfrm>
            <a:off x="5943600" y="2084832"/>
            <a:ext cx="2926080" cy="658368"/>
          </a:xfrm>
          <a:prstGeom prst="roundRect">
            <a:avLst>
              <a:gd name="adj" fmla="val 9722"/>
            </a:avLst>
          </a:prstGeom>
          <a:solidFill>
            <a:srgbClr val="161B22"/>
          </a:solidFill>
          <a:ln w="10160">
            <a:solidFill>
              <a:srgbClr val="00A4BD"/>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6080760" y="2157984"/>
            <a:ext cx="2743200" cy="274320"/>
          </a:xfrm>
          <a:prstGeom prst="rect">
            <a:avLst/>
          </a:prstGeom>
          <a:noFill/>
          <a:ln/>
        </p:spPr>
        <p:txBody>
          <a:bodyPr wrap="square" lIns="0" tIns="0" rIns="0" bIns="0" rtlCol="0" anchor="ctr"/>
          <a:lstStyle/>
          <a:p>
            <a:pPr indent="0" marL="0">
              <a:buNone/>
            </a:pPr>
            <a:r>
              <a:rPr lang="en-US" sz="1200" b="1" dirty="0">
                <a:solidFill>
                  <a:srgbClr val="00A4BD"/>
                </a:solidFill>
                <a:latin typeface="Calibri" pitchFamily="34" charset="0"/>
                <a:ea typeface="Calibri" pitchFamily="34" charset="-122"/>
                <a:cs typeface="Calibri" pitchFamily="34" charset="-120"/>
              </a:rPr>
              <a:t>Ingress / Gateway</a:t>
            </a:r>
            <a:endParaRPr lang="en-US" sz="1200" dirty="0"/>
          </a:p>
        </p:txBody>
      </p:sp>
      <p:sp>
        <p:nvSpPr>
          <p:cNvPr id="11" name="Text 9"/>
          <p:cNvSpPr/>
          <p:nvPr/>
        </p:nvSpPr>
        <p:spPr>
          <a:xfrm>
            <a:off x="6080760" y="2414016"/>
            <a:ext cx="2743200" cy="25603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ALB Controller for routing</a:t>
            </a:r>
            <a:endParaRPr lang="en-US" sz="1050" dirty="0"/>
          </a:p>
        </p:txBody>
      </p:sp>
      <p:sp>
        <p:nvSpPr>
          <p:cNvPr id="12" name="Shape 10"/>
          <p:cNvSpPr/>
          <p:nvPr/>
        </p:nvSpPr>
        <p:spPr>
          <a:xfrm>
            <a:off x="5943600" y="2889504"/>
            <a:ext cx="2926080" cy="658368"/>
          </a:xfrm>
          <a:prstGeom prst="roundRect">
            <a:avLst>
              <a:gd name="adj" fmla="val 9722"/>
            </a:avLst>
          </a:prstGeom>
          <a:solidFill>
            <a:srgbClr val="161B22"/>
          </a:solidFill>
          <a:ln w="10160">
            <a:solidFill>
              <a:srgbClr val="2EA44F"/>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6080760" y="2962656"/>
            <a:ext cx="2743200" cy="274320"/>
          </a:xfrm>
          <a:prstGeom prst="rect">
            <a:avLst/>
          </a:prstGeom>
          <a:noFill/>
          <a:ln/>
        </p:spPr>
        <p:txBody>
          <a:bodyPr wrap="square" lIns="0" tIns="0" rIns="0" bIns="0" rtlCol="0" anchor="ctr"/>
          <a:lstStyle/>
          <a:p>
            <a:pPr indent="0" marL="0">
              <a:buNone/>
            </a:pPr>
            <a:r>
              <a:rPr lang="en-US" sz="1200" b="1" dirty="0">
                <a:solidFill>
                  <a:srgbClr val="2EA44F"/>
                </a:solidFill>
                <a:latin typeface="Calibri" pitchFamily="34" charset="0"/>
                <a:ea typeface="Calibri" pitchFamily="34" charset="-122"/>
                <a:cs typeface="Calibri" pitchFamily="34" charset="-120"/>
              </a:rPr>
              <a:t>ConfigMaps</a:t>
            </a:r>
            <a:endParaRPr lang="en-US" sz="1200" dirty="0"/>
          </a:p>
        </p:txBody>
      </p:sp>
      <p:sp>
        <p:nvSpPr>
          <p:cNvPr id="14" name="Text 12"/>
          <p:cNvSpPr/>
          <p:nvPr/>
        </p:nvSpPr>
        <p:spPr>
          <a:xfrm>
            <a:off x="6080760" y="3218688"/>
            <a:ext cx="2743200" cy="25603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Environment config management</a:t>
            </a:r>
            <a:endParaRPr lang="en-US" sz="1050" dirty="0"/>
          </a:p>
        </p:txBody>
      </p:sp>
      <p:sp>
        <p:nvSpPr>
          <p:cNvPr id="15" name="Shape 13"/>
          <p:cNvSpPr/>
          <p:nvPr/>
        </p:nvSpPr>
        <p:spPr>
          <a:xfrm>
            <a:off x="5943600" y="3694176"/>
            <a:ext cx="2926080" cy="658368"/>
          </a:xfrm>
          <a:prstGeom prst="roundRect">
            <a:avLst>
              <a:gd name="adj" fmla="val 9722"/>
            </a:avLst>
          </a:prstGeom>
          <a:solidFill>
            <a:srgbClr val="161B22"/>
          </a:solidFill>
          <a:ln w="10160">
            <a:solidFill>
              <a:srgbClr val="A371F7"/>
            </a:solidFill>
            <a:prstDash val="solid"/>
          </a:ln>
          <a:effectLst>
            <a:outerShdw sx="100000" sy="100000" kx="0" ky="0" algn="bl" rotWithShape="0" blurRad="101600" dist="38100" dir="2700000">
              <a:srgbClr val="000000">
                <a:alpha val="30000"/>
              </a:srgbClr>
            </a:outerShdw>
          </a:effectLst>
        </p:spPr>
      </p:sp>
      <p:sp>
        <p:nvSpPr>
          <p:cNvPr id="16" name="Text 14"/>
          <p:cNvSpPr/>
          <p:nvPr/>
        </p:nvSpPr>
        <p:spPr>
          <a:xfrm>
            <a:off x="6080760" y="3767328"/>
            <a:ext cx="2743200" cy="274320"/>
          </a:xfrm>
          <a:prstGeom prst="rect">
            <a:avLst/>
          </a:prstGeom>
          <a:noFill/>
          <a:ln/>
        </p:spPr>
        <p:txBody>
          <a:bodyPr wrap="square" lIns="0" tIns="0" rIns="0" bIns="0" rtlCol="0" anchor="ctr"/>
          <a:lstStyle/>
          <a:p>
            <a:pPr indent="0" marL="0">
              <a:buNone/>
            </a:pPr>
            <a:r>
              <a:rPr lang="en-US" sz="1200" b="1" dirty="0">
                <a:solidFill>
                  <a:srgbClr val="A371F7"/>
                </a:solidFill>
                <a:latin typeface="Calibri" pitchFamily="34" charset="0"/>
                <a:ea typeface="Calibri" pitchFamily="34" charset="-122"/>
                <a:cs typeface="Calibri" pitchFamily="34" charset="-120"/>
              </a:rPr>
              <a:t>External Secrets</a:t>
            </a:r>
            <a:endParaRPr lang="en-US" sz="1200" dirty="0"/>
          </a:p>
        </p:txBody>
      </p:sp>
      <p:sp>
        <p:nvSpPr>
          <p:cNvPr id="17" name="Text 15"/>
          <p:cNvSpPr/>
          <p:nvPr/>
        </p:nvSpPr>
        <p:spPr>
          <a:xfrm>
            <a:off x="6080760" y="4023360"/>
            <a:ext cx="2743200" cy="256032"/>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Syncs from AWS Secrets Manager</a:t>
            </a:r>
            <a:endParaRPr lang="en-US" sz="1050" dirty="0"/>
          </a:p>
        </p:txBody>
      </p:sp>
      <p:sp>
        <p:nvSpPr>
          <p:cNvPr id="18" name="Text 16"/>
          <p:cNvSpPr/>
          <p:nvPr/>
        </p:nvSpPr>
        <p:spPr>
          <a:xfrm>
            <a:off x="457200" y="4754880"/>
            <a:ext cx="82296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EKS Managed Node Group  ·  Helm Charts  ·  Namespace Isolation  ·  RBAC</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00A4BD"/>
                </a:solidFill>
                <a:latin typeface="Calibri" pitchFamily="34" charset="0"/>
                <a:ea typeface="Calibri" pitchFamily="34" charset="-122"/>
                <a:cs typeface="Calibri" pitchFamily="34" charset="-120"/>
              </a:rPr>
              <a:t>KUBERNETES WORKLOADS</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Deployed Services &amp; Health Checks</a:t>
            </a:r>
            <a:endParaRPr lang="en-US" sz="3200" dirty="0"/>
          </a:p>
        </p:txBody>
      </p:sp>
      <p:sp>
        <p:nvSpPr>
          <p:cNvPr id="4" name="Shape 2"/>
          <p:cNvSpPr/>
          <p:nvPr/>
        </p:nvSpPr>
        <p:spPr>
          <a:xfrm>
            <a:off x="457200" y="1325880"/>
            <a:ext cx="2578608" cy="1170432"/>
          </a:xfrm>
          <a:prstGeom prst="roundRect">
            <a:avLst>
              <a:gd name="adj" fmla="val 7031"/>
            </a:avLst>
          </a:prstGeom>
          <a:solidFill>
            <a:srgbClr val="161B22"/>
          </a:solidFill>
          <a:ln w="15240">
            <a:solidFill>
              <a:srgbClr val="FF9900"/>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566928" y="1417320"/>
            <a:ext cx="2359152" cy="32004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frontend</a:t>
            </a:r>
            <a:endParaRPr lang="en-US" sz="1300" dirty="0"/>
          </a:p>
        </p:txBody>
      </p:sp>
      <p:sp>
        <p:nvSpPr>
          <p:cNvPr id="6" name="Shape 4"/>
          <p:cNvSpPr/>
          <p:nvPr/>
        </p:nvSpPr>
        <p:spPr>
          <a:xfrm>
            <a:off x="2240280" y="1417320"/>
            <a:ext cx="685800" cy="256032"/>
          </a:xfrm>
          <a:prstGeom prst="roundRect">
            <a:avLst>
              <a:gd name="adj" fmla="val 14286"/>
            </a:avLst>
          </a:prstGeom>
          <a:solidFill>
            <a:srgbClr val="FF9900">
              <a:alpha val="25000"/>
            </a:srgbClr>
          </a:solidFill>
          <a:ln w="6350">
            <a:solidFill>
              <a:srgbClr val="FF9900"/>
            </a:solidFill>
            <a:prstDash val="solid"/>
          </a:ln>
        </p:spPr>
      </p:sp>
      <p:sp>
        <p:nvSpPr>
          <p:cNvPr id="7" name="Text 5"/>
          <p:cNvSpPr/>
          <p:nvPr/>
        </p:nvSpPr>
        <p:spPr>
          <a:xfrm>
            <a:off x="2240280" y="1417320"/>
            <a:ext cx="685800" cy="256032"/>
          </a:xfrm>
          <a:prstGeom prst="rect">
            <a:avLst/>
          </a:prstGeom>
          <a:noFill/>
          <a:ln/>
        </p:spPr>
        <p:txBody>
          <a:bodyPr wrap="square" lIns="0" tIns="0" rIns="0" bIns="0" rtlCol="0" anchor="ctr"/>
          <a:lstStyle/>
          <a:p>
            <a:pPr algn="ctr" indent="0" marL="0">
              <a:buNone/>
            </a:pPr>
            <a:r>
              <a:rPr lang="en-US" sz="900" dirty="0">
                <a:solidFill>
                  <a:srgbClr val="FF9900"/>
                </a:solidFill>
                <a:latin typeface="Calibri" pitchFamily="34" charset="0"/>
                <a:ea typeface="Calibri" pitchFamily="34" charset="-122"/>
                <a:cs typeface="Calibri" pitchFamily="34" charset="-120"/>
              </a:rPr>
              <a:t>2 pods</a:t>
            </a:r>
            <a:endParaRPr lang="en-US" sz="900" dirty="0"/>
          </a:p>
        </p:txBody>
      </p:sp>
      <p:sp>
        <p:nvSpPr>
          <p:cNvPr id="8" name="Text 6"/>
          <p:cNvSpPr/>
          <p:nvPr/>
        </p:nvSpPr>
        <p:spPr>
          <a:xfrm>
            <a:off x="566928" y="1801368"/>
            <a:ext cx="2359152" cy="5943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Port: 3000  ·  Liveness ✓  ·  Readiness ✓  ·  Resource limits ✓</a:t>
            </a:r>
            <a:endParaRPr lang="en-US" sz="1000" dirty="0"/>
          </a:p>
        </p:txBody>
      </p:sp>
      <p:sp>
        <p:nvSpPr>
          <p:cNvPr id="9" name="Shape 7"/>
          <p:cNvSpPr/>
          <p:nvPr/>
        </p:nvSpPr>
        <p:spPr>
          <a:xfrm>
            <a:off x="3246120" y="1325880"/>
            <a:ext cx="2578608" cy="1170432"/>
          </a:xfrm>
          <a:prstGeom prst="roundRect">
            <a:avLst>
              <a:gd name="adj" fmla="val 7031"/>
            </a:avLst>
          </a:prstGeom>
          <a:solidFill>
            <a:srgbClr val="161B22"/>
          </a:solidFill>
          <a:ln w="15240">
            <a:solidFill>
              <a:srgbClr val="00A4BD"/>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3355848" y="1417320"/>
            <a:ext cx="2359152" cy="320040"/>
          </a:xfrm>
          <a:prstGeom prst="rect">
            <a:avLst/>
          </a:prstGeom>
          <a:noFill/>
          <a:ln/>
        </p:spPr>
        <p:txBody>
          <a:bodyPr wrap="square" lIns="0" tIns="0" rIns="0" bIns="0" rtlCol="0" anchor="ctr"/>
          <a:lstStyle/>
          <a:p>
            <a:pPr indent="0" marL="0">
              <a:buNone/>
            </a:pPr>
            <a:r>
              <a:rPr lang="en-US" sz="1300" b="1" dirty="0">
                <a:solidFill>
                  <a:srgbClr val="00A4BD"/>
                </a:solidFill>
                <a:latin typeface="Calibri" pitchFamily="34" charset="0"/>
                <a:ea typeface="Calibri" pitchFamily="34" charset="-122"/>
                <a:cs typeface="Calibri" pitchFamily="34" charset="-120"/>
              </a:rPr>
              <a:t>identity-service</a:t>
            </a:r>
            <a:endParaRPr lang="en-US" sz="1300" dirty="0"/>
          </a:p>
        </p:txBody>
      </p:sp>
      <p:sp>
        <p:nvSpPr>
          <p:cNvPr id="11" name="Shape 9"/>
          <p:cNvSpPr/>
          <p:nvPr/>
        </p:nvSpPr>
        <p:spPr>
          <a:xfrm>
            <a:off x="5029200" y="1417320"/>
            <a:ext cx="685800" cy="256032"/>
          </a:xfrm>
          <a:prstGeom prst="roundRect">
            <a:avLst>
              <a:gd name="adj" fmla="val 14286"/>
            </a:avLst>
          </a:prstGeom>
          <a:solidFill>
            <a:srgbClr val="00A4BD">
              <a:alpha val="25000"/>
            </a:srgbClr>
          </a:solidFill>
          <a:ln w="6350">
            <a:solidFill>
              <a:srgbClr val="00A4BD"/>
            </a:solidFill>
            <a:prstDash val="solid"/>
          </a:ln>
        </p:spPr>
      </p:sp>
      <p:sp>
        <p:nvSpPr>
          <p:cNvPr id="12" name="Text 10"/>
          <p:cNvSpPr/>
          <p:nvPr/>
        </p:nvSpPr>
        <p:spPr>
          <a:xfrm>
            <a:off x="5029200" y="1417320"/>
            <a:ext cx="685800" cy="256032"/>
          </a:xfrm>
          <a:prstGeom prst="rect">
            <a:avLst/>
          </a:prstGeom>
          <a:noFill/>
          <a:ln/>
        </p:spPr>
        <p:txBody>
          <a:bodyPr wrap="square" lIns="0" tIns="0" rIns="0" bIns="0" rtlCol="0" anchor="ctr"/>
          <a:lstStyle/>
          <a:p>
            <a:pPr algn="ctr" indent="0" marL="0">
              <a:buNone/>
            </a:pPr>
            <a:r>
              <a:rPr lang="en-US" sz="900" dirty="0">
                <a:solidFill>
                  <a:srgbClr val="00A4BD"/>
                </a:solidFill>
                <a:latin typeface="Calibri" pitchFamily="34" charset="0"/>
                <a:ea typeface="Calibri" pitchFamily="34" charset="-122"/>
                <a:cs typeface="Calibri" pitchFamily="34" charset="-120"/>
              </a:rPr>
              <a:t>2 pods</a:t>
            </a:r>
            <a:endParaRPr lang="en-US" sz="900" dirty="0"/>
          </a:p>
        </p:txBody>
      </p:sp>
      <p:sp>
        <p:nvSpPr>
          <p:cNvPr id="13" name="Text 11"/>
          <p:cNvSpPr/>
          <p:nvPr/>
        </p:nvSpPr>
        <p:spPr>
          <a:xfrm>
            <a:off x="3355848" y="1801368"/>
            <a:ext cx="2359152" cy="5943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Port: 8081  ·  Liveness ✓  ·  Readiness ✓  ·  Resource limits ✓</a:t>
            </a:r>
            <a:endParaRPr lang="en-US" sz="1000" dirty="0"/>
          </a:p>
        </p:txBody>
      </p:sp>
      <p:sp>
        <p:nvSpPr>
          <p:cNvPr id="14" name="Shape 12"/>
          <p:cNvSpPr/>
          <p:nvPr/>
        </p:nvSpPr>
        <p:spPr>
          <a:xfrm>
            <a:off x="6035040" y="1325880"/>
            <a:ext cx="2578608" cy="1170432"/>
          </a:xfrm>
          <a:prstGeom prst="roundRect">
            <a:avLst>
              <a:gd name="adj" fmla="val 7031"/>
            </a:avLst>
          </a:prstGeom>
          <a:solidFill>
            <a:srgbClr val="161B22"/>
          </a:solidFill>
          <a:ln w="15240">
            <a:solidFill>
              <a:srgbClr val="2EA44F"/>
            </a:solidFill>
            <a:prstDash val="solid"/>
          </a:ln>
          <a:effectLst>
            <a:outerShdw sx="100000" sy="100000" kx="0" ky="0" algn="bl" rotWithShape="0" blurRad="101600" dist="38100" dir="2700000">
              <a:srgbClr val="000000">
                <a:alpha val="30000"/>
              </a:srgbClr>
            </a:outerShdw>
          </a:effectLst>
        </p:spPr>
      </p:sp>
      <p:sp>
        <p:nvSpPr>
          <p:cNvPr id="15" name="Text 13"/>
          <p:cNvSpPr/>
          <p:nvPr/>
        </p:nvSpPr>
        <p:spPr>
          <a:xfrm>
            <a:off x="6144768" y="1417320"/>
            <a:ext cx="2359152" cy="320040"/>
          </a:xfrm>
          <a:prstGeom prst="rect">
            <a:avLst/>
          </a:prstGeom>
          <a:noFill/>
          <a:ln/>
        </p:spPr>
        <p:txBody>
          <a:bodyPr wrap="square" lIns="0" tIns="0" rIns="0" bIns="0" rtlCol="0" anchor="ctr"/>
          <a:lstStyle/>
          <a:p>
            <a:pPr indent="0" marL="0">
              <a:buNone/>
            </a:pPr>
            <a:r>
              <a:rPr lang="en-US" sz="1300" b="1" dirty="0">
                <a:solidFill>
                  <a:srgbClr val="2EA44F"/>
                </a:solidFill>
                <a:latin typeface="Calibri" pitchFamily="34" charset="0"/>
                <a:ea typeface="Calibri" pitchFamily="34" charset="-122"/>
                <a:cs typeface="Calibri" pitchFamily="34" charset="-120"/>
              </a:rPr>
              <a:t>event-service</a:t>
            </a:r>
            <a:endParaRPr lang="en-US" sz="1300" dirty="0"/>
          </a:p>
        </p:txBody>
      </p:sp>
      <p:sp>
        <p:nvSpPr>
          <p:cNvPr id="16" name="Shape 14"/>
          <p:cNvSpPr/>
          <p:nvPr/>
        </p:nvSpPr>
        <p:spPr>
          <a:xfrm>
            <a:off x="7818120" y="1417320"/>
            <a:ext cx="685800" cy="256032"/>
          </a:xfrm>
          <a:prstGeom prst="roundRect">
            <a:avLst>
              <a:gd name="adj" fmla="val 14286"/>
            </a:avLst>
          </a:prstGeom>
          <a:solidFill>
            <a:srgbClr val="2EA44F">
              <a:alpha val="25000"/>
            </a:srgbClr>
          </a:solidFill>
          <a:ln w="6350">
            <a:solidFill>
              <a:srgbClr val="2EA44F"/>
            </a:solidFill>
            <a:prstDash val="solid"/>
          </a:ln>
        </p:spPr>
      </p:sp>
      <p:sp>
        <p:nvSpPr>
          <p:cNvPr id="17" name="Text 15"/>
          <p:cNvSpPr/>
          <p:nvPr/>
        </p:nvSpPr>
        <p:spPr>
          <a:xfrm>
            <a:off x="7818120" y="1417320"/>
            <a:ext cx="685800" cy="256032"/>
          </a:xfrm>
          <a:prstGeom prst="rect">
            <a:avLst/>
          </a:prstGeom>
          <a:noFill/>
          <a:ln/>
        </p:spPr>
        <p:txBody>
          <a:bodyPr wrap="square" lIns="0" tIns="0" rIns="0" bIns="0" rtlCol="0" anchor="ctr"/>
          <a:lstStyle/>
          <a:p>
            <a:pPr algn="ctr" indent="0" marL="0">
              <a:buNone/>
            </a:pPr>
            <a:r>
              <a:rPr lang="en-US" sz="900" dirty="0">
                <a:solidFill>
                  <a:srgbClr val="2EA44F"/>
                </a:solidFill>
                <a:latin typeface="Calibri" pitchFamily="34" charset="0"/>
                <a:ea typeface="Calibri" pitchFamily="34" charset="-122"/>
                <a:cs typeface="Calibri" pitchFamily="34" charset="-120"/>
              </a:rPr>
              <a:t>2 pods</a:t>
            </a:r>
            <a:endParaRPr lang="en-US" sz="900" dirty="0"/>
          </a:p>
        </p:txBody>
      </p:sp>
      <p:sp>
        <p:nvSpPr>
          <p:cNvPr id="18" name="Text 16"/>
          <p:cNvSpPr/>
          <p:nvPr/>
        </p:nvSpPr>
        <p:spPr>
          <a:xfrm>
            <a:off x="6144768" y="1801368"/>
            <a:ext cx="2359152" cy="5943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Port: 8082  ·  Liveness ✓  ·  Readiness ✓  ·  Resource limits ✓</a:t>
            </a:r>
            <a:endParaRPr lang="en-US" sz="1000" dirty="0"/>
          </a:p>
        </p:txBody>
      </p:sp>
      <p:sp>
        <p:nvSpPr>
          <p:cNvPr id="19" name="Shape 17"/>
          <p:cNvSpPr/>
          <p:nvPr/>
        </p:nvSpPr>
        <p:spPr>
          <a:xfrm>
            <a:off x="1389888" y="2697480"/>
            <a:ext cx="2578608" cy="1170432"/>
          </a:xfrm>
          <a:prstGeom prst="roundRect">
            <a:avLst>
              <a:gd name="adj" fmla="val 7031"/>
            </a:avLst>
          </a:prstGeom>
          <a:solidFill>
            <a:srgbClr val="161B22"/>
          </a:solidFill>
          <a:ln w="15240">
            <a:solidFill>
              <a:srgbClr val="E3B341"/>
            </a:solidFill>
            <a:prstDash val="solid"/>
          </a:ln>
          <a:effectLst>
            <a:outerShdw sx="100000" sy="100000" kx="0" ky="0" algn="bl" rotWithShape="0" blurRad="101600" dist="38100" dir="2700000">
              <a:srgbClr val="000000">
                <a:alpha val="30000"/>
              </a:srgbClr>
            </a:outerShdw>
          </a:effectLst>
        </p:spPr>
      </p:sp>
      <p:sp>
        <p:nvSpPr>
          <p:cNvPr id="20" name="Text 18"/>
          <p:cNvSpPr/>
          <p:nvPr/>
        </p:nvSpPr>
        <p:spPr>
          <a:xfrm>
            <a:off x="1499616" y="2788920"/>
            <a:ext cx="2359152" cy="320040"/>
          </a:xfrm>
          <a:prstGeom prst="rect">
            <a:avLst/>
          </a:prstGeom>
          <a:noFill/>
          <a:ln/>
        </p:spPr>
        <p:txBody>
          <a:bodyPr wrap="square" lIns="0" tIns="0" rIns="0" bIns="0" rtlCol="0" anchor="ctr"/>
          <a:lstStyle/>
          <a:p>
            <a:pPr indent="0" marL="0">
              <a:buNone/>
            </a:pPr>
            <a:r>
              <a:rPr lang="en-US" sz="1300" b="1" dirty="0">
                <a:solidFill>
                  <a:srgbClr val="E3B341"/>
                </a:solidFill>
                <a:latin typeface="Calibri" pitchFamily="34" charset="0"/>
                <a:ea typeface="Calibri" pitchFamily="34" charset="-122"/>
                <a:cs typeface="Calibri" pitchFamily="34" charset="-120"/>
              </a:rPr>
              <a:t>booking-service</a:t>
            </a:r>
            <a:endParaRPr lang="en-US" sz="1300" dirty="0"/>
          </a:p>
        </p:txBody>
      </p:sp>
      <p:sp>
        <p:nvSpPr>
          <p:cNvPr id="21" name="Shape 19"/>
          <p:cNvSpPr/>
          <p:nvPr/>
        </p:nvSpPr>
        <p:spPr>
          <a:xfrm>
            <a:off x="3172968" y="2788920"/>
            <a:ext cx="685800" cy="256032"/>
          </a:xfrm>
          <a:prstGeom prst="roundRect">
            <a:avLst>
              <a:gd name="adj" fmla="val 14286"/>
            </a:avLst>
          </a:prstGeom>
          <a:solidFill>
            <a:srgbClr val="E3B341">
              <a:alpha val="25000"/>
            </a:srgbClr>
          </a:solidFill>
          <a:ln w="6350">
            <a:solidFill>
              <a:srgbClr val="E3B341"/>
            </a:solidFill>
            <a:prstDash val="solid"/>
          </a:ln>
        </p:spPr>
      </p:sp>
      <p:sp>
        <p:nvSpPr>
          <p:cNvPr id="22" name="Text 20"/>
          <p:cNvSpPr/>
          <p:nvPr/>
        </p:nvSpPr>
        <p:spPr>
          <a:xfrm>
            <a:off x="3172968" y="2788920"/>
            <a:ext cx="685800" cy="256032"/>
          </a:xfrm>
          <a:prstGeom prst="rect">
            <a:avLst/>
          </a:prstGeom>
          <a:noFill/>
          <a:ln/>
        </p:spPr>
        <p:txBody>
          <a:bodyPr wrap="square" lIns="0" tIns="0" rIns="0" bIns="0" rtlCol="0" anchor="ctr"/>
          <a:lstStyle/>
          <a:p>
            <a:pPr algn="ctr" indent="0" marL="0">
              <a:buNone/>
            </a:pPr>
            <a:r>
              <a:rPr lang="en-US" sz="900" dirty="0">
                <a:solidFill>
                  <a:srgbClr val="E3B341"/>
                </a:solidFill>
                <a:latin typeface="Calibri" pitchFamily="34" charset="0"/>
                <a:ea typeface="Calibri" pitchFamily="34" charset="-122"/>
                <a:cs typeface="Calibri" pitchFamily="34" charset="-120"/>
              </a:rPr>
              <a:t>2 pods</a:t>
            </a:r>
            <a:endParaRPr lang="en-US" sz="900" dirty="0"/>
          </a:p>
        </p:txBody>
      </p:sp>
      <p:sp>
        <p:nvSpPr>
          <p:cNvPr id="23" name="Text 21"/>
          <p:cNvSpPr/>
          <p:nvPr/>
        </p:nvSpPr>
        <p:spPr>
          <a:xfrm>
            <a:off x="1499616" y="3172968"/>
            <a:ext cx="2359152" cy="5943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Port: 8083  ·  Liveness ✓  ·  Readiness ✓  ·  Resource limits ✓</a:t>
            </a:r>
            <a:endParaRPr lang="en-US" sz="1000" dirty="0"/>
          </a:p>
        </p:txBody>
      </p:sp>
      <p:sp>
        <p:nvSpPr>
          <p:cNvPr id="24" name="Shape 22"/>
          <p:cNvSpPr/>
          <p:nvPr/>
        </p:nvSpPr>
        <p:spPr>
          <a:xfrm>
            <a:off x="1389888" y="2697480"/>
            <a:ext cx="2578608" cy="1170432"/>
          </a:xfrm>
          <a:prstGeom prst="roundRect">
            <a:avLst>
              <a:gd name="adj" fmla="val 7031"/>
            </a:avLst>
          </a:prstGeom>
          <a:solidFill>
            <a:srgbClr val="161B22"/>
          </a:solidFill>
          <a:ln w="15240">
            <a:solidFill>
              <a:srgbClr val="A371F7"/>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1499616" y="2788920"/>
            <a:ext cx="2359152" cy="320040"/>
          </a:xfrm>
          <a:prstGeom prst="rect">
            <a:avLst/>
          </a:prstGeom>
          <a:noFill/>
          <a:ln/>
        </p:spPr>
        <p:txBody>
          <a:bodyPr wrap="square" lIns="0" tIns="0" rIns="0" bIns="0" rtlCol="0" anchor="ctr"/>
          <a:lstStyle/>
          <a:p>
            <a:pPr indent="0" marL="0">
              <a:buNone/>
            </a:pPr>
            <a:r>
              <a:rPr lang="en-US" sz="1300" b="1" dirty="0">
                <a:solidFill>
                  <a:srgbClr val="A371F7"/>
                </a:solidFill>
                <a:latin typeface="Calibri" pitchFamily="34" charset="0"/>
                <a:ea typeface="Calibri" pitchFamily="34" charset="-122"/>
                <a:cs typeface="Calibri" pitchFamily="34" charset="-120"/>
              </a:rPr>
              <a:t>chatbot-service</a:t>
            </a:r>
            <a:endParaRPr lang="en-US" sz="1300" dirty="0"/>
          </a:p>
        </p:txBody>
      </p:sp>
      <p:sp>
        <p:nvSpPr>
          <p:cNvPr id="26" name="Shape 24"/>
          <p:cNvSpPr/>
          <p:nvPr/>
        </p:nvSpPr>
        <p:spPr>
          <a:xfrm>
            <a:off x="3172968" y="2788920"/>
            <a:ext cx="685800" cy="256032"/>
          </a:xfrm>
          <a:prstGeom prst="roundRect">
            <a:avLst>
              <a:gd name="adj" fmla="val 14286"/>
            </a:avLst>
          </a:prstGeom>
          <a:solidFill>
            <a:srgbClr val="A371F7">
              <a:alpha val="25000"/>
            </a:srgbClr>
          </a:solidFill>
          <a:ln w="6350">
            <a:solidFill>
              <a:srgbClr val="A371F7"/>
            </a:solidFill>
            <a:prstDash val="solid"/>
          </a:ln>
        </p:spPr>
      </p:sp>
      <p:sp>
        <p:nvSpPr>
          <p:cNvPr id="27" name="Text 25"/>
          <p:cNvSpPr/>
          <p:nvPr/>
        </p:nvSpPr>
        <p:spPr>
          <a:xfrm>
            <a:off x="3172968" y="2788920"/>
            <a:ext cx="685800" cy="256032"/>
          </a:xfrm>
          <a:prstGeom prst="rect">
            <a:avLst/>
          </a:prstGeom>
          <a:noFill/>
          <a:ln/>
        </p:spPr>
        <p:txBody>
          <a:bodyPr wrap="square" lIns="0" tIns="0" rIns="0" bIns="0" rtlCol="0" anchor="ctr"/>
          <a:lstStyle/>
          <a:p>
            <a:pPr algn="ctr" indent="0" marL="0">
              <a:buNone/>
            </a:pPr>
            <a:r>
              <a:rPr lang="en-US" sz="900" dirty="0">
                <a:solidFill>
                  <a:srgbClr val="A371F7"/>
                </a:solidFill>
                <a:latin typeface="Calibri" pitchFamily="34" charset="0"/>
                <a:ea typeface="Calibri" pitchFamily="34" charset="-122"/>
                <a:cs typeface="Calibri" pitchFamily="34" charset="-120"/>
              </a:rPr>
              <a:t>1 pods</a:t>
            </a:r>
            <a:endParaRPr lang="en-US" sz="900" dirty="0"/>
          </a:p>
        </p:txBody>
      </p:sp>
      <p:sp>
        <p:nvSpPr>
          <p:cNvPr id="28" name="Text 26"/>
          <p:cNvSpPr/>
          <p:nvPr/>
        </p:nvSpPr>
        <p:spPr>
          <a:xfrm>
            <a:off x="1499616" y="3172968"/>
            <a:ext cx="2359152" cy="5943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Port: 8084  ·  Liveness ✓  ·  Readiness ✓  ·  Resource limits ✓</a:t>
            </a:r>
            <a:endParaRPr lang="en-US" sz="1000" dirty="0"/>
          </a:p>
        </p:txBody>
      </p:sp>
      <p:sp>
        <p:nvSpPr>
          <p:cNvPr id="29" name="Shape 27"/>
          <p:cNvSpPr/>
          <p:nvPr/>
        </p:nvSpPr>
        <p:spPr>
          <a:xfrm>
            <a:off x="6172200" y="1325880"/>
            <a:ext cx="2697480" cy="2542032"/>
          </a:xfrm>
          <a:prstGeom prst="roundRect">
            <a:avLst>
              <a:gd name="adj" fmla="val 3597"/>
            </a:avLst>
          </a:prstGeom>
          <a:solidFill>
            <a:srgbClr val="1C2333"/>
          </a:solidFill>
          <a:ln w="10160">
            <a:solidFill>
              <a:srgbClr val="30363D"/>
            </a:solidFill>
            <a:prstDash val="solid"/>
          </a:ln>
          <a:effectLst>
            <a:outerShdw sx="100000" sy="100000" kx="0" ky="0" algn="bl" rotWithShape="0" blurRad="101600" dist="38100" dir="2700000">
              <a:srgbClr val="000000">
                <a:alpha val="30000"/>
              </a:srgbClr>
            </a:outerShdw>
          </a:effectLst>
        </p:spPr>
      </p:sp>
      <p:sp>
        <p:nvSpPr>
          <p:cNvPr id="30" name="Text 28"/>
          <p:cNvSpPr/>
          <p:nvPr/>
        </p:nvSpPr>
        <p:spPr>
          <a:xfrm>
            <a:off x="6309360" y="1463040"/>
            <a:ext cx="2423160" cy="347472"/>
          </a:xfrm>
          <a:prstGeom prst="rect">
            <a:avLst/>
          </a:prstGeom>
          <a:noFill/>
          <a:ln/>
        </p:spPr>
        <p:txBody>
          <a:bodyPr wrap="square" lIns="0" tIns="0" rIns="0" bIns="0" rtlCol="0" anchor="ctr"/>
          <a:lstStyle/>
          <a:p>
            <a:pPr indent="0" marL="0">
              <a:buNone/>
            </a:pPr>
            <a:r>
              <a:rPr lang="en-US" sz="1500" b="1" dirty="0">
                <a:solidFill>
                  <a:srgbClr val="FF9900"/>
                </a:solidFill>
                <a:latin typeface="Calibri" pitchFamily="34" charset="0"/>
                <a:ea typeface="Calibri" pitchFamily="34" charset="-122"/>
                <a:cs typeface="Calibri" pitchFamily="34" charset="-120"/>
              </a:rPr>
              <a:t>Health Probes</a:t>
            </a:r>
            <a:endParaRPr lang="en-US" sz="1500" dirty="0"/>
          </a:p>
        </p:txBody>
      </p:sp>
      <p:sp>
        <p:nvSpPr>
          <p:cNvPr id="31" name="Text 29"/>
          <p:cNvSpPr/>
          <p:nvPr/>
        </p:nvSpPr>
        <p:spPr>
          <a:xfrm>
            <a:off x="6309360" y="1901952"/>
            <a:ext cx="2423160" cy="228600"/>
          </a:xfrm>
          <a:prstGeom prst="rect">
            <a:avLst/>
          </a:prstGeom>
          <a:noFill/>
          <a:ln/>
        </p:spPr>
        <p:txBody>
          <a:bodyPr wrap="square" lIns="0" tIns="0" rIns="0" bIns="0" rtlCol="0" anchor="ctr"/>
          <a:lstStyle/>
          <a:p>
            <a:pPr indent="0" marL="0">
              <a:buNone/>
            </a:pPr>
            <a:r>
              <a:rPr lang="en-US" sz="1150" b="1" dirty="0">
                <a:solidFill>
                  <a:srgbClr val="2EA44F"/>
                </a:solidFill>
                <a:latin typeface="Calibri" pitchFamily="34" charset="0"/>
                <a:ea typeface="Calibri" pitchFamily="34" charset="-122"/>
                <a:cs typeface="Calibri" pitchFamily="34" charset="-120"/>
              </a:rPr>
              <a:t>Liveness Probe</a:t>
            </a:r>
            <a:endParaRPr lang="en-US" sz="1150" dirty="0"/>
          </a:p>
        </p:txBody>
      </p:sp>
      <p:sp>
        <p:nvSpPr>
          <p:cNvPr id="32" name="Text 30"/>
          <p:cNvSpPr/>
          <p:nvPr/>
        </p:nvSpPr>
        <p:spPr>
          <a:xfrm>
            <a:off x="6309360" y="2112264"/>
            <a:ext cx="242316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Restarts unhealthy pods</a:t>
            </a:r>
            <a:endParaRPr lang="en-US" sz="1000" dirty="0"/>
          </a:p>
        </p:txBody>
      </p:sp>
      <p:sp>
        <p:nvSpPr>
          <p:cNvPr id="33" name="Text 31"/>
          <p:cNvSpPr/>
          <p:nvPr/>
        </p:nvSpPr>
        <p:spPr>
          <a:xfrm>
            <a:off x="6309360" y="2395728"/>
            <a:ext cx="2423160" cy="228600"/>
          </a:xfrm>
          <a:prstGeom prst="rect">
            <a:avLst/>
          </a:prstGeom>
          <a:noFill/>
          <a:ln/>
        </p:spPr>
        <p:txBody>
          <a:bodyPr wrap="square" lIns="0" tIns="0" rIns="0" bIns="0" rtlCol="0" anchor="ctr"/>
          <a:lstStyle/>
          <a:p>
            <a:pPr indent="0" marL="0">
              <a:buNone/>
            </a:pPr>
            <a:r>
              <a:rPr lang="en-US" sz="1150" b="1" dirty="0">
                <a:solidFill>
                  <a:srgbClr val="00A4BD"/>
                </a:solidFill>
                <a:latin typeface="Calibri" pitchFamily="34" charset="0"/>
                <a:ea typeface="Calibri" pitchFamily="34" charset="-122"/>
                <a:cs typeface="Calibri" pitchFamily="34" charset="-120"/>
              </a:rPr>
              <a:t>Readiness Probe</a:t>
            </a:r>
            <a:endParaRPr lang="en-US" sz="1150" dirty="0"/>
          </a:p>
        </p:txBody>
      </p:sp>
      <p:sp>
        <p:nvSpPr>
          <p:cNvPr id="34" name="Text 32"/>
          <p:cNvSpPr/>
          <p:nvPr/>
        </p:nvSpPr>
        <p:spPr>
          <a:xfrm>
            <a:off x="6309360" y="2606040"/>
            <a:ext cx="242316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Gates traffic to ready pods</a:t>
            </a:r>
            <a:endParaRPr lang="en-US" sz="1000" dirty="0"/>
          </a:p>
        </p:txBody>
      </p:sp>
      <p:sp>
        <p:nvSpPr>
          <p:cNvPr id="35" name="Text 33"/>
          <p:cNvSpPr/>
          <p:nvPr/>
        </p:nvSpPr>
        <p:spPr>
          <a:xfrm>
            <a:off x="6309360" y="2889504"/>
            <a:ext cx="2423160" cy="228600"/>
          </a:xfrm>
          <a:prstGeom prst="rect">
            <a:avLst/>
          </a:prstGeom>
          <a:noFill/>
          <a:ln/>
        </p:spPr>
        <p:txBody>
          <a:bodyPr wrap="square" lIns="0" tIns="0" rIns="0" bIns="0" rtlCol="0" anchor="ctr"/>
          <a:lstStyle/>
          <a:p>
            <a:pPr indent="0" marL="0">
              <a:buNone/>
            </a:pPr>
            <a:r>
              <a:rPr lang="en-US" sz="1150" b="1" dirty="0">
                <a:solidFill>
                  <a:srgbClr val="A371F7"/>
                </a:solidFill>
                <a:latin typeface="Calibri" pitchFamily="34" charset="0"/>
                <a:ea typeface="Calibri" pitchFamily="34" charset="-122"/>
                <a:cs typeface="Calibri" pitchFamily="34" charset="-120"/>
              </a:rPr>
              <a:t>Resource Limits</a:t>
            </a:r>
            <a:endParaRPr lang="en-US" sz="1150" dirty="0"/>
          </a:p>
        </p:txBody>
      </p:sp>
      <p:sp>
        <p:nvSpPr>
          <p:cNvPr id="36" name="Text 34"/>
          <p:cNvSpPr/>
          <p:nvPr/>
        </p:nvSpPr>
        <p:spPr>
          <a:xfrm>
            <a:off x="6309360" y="3099816"/>
            <a:ext cx="242316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CPU + memory per container</a:t>
            </a:r>
            <a:endParaRPr lang="en-US" sz="1000" dirty="0"/>
          </a:p>
        </p:txBody>
      </p:sp>
      <p:sp>
        <p:nvSpPr>
          <p:cNvPr id="37" name="Text 35"/>
          <p:cNvSpPr/>
          <p:nvPr/>
        </p:nvSpPr>
        <p:spPr>
          <a:xfrm>
            <a:off x="6309360" y="3383280"/>
            <a:ext cx="2423160" cy="228600"/>
          </a:xfrm>
          <a:prstGeom prst="rect">
            <a:avLst/>
          </a:prstGeom>
          <a:noFill/>
          <a:ln/>
        </p:spPr>
        <p:txBody>
          <a:bodyPr wrap="square" lIns="0" tIns="0" rIns="0" bIns="0" rtlCol="0" anchor="ctr"/>
          <a:lstStyle/>
          <a:p>
            <a:pPr indent="0" marL="0">
              <a:buNone/>
            </a:pPr>
            <a:r>
              <a:rPr lang="en-US" sz="1150" b="1" dirty="0">
                <a:solidFill>
                  <a:srgbClr val="E3B341"/>
                </a:solidFill>
                <a:latin typeface="Calibri" pitchFamily="34" charset="0"/>
                <a:ea typeface="Calibri" pitchFamily="34" charset="-122"/>
                <a:cs typeface="Calibri" pitchFamily="34" charset="-120"/>
              </a:rPr>
              <a:t>Resource Requests</a:t>
            </a:r>
            <a:endParaRPr lang="en-US" sz="1150" dirty="0"/>
          </a:p>
        </p:txBody>
      </p:sp>
      <p:sp>
        <p:nvSpPr>
          <p:cNvPr id="38" name="Text 36"/>
          <p:cNvSpPr/>
          <p:nvPr/>
        </p:nvSpPr>
        <p:spPr>
          <a:xfrm>
            <a:off x="6309360" y="3593592"/>
            <a:ext cx="242316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Scheduler-aware allocation</a:t>
            </a:r>
            <a:endParaRPr lang="en-US" sz="1000" dirty="0"/>
          </a:p>
        </p:txBody>
      </p:sp>
      <p:sp>
        <p:nvSpPr>
          <p:cNvPr id="39" name="Text 37"/>
          <p:cNvSpPr/>
          <p:nvPr/>
        </p:nvSpPr>
        <p:spPr>
          <a:xfrm>
            <a:off x="457200" y="4754880"/>
            <a:ext cx="82296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All services deployed with HA configuration, health checks, and resource governance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2EA44F"/>
                </a:solidFill>
                <a:latin typeface="Calibri" pitchFamily="34" charset="0"/>
                <a:ea typeface="Calibri" pitchFamily="34" charset="-122"/>
                <a:cs typeface="Calibri" pitchFamily="34" charset="-120"/>
              </a:rPr>
              <a:t>SECURITY ARCHITECTURE</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Zero-Trust Identity &amp; Secrets Management</a:t>
            </a:r>
            <a:endParaRPr lang="en-US" sz="3000" dirty="0"/>
          </a:p>
        </p:txBody>
      </p:sp>
      <p:sp>
        <p:nvSpPr>
          <p:cNvPr id="4" name="Shape 2"/>
          <p:cNvSpPr/>
          <p:nvPr/>
        </p:nvSpPr>
        <p:spPr>
          <a:xfrm>
            <a:off x="457200" y="1280160"/>
            <a:ext cx="5303520" cy="2743200"/>
          </a:xfrm>
          <a:prstGeom prst="roundRect">
            <a:avLst>
              <a:gd name="adj" fmla="val 4000"/>
            </a:avLst>
          </a:prstGeom>
          <a:solidFill>
            <a:srgbClr val="161B22"/>
          </a:solidFill>
          <a:ln w="19050">
            <a:solidFill>
              <a:srgbClr val="30363D"/>
            </a:solidFill>
            <a:prstDash val="dash"/>
          </a:ln>
        </p:spPr>
      </p:sp>
      <p:sp>
        <p:nvSpPr>
          <p:cNvPr id="5" name="Text 3"/>
          <p:cNvSpPr/>
          <p:nvPr/>
        </p:nvSpPr>
        <p:spPr>
          <a:xfrm>
            <a:off x="457200" y="1280160"/>
            <a:ext cx="5303520" cy="2743200"/>
          </a:xfrm>
          <a:prstGeom prst="rect">
            <a:avLst/>
          </a:prstGeom>
          <a:noFill/>
          <a:ln/>
        </p:spPr>
        <p:txBody>
          <a:bodyPr wrap="square" lIns="0" tIns="0" rIns="0" bIns="0" rtlCol="0" anchor="ctr"/>
          <a:lstStyle/>
          <a:p>
            <a:pPr algn="ctr" indent="0" marL="0">
              <a:buNone/>
            </a:pPr>
            <a:r>
              <a:rPr lang="en-US" sz="1500" i="1" dirty="0">
                <a:solidFill>
                  <a:srgbClr val="6E7681"/>
                </a:solidFill>
                <a:latin typeface="Calibri" pitchFamily="34" charset="0"/>
                <a:ea typeface="Calibri" pitchFamily="34" charset="-122"/>
                <a:cs typeface="Calibri" pitchFamily="34" charset="-120"/>
              </a:rPr>
              <a:t>[ Insert IRSA / Security Diagram Here ]</a:t>
            </a:r>
            <a:endParaRPr lang="en-US" sz="1500" dirty="0"/>
          </a:p>
        </p:txBody>
      </p:sp>
      <p:sp>
        <p:nvSpPr>
          <p:cNvPr id="6" name="Shape 4"/>
          <p:cNvSpPr/>
          <p:nvPr/>
        </p:nvSpPr>
        <p:spPr>
          <a:xfrm>
            <a:off x="5943600" y="1280160"/>
            <a:ext cx="2926080" cy="621792"/>
          </a:xfrm>
          <a:prstGeom prst="roundRect">
            <a:avLst>
              <a:gd name="adj" fmla="val 10294"/>
            </a:avLst>
          </a:prstGeom>
          <a:solidFill>
            <a:srgbClr val="161B22"/>
          </a:solidFill>
          <a:ln w="10160">
            <a:solidFill>
              <a:srgbClr val="2EA44F"/>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6080760" y="1344168"/>
            <a:ext cx="2743200" cy="256032"/>
          </a:xfrm>
          <a:prstGeom prst="rect">
            <a:avLst/>
          </a:prstGeom>
          <a:noFill/>
          <a:ln/>
        </p:spPr>
        <p:txBody>
          <a:bodyPr wrap="square" lIns="0" tIns="0" rIns="0" bIns="0" rtlCol="0" anchor="ctr"/>
          <a:lstStyle/>
          <a:p>
            <a:pPr indent="0" marL="0">
              <a:buNone/>
            </a:pPr>
            <a:r>
              <a:rPr lang="en-US" sz="1200" b="1" dirty="0">
                <a:solidFill>
                  <a:srgbClr val="2EA44F"/>
                </a:solidFill>
                <a:latin typeface="Calibri" pitchFamily="34" charset="0"/>
                <a:ea typeface="Calibri" pitchFamily="34" charset="-122"/>
                <a:cs typeface="Calibri" pitchFamily="34" charset="-120"/>
              </a:rPr>
              <a:t>IRSA</a:t>
            </a:r>
            <a:endParaRPr lang="en-US" sz="1200" dirty="0"/>
          </a:p>
        </p:txBody>
      </p:sp>
      <p:sp>
        <p:nvSpPr>
          <p:cNvPr id="8" name="Text 6"/>
          <p:cNvSpPr/>
          <p:nvPr/>
        </p:nvSpPr>
        <p:spPr>
          <a:xfrm>
            <a:off x="6080760" y="1581912"/>
            <a:ext cx="2743200" cy="25603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IAM Roles for Service Accounts — no static keys</a:t>
            </a:r>
            <a:endParaRPr lang="en-US" sz="1000" dirty="0"/>
          </a:p>
        </p:txBody>
      </p:sp>
      <p:sp>
        <p:nvSpPr>
          <p:cNvPr id="9" name="Shape 7"/>
          <p:cNvSpPr/>
          <p:nvPr/>
        </p:nvSpPr>
        <p:spPr>
          <a:xfrm>
            <a:off x="5943600" y="2029968"/>
            <a:ext cx="2926080" cy="621792"/>
          </a:xfrm>
          <a:prstGeom prst="roundRect">
            <a:avLst>
              <a:gd name="adj" fmla="val 10294"/>
            </a:avLst>
          </a:prstGeom>
          <a:solidFill>
            <a:srgbClr val="161B22"/>
          </a:solidFill>
          <a:ln w="10160">
            <a:solidFill>
              <a:srgbClr val="FF9900"/>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6080760" y="2093976"/>
            <a:ext cx="2743200" cy="256032"/>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Least Privilege IAM</a:t>
            </a:r>
            <a:endParaRPr lang="en-US" sz="1200" dirty="0"/>
          </a:p>
        </p:txBody>
      </p:sp>
      <p:sp>
        <p:nvSpPr>
          <p:cNvPr id="11" name="Text 9"/>
          <p:cNvSpPr/>
          <p:nvPr/>
        </p:nvSpPr>
        <p:spPr>
          <a:xfrm>
            <a:off x="6080760" y="2331720"/>
            <a:ext cx="2743200" cy="25603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Fine-grained per-service IAM policies</a:t>
            </a:r>
            <a:endParaRPr lang="en-US" sz="1000" dirty="0"/>
          </a:p>
        </p:txBody>
      </p:sp>
      <p:sp>
        <p:nvSpPr>
          <p:cNvPr id="12" name="Shape 10"/>
          <p:cNvSpPr/>
          <p:nvPr/>
        </p:nvSpPr>
        <p:spPr>
          <a:xfrm>
            <a:off x="5943600" y="2779776"/>
            <a:ext cx="2926080" cy="621792"/>
          </a:xfrm>
          <a:prstGeom prst="roundRect">
            <a:avLst>
              <a:gd name="adj" fmla="val 10294"/>
            </a:avLst>
          </a:prstGeom>
          <a:solidFill>
            <a:srgbClr val="161B22"/>
          </a:solidFill>
          <a:ln w="10160">
            <a:solidFill>
              <a:srgbClr val="00A4BD"/>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6080760" y="2843784"/>
            <a:ext cx="2743200" cy="256032"/>
          </a:xfrm>
          <a:prstGeom prst="rect">
            <a:avLst/>
          </a:prstGeom>
          <a:noFill/>
          <a:ln/>
        </p:spPr>
        <p:txBody>
          <a:bodyPr wrap="square" lIns="0" tIns="0" rIns="0" bIns="0" rtlCol="0" anchor="ctr"/>
          <a:lstStyle/>
          <a:p>
            <a:pPr indent="0" marL="0">
              <a:buNone/>
            </a:pPr>
            <a:r>
              <a:rPr lang="en-US" sz="1200" b="1" dirty="0">
                <a:solidFill>
                  <a:srgbClr val="00A4BD"/>
                </a:solidFill>
                <a:latin typeface="Calibri" pitchFamily="34" charset="0"/>
                <a:ea typeface="Calibri" pitchFamily="34" charset="-122"/>
                <a:cs typeface="Calibri" pitchFamily="34" charset="-120"/>
              </a:rPr>
              <a:t>AWS Secrets Manager</a:t>
            </a:r>
            <a:endParaRPr lang="en-US" sz="1200" dirty="0"/>
          </a:p>
        </p:txBody>
      </p:sp>
      <p:sp>
        <p:nvSpPr>
          <p:cNvPr id="14" name="Text 12"/>
          <p:cNvSpPr/>
          <p:nvPr/>
        </p:nvSpPr>
        <p:spPr>
          <a:xfrm>
            <a:off x="6080760" y="3081528"/>
            <a:ext cx="2743200" cy="25603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Centralized secret storage and rotation</a:t>
            </a:r>
            <a:endParaRPr lang="en-US" sz="1000" dirty="0"/>
          </a:p>
        </p:txBody>
      </p:sp>
      <p:sp>
        <p:nvSpPr>
          <p:cNvPr id="15" name="Shape 13"/>
          <p:cNvSpPr/>
          <p:nvPr/>
        </p:nvSpPr>
        <p:spPr>
          <a:xfrm>
            <a:off x="5943600" y="3529584"/>
            <a:ext cx="2926080" cy="621792"/>
          </a:xfrm>
          <a:prstGeom prst="roundRect">
            <a:avLst>
              <a:gd name="adj" fmla="val 10294"/>
            </a:avLst>
          </a:prstGeom>
          <a:solidFill>
            <a:srgbClr val="161B22"/>
          </a:solidFill>
          <a:ln w="10160">
            <a:solidFill>
              <a:srgbClr val="A371F7"/>
            </a:solidFill>
            <a:prstDash val="solid"/>
          </a:ln>
          <a:effectLst>
            <a:outerShdw sx="100000" sy="100000" kx="0" ky="0" algn="bl" rotWithShape="0" blurRad="101600" dist="38100" dir="2700000">
              <a:srgbClr val="000000">
                <a:alpha val="30000"/>
              </a:srgbClr>
            </a:outerShdw>
          </a:effectLst>
        </p:spPr>
      </p:sp>
      <p:sp>
        <p:nvSpPr>
          <p:cNvPr id="16" name="Text 14"/>
          <p:cNvSpPr/>
          <p:nvPr/>
        </p:nvSpPr>
        <p:spPr>
          <a:xfrm>
            <a:off x="6080760" y="3593592"/>
            <a:ext cx="2743200" cy="256032"/>
          </a:xfrm>
          <a:prstGeom prst="rect">
            <a:avLst/>
          </a:prstGeom>
          <a:noFill/>
          <a:ln/>
        </p:spPr>
        <p:txBody>
          <a:bodyPr wrap="square" lIns="0" tIns="0" rIns="0" bIns="0" rtlCol="0" anchor="ctr"/>
          <a:lstStyle/>
          <a:p>
            <a:pPr indent="0" marL="0">
              <a:buNone/>
            </a:pPr>
            <a:r>
              <a:rPr lang="en-US" sz="1200" b="1" dirty="0">
                <a:solidFill>
                  <a:srgbClr val="A371F7"/>
                </a:solidFill>
                <a:latin typeface="Calibri" pitchFamily="34" charset="0"/>
                <a:ea typeface="Calibri" pitchFamily="34" charset="-122"/>
                <a:cs typeface="Calibri" pitchFamily="34" charset="-120"/>
              </a:rPr>
              <a:t>External Secrets Op.</a:t>
            </a:r>
            <a:endParaRPr lang="en-US" sz="1200" dirty="0"/>
          </a:p>
        </p:txBody>
      </p:sp>
      <p:sp>
        <p:nvSpPr>
          <p:cNvPr id="17" name="Text 15"/>
          <p:cNvSpPr/>
          <p:nvPr/>
        </p:nvSpPr>
        <p:spPr>
          <a:xfrm>
            <a:off x="6080760" y="3831336"/>
            <a:ext cx="2743200" cy="25603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Kubernetes-native secret injection</a:t>
            </a:r>
            <a:endParaRPr lang="en-US" sz="1000" dirty="0"/>
          </a:p>
        </p:txBody>
      </p:sp>
      <p:sp>
        <p:nvSpPr>
          <p:cNvPr id="18" name="Text 16"/>
          <p:cNvSpPr/>
          <p:nvPr/>
        </p:nvSpPr>
        <p:spPr>
          <a:xfrm>
            <a:off x="457200" y="4160520"/>
            <a:ext cx="82296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No hardcoded credentials  ·  No access keys in pods  ·  Workload identity federation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2EA44F"/>
                </a:solidFill>
                <a:latin typeface="Calibri" pitchFamily="34" charset="0"/>
                <a:ea typeface="Calibri" pitchFamily="34" charset="-122"/>
                <a:cs typeface="Calibri" pitchFamily="34" charset="-120"/>
              </a:rPr>
              <a:t>NETWORK POLICIES</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Zero-Trust Kubernetes Networking</a:t>
            </a:r>
            <a:endParaRPr lang="en-US" sz="3200" dirty="0"/>
          </a:p>
        </p:txBody>
      </p:sp>
      <p:sp>
        <p:nvSpPr>
          <p:cNvPr id="4" name="Shape 2"/>
          <p:cNvSpPr/>
          <p:nvPr/>
        </p:nvSpPr>
        <p:spPr>
          <a:xfrm>
            <a:off x="457200" y="2011680"/>
            <a:ext cx="2011680" cy="566928"/>
          </a:xfrm>
          <a:prstGeom prst="roundRect">
            <a:avLst>
              <a:gd name="adj" fmla="val 12903"/>
            </a:avLst>
          </a:prstGeom>
          <a:solidFill>
            <a:srgbClr val="161B22"/>
          </a:solidFill>
          <a:ln w="15240">
            <a:solidFill>
              <a:srgbClr val="FF9900"/>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457200" y="2011680"/>
            <a:ext cx="2011680" cy="566928"/>
          </a:xfrm>
          <a:prstGeom prst="rect">
            <a:avLst/>
          </a:prstGeom>
          <a:noFill/>
          <a:ln/>
        </p:spPr>
        <p:txBody>
          <a:bodyPr wrap="square" lIns="0" tIns="0" rIns="0" bIns="0"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frontend</a:t>
            </a:r>
            <a:endParaRPr lang="en-US" sz="1200" dirty="0"/>
          </a:p>
        </p:txBody>
      </p:sp>
      <p:sp>
        <p:nvSpPr>
          <p:cNvPr id="6" name="Shape 4"/>
          <p:cNvSpPr/>
          <p:nvPr/>
        </p:nvSpPr>
        <p:spPr>
          <a:xfrm>
            <a:off x="2834640" y="1280160"/>
            <a:ext cx="2011680" cy="566928"/>
          </a:xfrm>
          <a:prstGeom prst="roundRect">
            <a:avLst>
              <a:gd name="adj" fmla="val 12903"/>
            </a:avLst>
          </a:prstGeom>
          <a:solidFill>
            <a:srgbClr val="161B22"/>
          </a:solidFill>
          <a:ln w="15240">
            <a:solidFill>
              <a:srgbClr val="00A4BD"/>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2834640" y="1280160"/>
            <a:ext cx="2011680" cy="566928"/>
          </a:xfrm>
          <a:prstGeom prst="rect">
            <a:avLst/>
          </a:prstGeom>
          <a:noFill/>
          <a:ln/>
        </p:spPr>
        <p:txBody>
          <a:bodyPr wrap="square" lIns="0" tIns="0" rIns="0" bIns="0" rtlCol="0" anchor="ctr"/>
          <a:lstStyle/>
          <a:p>
            <a:pPr algn="ctr" indent="0" marL="0">
              <a:buNone/>
            </a:pPr>
            <a:r>
              <a:rPr lang="en-US" sz="1200" b="1" dirty="0">
                <a:solidFill>
                  <a:srgbClr val="00A4BD"/>
                </a:solidFill>
                <a:latin typeface="Calibri" pitchFamily="34" charset="0"/>
                <a:ea typeface="Calibri" pitchFamily="34" charset="-122"/>
                <a:cs typeface="Calibri" pitchFamily="34" charset="-120"/>
              </a:rPr>
              <a:t>identity-svc</a:t>
            </a:r>
            <a:endParaRPr lang="en-US" sz="1200" dirty="0"/>
          </a:p>
        </p:txBody>
      </p:sp>
      <p:sp>
        <p:nvSpPr>
          <p:cNvPr id="8" name="Shape 6"/>
          <p:cNvSpPr/>
          <p:nvPr/>
        </p:nvSpPr>
        <p:spPr>
          <a:xfrm>
            <a:off x="2834640" y="2377440"/>
            <a:ext cx="2011680" cy="566928"/>
          </a:xfrm>
          <a:prstGeom prst="roundRect">
            <a:avLst>
              <a:gd name="adj" fmla="val 12903"/>
            </a:avLst>
          </a:prstGeom>
          <a:solidFill>
            <a:srgbClr val="161B22"/>
          </a:solidFill>
          <a:ln w="15240">
            <a:solidFill>
              <a:srgbClr val="2EA44F"/>
            </a:solidFill>
            <a:prstDash val="solid"/>
          </a:ln>
          <a:effectLst>
            <a:outerShdw sx="100000" sy="100000" kx="0" ky="0" algn="bl" rotWithShape="0" blurRad="101600" dist="38100" dir="2700000">
              <a:srgbClr val="000000">
                <a:alpha val="30000"/>
              </a:srgbClr>
            </a:outerShdw>
          </a:effectLst>
        </p:spPr>
      </p:sp>
      <p:sp>
        <p:nvSpPr>
          <p:cNvPr id="9" name="Text 7"/>
          <p:cNvSpPr/>
          <p:nvPr/>
        </p:nvSpPr>
        <p:spPr>
          <a:xfrm>
            <a:off x="2834640" y="2377440"/>
            <a:ext cx="2011680" cy="566928"/>
          </a:xfrm>
          <a:prstGeom prst="rect">
            <a:avLst/>
          </a:prstGeom>
          <a:noFill/>
          <a:ln/>
        </p:spPr>
        <p:txBody>
          <a:bodyPr wrap="square" lIns="0" tIns="0" rIns="0" bIns="0" rtlCol="0" anchor="ctr"/>
          <a:lstStyle/>
          <a:p>
            <a:pPr algn="ctr" indent="0" marL="0">
              <a:buNone/>
            </a:pPr>
            <a:r>
              <a:rPr lang="en-US" sz="1200" b="1" dirty="0">
                <a:solidFill>
                  <a:srgbClr val="2EA44F"/>
                </a:solidFill>
                <a:latin typeface="Calibri" pitchFamily="34" charset="0"/>
                <a:ea typeface="Calibri" pitchFamily="34" charset="-122"/>
                <a:cs typeface="Calibri" pitchFamily="34" charset="-120"/>
              </a:rPr>
              <a:t>event-svc</a:t>
            </a:r>
            <a:endParaRPr lang="en-US" sz="1200" dirty="0"/>
          </a:p>
        </p:txBody>
      </p:sp>
      <p:sp>
        <p:nvSpPr>
          <p:cNvPr id="10" name="Shape 8"/>
          <p:cNvSpPr/>
          <p:nvPr/>
        </p:nvSpPr>
        <p:spPr>
          <a:xfrm>
            <a:off x="2834640" y="3474720"/>
            <a:ext cx="2011680" cy="566928"/>
          </a:xfrm>
          <a:prstGeom prst="roundRect">
            <a:avLst>
              <a:gd name="adj" fmla="val 12903"/>
            </a:avLst>
          </a:prstGeom>
          <a:solidFill>
            <a:srgbClr val="161B22"/>
          </a:solidFill>
          <a:ln w="15240">
            <a:solidFill>
              <a:srgbClr val="E3B341"/>
            </a:solidFill>
            <a:prstDash val="solid"/>
          </a:ln>
          <a:effectLst>
            <a:outerShdw sx="100000" sy="100000" kx="0" ky="0" algn="bl" rotWithShape="0" blurRad="101600" dist="38100" dir="2700000">
              <a:srgbClr val="000000">
                <a:alpha val="30000"/>
              </a:srgbClr>
            </a:outerShdw>
          </a:effectLst>
        </p:spPr>
      </p:sp>
      <p:sp>
        <p:nvSpPr>
          <p:cNvPr id="11" name="Text 9"/>
          <p:cNvSpPr/>
          <p:nvPr/>
        </p:nvSpPr>
        <p:spPr>
          <a:xfrm>
            <a:off x="2834640" y="3474720"/>
            <a:ext cx="2011680" cy="566928"/>
          </a:xfrm>
          <a:prstGeom prst="rect">
            <a:avLst/>
          </a:prstGeom>
          <a:noFill/>
          <a:ln/>
        </p:spPr>
        <p:txBody>
          <a:bodyPr wrap="square" lIns="0" tIns="0" rIns="0" bIns="0" rtlCol="0" anchor="ctr"/>
          <a:lstStyle/>
          <a:p>
            <a:pPr algn="ctr" indent="0" marL="0">
              <a:buNone/>
            </a:pPr>
            <a:r>
              <a:rPr lang="en-US" sz="1200" b="1" dirty="0">
                <a:solidFill>
                  <a:srgbClr val="E3B341"/>
                </a:solidFill>
                <a:latin typeface="Calibri" pitchFamily="34" charset="0"/>
                <a:ea typeface="Calibri" pitchFamily="34" charset="-122"/>
                <a:cs typeface="Calibri" pitchFamily="34" charset="-120"/>
              </a:rPr>
              <a:t>booking-svc</a:t>
            </a:r>
            <a:endParaRPr lang="en-US" sz="1200" dirty="0"/>
          </a:p>
        </p:txBody>
      </p:sp>
      <p:sp>
        <p:nvSpPr>
          <p:cNvPr id="12" name="Shape 10"/>
          <p:cNvSpPr/>
          <p:nvPr/>
        </p:nvSpPr>
        <p:spPr>
          <a:xfrm>
            <a:off x="5303520" y="2377440"/>
            <a:ext cx="2011680" cy="566928"/>
          </a:xfrm>
          <a:prstGeom prst="roundRect">
            <a:avLst>
              <a:gd name="adj" fmla="val 12903"/>
            </a:avLst>
          </a:prstGeom>
          <a:solidFill>
            <a:srgbClr val="161B22"/>
          </a:solidFill>
          <a:ln w="15240">
            <a:solidFill>
              <a:srgbClr val="A371F7"/>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5303520" y="2377440"/>
            <a:ext cx="2011680" cy="566928"/>
          </a:xfrm>
          <a:prstGeom prst="rect">
            <a:avLst/>
          </a:prstGeom>
          <a:noFill/>
          <a:ln/>
        </p:spPr>
        <p:txBody>
          <a:bodyPr wrap="square" lIns="0" tIns="0" rIns="0" bIns="0" rtlCol="0" anchor="ctr"/>
          <a:lstStyle/>
          <a:p>
            <a:pPr algn="ctr" indent="0" marL="0">
              <a:buNone/>
            </a:pPr>
            <a:r>
              <a:rPr lang="en-US" sz="1200" b="1" dirty="0">
                <a:solidFill>
                  <a:srgbClr val="A371F7"/>
                </a:solidFill>
                <a:latin typeface="Calibri" pitchFamily="34" charset="0"/>
                <a:ea typeface="Calibri" pitchFamily="34" charset="-122"/>
                <a:cs typeface="Calibri" pitchFamily="34" charset="-120"/>
              </a:rPr>
              <a:t>monitoring</a:t>
            </a:r>
            <a:endParaRPr lang="en-US" sz="1200" dirty="0"/>
          </a:p>
        </p:txBody>
      </p:sp>
      <p:sp>
        <p:nvSpPr>
          <p:cNvPr id="14" name="Shape 12"/>
          <p:cNvSpPr/>
          <p:nvPr/>
        </p:nvSpPr>
        <p:spPr>
          <a:xfrm>
            <a:off x="2468880" y="2295144"/>
            <a:ext cx="365760" cy="-713232"/>
          </a:xfrm>
          <a:prstGeom prst="line">
            <a:avLst/>
          </a:prstGeom>
          <a:noFill/>
          <a:ln w="15240">
            <a:solidFill>
              <a:srgbClr val="00A4BD"/>
            </a:solidFill>
            <a:prstDash val="solid"/>
          </a:ln>
        </p:spPr>
      </p:sp>
      <p:sp>
        <p:nvSpPr>
          <p:cNvPr id="15" name="Shape 13"/>
          <p:cNvSpPr/>
          <p:nvPr/>
        </p:nvSpPr>
        <p:spPr>
          <a:xfrm>
            <a:off x="2468880" y="2295144"/>
            <a:ext cx="365760" cy="0"/>
          </a:xfrm>
          <a:prstGeom prst="line">
            <a:avLst/>
          </a:prstGeom>
          <a:noFill/>
          <a:ln w="15240">
            <a:solidFill>
              <a:srgbClr val="2EA44F"/>
            </a:solidFill>
            <a:prstDash val="solid"/>
          </a:ln>
        </p:spPr>
      </p:sp>
      <p:sp>
        <p:nvSpPr>
          <p:cNvPr id="16" name="Shape 14"/>
          <p:cNvSpPr/>
          <p:nvPr/>
        </p:nvSpPr>
        <p:spPr>
          <a:xfrm>
            <a:off x="2468880" y="2295144"/>
            <a:ext cx="365760" cy="1097280"/>
          </a:xfrm>
          <a:prstGeom prst="line">
            <a:avLst/>
          </a:prstGeom>
          <a:noFill/>
          <a:ln w="15240">
            <a:solidFill>
              <a:srgbClr val="E3B341"/>
            </a:solidFill>
            <a:prstDash val="solid"/>
          </a:ln>
        </p:spPr>
      </p:sp>
      <p:sp>
        <p:nvSpPr>
          <p:cNvPr id="17" name="Shape 15"/>
          <p:cNvSpPr/>
          <p:nvPr/>
        </p:nvSpPr>
        <p:spPr>
          <a:xfrm>
            <a:off x="4846320" y="2660904"/>
            <a:ext cx="457200" cy="0"/>
          </a:xfrm>
          <a:prstGeom prst="line">
            <a:avLst/>
          </a:prstGeom>
          <a:noFill/>
          <a:ln w="12700">
            <a:solidFill>
              <a:srgbClr val="A371F7"/>
            </a:solidFill>
            <a:prstDash val="dash"/>
          </a:ln>
        </p:spPr>
      </p:sp>
      <p:sp>
        <p:nvSpPr>
          <p:cNvPr id="18" name="Shape 16"/>
          <p:cNvSpPr/>
          <p:nvPr/>
        </p:nvSpPr>
        <p:spPr>
          <a:xfrm>
            <a:off x="6035040" y="1234440"/>
            <a:ext cx="2834640" cy="3291840"/>
          </a:xfrm>
          <a:prstGeom prst="roundRect">
            <a:avLst>
              <a:gd name="adj" fmla="val 3226"/>
            </a:avLst>
          </a:prstGeom>
          <a:solidFill>
            <a:srgbClr val="1C2333"/>
          </a:solidFill>
          <a:ln w="10160">
            <a:solidFill>
              <a:srgbClr val="30363D"/>
            </a:solidFill>
            <a:prstDash val="solid"/>
          </a:ln>
          <a:effectLst>
            <a:outerShdw sx="100000" sy="100000" kx="0" ky="0" algn="bl" rotWithShape="0" blurRad="101600" dist="38100" dir="2700000">
              <a:srgbClr val="000000">
                <a:alpha val="30000"/>
              </a:srgbClr>
            </a:outerShdw>
          </a:effectLst>
        </p:spPr>
      </p:sp>
      <p:sp>
        <p:nvSpPr>
          <p:cNvPr id="19" name="Text 17"/>
          <p:cNvSpPr/>
          <p:nvPr/>
        </p:nvSpPr>
        <p:spPr>
          <a:xfrm>
            <a:off x="6172200" y="1371600"/>
            <a:ext cx="2560320" cy="347472"/>
          </a:xfrm>
          <a:prstGeom prst="rect">
            <a:avLst/>
          </a:prstGeom>
          <a:noFill/>
          <a:ln/>
        </p:spPr>
        <p:txBody>
          <a:bodyPr wrap="square" lIns="0" tIns="0" rIns="0" bIns="0" rtlCol="0" anchor="ctr"/>
          <a:lstStyle/>
          <a:p>
            <a:pPr indent="0" marL="0">
              <a:buNone/>
            </a:pPr>
            <a:r>
              <a:rPr lang="en-US" sz="1500" b="1" dirty="0">
                <a:solidFill>
                  <a:srgbClr val="2EA44F"/>
                </a:solidFill>
                <a:latin typeface="Calibri" pitchFamily="34" charset="0"/>
                <a:ea typeface="Calibri" pitchFamily="34" charset="-122"/>
                <a:cs typeface="Calibri" pitchFamily="34" charset="-120"/>
              </a:rPr>
              <a:t>Policy Rules</a:t>
            </a:r>
            <a:endParaRPr lang="en-US" sz="1500" dirty="0"/>
          </a:p>
        </p:txBody>
      </p:sp>
      <p:sp>
        <p:nvSpPr>
          <p:cNvPr id="20" name="Shape 18"/>
          <p:cNvSpPr/>
          <p:nvPr/>
        </p:nvSpPr>
        <p:spPr>
          <a:xfrm>
            <a:off x="6199632" y="1828800"/>
            <a:ext cx="182880" cy="182880"/>
          </a:xfrm>
          <a:prstGeom prst="ellipse">
            <a:avLst/>
          </a:prstGeom>
          <a:solidFill>
            <a:srgbClr val="F85149"/>
          </a:solidFill>
          <a:ln w="12700">
            <a:solidFill>
              <a:srgbClr val="F85149"/>
            </a:solidFill>
            <a:prstDash val="solid"/>
          </a:ln>
        </p:spPr>
      </p:sp>
      <p:sp>
        <p:nvSpPr>
          <p:cNvPr id="21" name="Text 19"/>
          <p:cNvSpPr/>
          <p:nvPr/>
        </p:nvSpPr>
        <p:spPr>
          <a:xfrm>
            <a:off x="6446520" y="1801368"/>
            <a:ext cx="2286000" cy="384048"/>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Default Deny All Ingress</a:t>
            </a:r>
            <a:endParaRPr lang="en-US" sz="1050" dirty="0"/>
          </a:p>
        </p:txBody>
      </p:sp>
      <p:sp>
        <p:nvSpPr>
          <p:cNvPr id="22" name="Shape 20"/>
          <p:cNvSpPr/>
          <p:nvPr/>
        </p:nvSpPr>
        <p:spPr>
          <a:xfrm>
            <a:off x="6199632" y="2340864"/>
            <a:ext cx="182880" cy="182880"/>
          </a:xfrm>
          <a:prstGeom prst="ellipse">
            <a:avLst/>
          </a:prstGeom>
          <a:solidFill>
            <a:srgbClr val="FF9900"/>
          </a:solidFill>
          <a:ln w="12700">
            <a:solidFill>
              <a:srgbClr val="FF9900"/>
            </a:solidFill>
            <a:prstDash val="solid"/>
          </a:ln>
        </p:spPr>
      </p:sp>
      <p:sp>
        <p:nvSpPr>
          <p:cNvPr id="23" name="Text 21"/>
          <p:cNvSpPr/>
          <p:nvPr/>
        </p:nvSpPr>
        <p:spPr>
          <a:xfrm>
            <a:off x="6446520" y="2313432"/>
            <a:ext cx="2286000" cy="384048"/>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Frontend → identity, event, booking only</a:t>
            </a:r>
            <a:endParaRPr lang="en-US" sz="1050" dirty="0"/>
          </a:p>
        </p:txBody>
      </p:sp>
      <p:sp>
        <p:nvSpPr>
          <p:cNvPr id="24" name="Shape 22"/>
          <p:cNvSpPr/>
          <p:nvPr/>
        </p:nvSpPr>
        <p:spPr>
          <a:xfrm>
            <a:off x="6199632" y="2852928"/>
            <a:ext cx="182880" cy="182880"/>
          </a:xfrm>
          <a:prstGeom prst="ellipse">
            <a:avLst/>
          </a:prstGeom>
          <a:solidFill>
            <a:srgbClr val="E3B341"/>
          </a:solidFill>
          <a:ln w="12700">
            <a:solidFill>
              <a:srgbClr val="E3B341"/>
            </a:solidFill>
            <a:prstDash val="solid"/>
          </a:ln>
        </p:spPr>
      </p:sp>
      <p:sp>
        <p:nvSpPr>
          <p:cNvPr id="25" name="Text 23"/>
          <p:cNvSpPr/>
          <p:nvPr/>
        </p:nvSpPr>
        <p:spPr>
          <a:xfrm>
            <a:off x="6446520" y="2825496"/>
            <a:ext cx="2286000" cy="384048"/>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booking-service → SQS (egress only)</a:t>
            </a:r>
            <a:endParaRPr lang="en-US" sz="1050" dirty="0"/>
          </a:p>
        </p:txBody>
      </p:sp>
      <p:sp>
        <p:nvSpPr>
          <p:cNvPr id="26" name="Shape 24"/>
          <p:cNvSpPr/>
          <p:nvPr/>
        </p:nvSpPr>
        <p:spPr>
          <a:xfrm>
            <a:off x="6199632" y="3364992"/>
            <a:ext cx="182880" cy="182880"/>
          </a:xfrm>
          <a:prstGeom prst="ellipse">
            <a:avLst/>
          </a:prstGeom>
          <a:solidFill>
            <a:srgbClr val="A371F7"/>
          </a:solidFill>
          <a:ln w="12700">
            <a:solidFill>
              <a:srgbClr val="A371F7"/>
            </a:solidFill>
            <a:prstDash val="solid"/>
          </a:ln>
        </p:spPr>
      </p:sp>
      <p:sp>
        <p:nvSpPr>
          <p:cNvPr id="27" name="Text 25"/>
          <p:cNvSpPr/>
          <p:nvPr/>
        </p:nvSpPr>
        <p:spPr>
          <a:xfrm>
            <a:off x="6446520" y="3337560"/>
            <a:ext cx="2286000" cy="384048"/>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Monitoring namespace exempted</a:t>
            </a:r>
            <a:endParaRPr lang="en-US" sz="1050" dirty="0"/>
          </a:p>
        </p:txBody>
      </p:sp>
      <p:sp>
        <p:nvSpPr>
          <p:cNvPr id="28" name="Shape 26"/>
          <p:cNvSpPr/>
          <p:nvPr/>
        </p:nvSpPr>
        <p:spPr>
          <a:xfrm>
            <a:off x="6199632" y="3877056"/>
            <a:ext cx="182880" cy="182880"/>
          </a:xfrm>
          <a:prstGeom prst="ellipse">
            <a:avLst/>
          </a:prstGeom>
          <a:solidFill>
            <a:srgbClr val="00A4BD"/>
          </a:solidFill>
          <a:ln w="12700">
            <a:solidFill>
              <a:srgbClr val="00A4BD"/>
            </a:solidFill>
            <a:prstDash val="solid"/>
          </a:ln>
        </p:spPr>
      </p:sp>
      <p:sp>
        <p:nvSpPr>
          <p:cNvPr id="29" name="Text 27"/>
          <p:cNvSpPr/>
          <p:nvPr/>
        </p:nvSpPr>
        <p:spPr>
          <a:xfrm>
            <a:off x="6446520" y="3849624"/>
            <a:ext cx="2286000" cy="384048"/>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No lateral pod-to-pod by default</a:t>
            </a:r>
            <a:endParaRPr lang="en-US" sz="1050" dirty="0"/>
          </a:p>
        </p:txBody>
      </p:sp>
      <p:sp>
        <p:nvSpPr>
          <p:cNvPr id="30" name="Text 28"/>
          <p:cNvSpPr/>
          <p:nvPr/>
        </p:nvSpPr>
        <p:spPr>
          <a:xfrm>
            <a:off x="457200" y="4754880"/>
            <a:ext cx="82296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Kubernetes security hardening — microsegmented traffic with explicit allow rules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CI/CD PIPELINE</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GitHub Actions — End-to-End Automation</a:t>
            </a:r>
            <a:endParaRPr lang="en-US" sz="3000" dirty="0"/>
          </a:p>
        </p:txBody>
      </p:sp>
      <p:sp>
        <p:nvSpPr>
          <p:cNvPr id="4" name="Shape 2"/>
          <p:cNvSpPr/>
          <p:nvPr/>
        </p:nvSpPr>
        <p:spPr>
          <a:xfrm>
            <a:off x="457200" y="1280160"/>
            <a:ext cx="8229600" cy="1554480"/>
          </a:xfrm>
          <a:prstGeom prst="roundRect">
            <a:avLst>
              <a:gd name="adj" fmla="val 7059"/>
            </a:avLst>
          </a:prstGeom>
          <a:solidFill>
            <a:srgbClr val="161B22"/>
          </a:solidFill>
          <a:ln w="19050">
            <a:solidFill>
              <a:srgbClr val="30363D"/>
            </a:solidFill>
            <a:prstDash val="dash"/>
          </a:ln>
        </p:spPr>
      </p:sp>
      <p:sp>
        <p:nvSpPr>
          <p:cNvPr id="5" name="Text 3"/>
          <p:cNvSpPr/>
          <p:nvPr/>
        </p:nvSpPr>
        <p:spPr>
          <a:xfrm>
            <a:off x="457200" y="1280160"/>
            <a:ext cx="8229600" cy="1554480"/>
          </a:xfrm>
          <a:prstGeom prst="rect">
            <a:avLst/>
          </a:prstGeom>
          <a:noFill/>
          <a:ln/>
        </p:spPr>
        <p:txBody>
          <a:bodyPr wrap="square" lIns="0" tIns="0" rIns="0" bIns="0" rtlCol="0" anchor="ctr"/>
          <a:lstStyle/>
          <a:p>
            <a:pPr algn="ctr" indent="0" marL="0">
              <a:buNone/>
            </a:pPr>
            <a:r>
              <a:rPr lang="en-US" sz="1500" i="1" dirty="0">
                <a:solidFill>
                  <a:srgbClr val="6E7681"/>
                </a:solidFill>
                <a:latin typeface="Calibri" pitchFamily="34" charset="0"/>
                <a:ea typeface="Calibri" pitchFamily="34" charset="-122"/>
                <a:cs typeface="Calibri" pitchFamily="34" charset="-120"/>
              </a:rPr>
              <a:t>[ Insert CI/CD Pipeline Diagram Here ]</a:t>
            </a:r>
            <a:endParaRPr lang="en-US" sz="1500" dirty="0"/>
          </a:p>
        </p:txBody>
      </p:sp>
      <p:sp>
        <p:nvSpPr>
          <p:cNvPr id="6" name="Shape 4"/>
          <p:cNvSpPr/>
          <p:nvPr/>
        </p:nvSpPr>
        <p:spPr>
          <a:xfrm>
            <a:off x="411480" y="2999232"/>
            <a:ext cx="822960" cy="658368"/>
          </a:xfrm>
          <a:prstGeom prst="roundRect">
            <a:avLst>
              <a:gd name="adj" fmla="val 8333"/>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411480" y="2999232"/>
            <a:ext cx="822960" cy="658368"/>
          </a:xfrm>
          <a:prstGeom prst="rect">
            <a:avLst/>
          </a:prstGeom>
          <a:noFill/>
          <a:ln/>
        </p:spPr>
        <p:txBody>
          <a:bodyPr wrap="square" lIns="0" tIns="0" rIns="0" bIns="0" rtlCol="0" anchor="ctr"/>
          <a:lstStyle/>
          <a:p>
            <a:pPr algn="ctr" indent="0" marL="0">
              <a:buNone/>
            </a:pPr>
            <a:r>
              <a:rPr lang="en-US" sz="900" b="1" dirty="0">
                <a:solidFill>
                  <a:srgbClr val="FF9900"/>
                </a:solidFill>
                <a:latin typeface="Calibri" pitchFamily="34" charset="0"/>
                <a:ea typeface="Calibri" pitchFamily="34" charset="-122"/>
                <a:cs typeface="Calibri" pitchFamily="34" charset="-120"/>
              </a:rPr>
              <a:t>Lint</a:t>
            </a:r>
            <a:endParaRPr lang="en-US" sz="900" dirty="0"/>
          </a:p>
        </p:txBody>
      </p:sp>
      <p:sp>
        <p:nvSpPr>
          <p:cNvPr id="8" name="Shape 6"/>
          <p:cNvSpPr/>
          <p:nvPr/>
        </p:nvSpPr>
        <p:spPr>
          <a:xfrm>
            <a:off x="1216152" y="3328416"/>
            <a:ext cx="128016" cy="0"/>
          </a:xfrm>
          <a:prstGeom prst="line">
            <a:avLst/>
          </a:prstGeom>
          <a:noFill/>
          <a:ln w="15240">
            <a:solidFill>
              <a:srgbClr val="30363D"/>
            </a:solidFill>
            <a:prstDash val="solid"/>
          </a:ln>
        </p:spPr>
      </p:sp>
      <p:sp>
        <p:nvSpPr>
          <p:cNvPr id="9" name="Shape 7"/>
          <p:cNvSpPr/>
          <p:nvPr/>
        </p:nvSpPr>
        <p:spPr>
          <a:xfrm>
            <a:off x="1344168" y="2999232"/>
            <a:ext cx="822960" cy="658368"/>
          </a:xfrm>
          <a:prstGeom prst="roundRect">
            <a:avLst>
              <a:gd name="adj" fmla="val 8333"/>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1344168" y="2999232"/>
            <a:ext cx="822960" cy="658368"/>
          </a:xfrm>
          <a:prstGeom prst="rect">
            <a:avLst/>
          </a:prstGeom>
          <a:noFill/>
          <a:ln/>
        </p:spPr>
        <p:txBody>
          <a:bodyPr wrap="square" lIns="0" tIns="0" rIns="0" bIns="0" rtlCol="0" anchor="ctr"/>
          <a:lstStyle/>
          <a:p>
            <a:pPr algn="ctr" indent="0" marL="0">
              <a:buNone/>
            </a:pPr>
            <a:r>
              <a:rPr lang="en-US" sz="900" b="1" dirty="0">
                <a:solidFill>
                  <a:srgbClr val="00A4BD"/>
                </a:solidFill>
                <a:latin typeface="Calibri" pitchFamily="34" charset="0"/>
                <a:ea typeface="Calibri" pitchFamily="34" charset="-122"/>
                <a:cs typeface="Calibri" pitchFamily="34" charset="-120"/>
              </a:rPr>
              <a:t>Test</a:t>
            </a:r>
            <a:endParaRPr lang="en-US" sz="900" dirty="0"/>
          </a:p>
        </p:txBody>
      </p:sp>
      <p:sp>
        <p:nvSpPr>
          <p:cNvPr id="11" name="Shape 9"/>
          <p:cNvSpPr/>
          <p:nvPr/>
        </p:nvSpPr>
        <p:spPr>
          <a:xfrm>
            <a:off x="2148840" y="3328416"/>
            <a:ext cx="128016" cy="0"/>
          </a:xfrm>
          <a:prstGeom prst="line">
            <a:avLst/>
          </a:prstGeom>
          <a:noFill/>
          <a:ln w="15240">
            <a:solidFill>
              <a:srgbClr val="30363D"/>
            </a:solidFill>
            <a:prstDash val="solid"/>
          </a:ln>
        </p:spPr>
      </p:sp>
      <p:sp>
        <p:nvSpPr>
          <p:cNvPr id="12" name="Shape 10"/>
          <p:cNvSpPr/>
          <p:nvPr/>
        </p:nvSpPr>
        <p:spPr>
          <a:xfrm>
            <a:off x="2276856" y="2999232"/>
            <a:ext cx="822960" cy="658368"/>
          </a:xfrm>
          <a:prstGeom prst="roundRect">
            <a:avLst>
              <a:gd name="adj" fmla="val 8333"/>
            </a:avLst>
          </a:prstGeom>
          <a:solidFill>
            <a:srgbClr val="161B22"/>
          </a:solidFill>
          <a:ln w="12700">
            <a:solidFill>
              <a:srgbClr val="2EA44F"/>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2276856" y="2999232"/>
            <a:ext cx="822960" cy="658368"/>
          </a:xfrm>
          <a:prstGeom prst="rect">
            <a:avLst/>
          </a:prstGeom>
          <a:noFill/>
          <a:ln/>
        </p:spPr>
        <p:txBody>
          <a:bodyPr wrap="square" lIns="0" tIns="0" rIns="0" bIns="0" rtlCol="0" anchor="ctr"/>
          <a:lstStyle/>
          <a:p>
            <a:pPr algn="ctr" indent="0" marL="0">
              <a:buNone/>
            </a:pPr>
            <a:r>
              <a:rPr lang="en-US" sz="900" b="1" dirty="0">
                <a:solidFill>
                  <a:srgbClr val="2EA44F"/>
                </a:solidFill>
                <a:latin typeface="Calibri" pitchFamily="34" charset="0"/>
                <a:ea typeface="Calibri" pitchFamily="34" charset="-122"/>
                <a:cs typeface="Calibri" pitchFamily="34" charset="-120"/>
              </a:rPr>
              <a:t>SonarCloud</a:t>
            </a:r>
            <a:endParaRPr lang="en-US" sz="900" dirty="0"/>
          </a:p>
        </p:txBody>
      </p:sp>
      <p:sp>
        <p:nvSpPr>
          <p:cNvPr id="14" name="Shape 12"/>
          <p:cNvSpPr/>
          <p:nvPr/>
        </p:nvSpPr>
        <p:spPr>
          <a:xfrm>
            <a:off x="3081528" y="3328416"/>
            <a:ext cx="128016" cy="0"/>
          </a:xfrm>
          <a:prstGeom prst="line">
            <a:avLst/>
          </a:prstGeom>
          <a:noFill/>
          <a:ln w="15240">
            <a:solidFill>
              <a:srgbClr val="30363D"/>
            </a:solidFill>
            <a:prstDash val="solid"/>
          </a:ln>
        </p:spPr>
      </p:sp>
      <p:sp>
        <p:nvSpPr>
          <p:cNvPr id="15" name="Shape 13"/>
          <p:cNvSpPr/>
          <p:nvPr/>
        </p:nvSpPr>
        <p:spPr>
          <a:xfrm>
            <a:off x="3209544" y="2999232"/>
            <a:ext cx="822960" cy="658368"/>
          </a:xfrm>
          <a:prstGeom prst="roundRect">
            <a:avLst>
              <a:gd name="adj" fmla="val 8333"/>
            </a:avLst>
          </a:prstGeom>
          <a:solidFill>
            <a:srgbClr val="161B22"/>
          </a:solidFill>
          <a:ln w="12700">
            <a:solidFill>
              <a:srgbClr val="A371F7"/>
            </a:solidFill>
            <a:prstDash val="solid"/>
          </a:ln>
          <a:effectLst>
            <a:outerShdw sx="100000" sy="100000" kx="0" ky="0" algn="bl" rotWithShape="0" blurRad="101600" dist="38100" dir="2700000">
              <a:srgbClr val="000000">
                <a:alpha val="30000"/>
              </a:srgbClr>
            </a:outerShdw>
          </a:effectLst>
        </p:spPr>
      </p:sp>
      <p:sp>
        <p:nvSpPr>
          <p:cNvPr id="16" name="Text 14"/>
          <p:cNvSpPr/>
          <p:nvPr/>
        </p:nvSpPr>
        <p:spPr>
          <a:xfrm>
            <a:off x="3209544" y="2999232"/>
            <a:ext cx="822960" cy="658368"/>
          </a:xfrm>
          <a:prstGeom prst="rect">
            <a:avLst/>
          </a:prstGeom>
          <a:noFill/>
          <a:ln/>
        </p:spPr>
        <p:txBody>
          <a:bodyPr wrap="square" lIns="0" tIns="0" rIns="0" bIns="0" rtlCol="0" anchor="ctr"/>
          <a:lstStyle/>
          <a:p>
            <a:pPr algn="ctr" indent="0" marL="0">
              <a:buNone/>
            </a:pPr>
            <a:r>
              <a:rPr lang="en-US" sz="900" b="1" dirty="0">
                <a:solidFill>
                  <a:srgbClr val="A371F7"/>
                </a:solidFill>
                <a:latin typeface="Calibri" pitchFamily="34" charset="0"/>
                <a:ea typeface="Calibri" pitchFamily="34" charset="-122"/>
                <a:cs typeface="Calibri" pitchFamily="34" charset="-120"/>
              </a:rPr>
              <a:t>Snyk</a:t>
            </a:r>
            <a:endParaRPr lang="en-US" sz="900" dirty="0"/>
          </a:p>
        </p:txBody>
      </p:sp>
      <p:sp>
        <p:nvSpPr>
          <p:cNvPr id="17" name="Shape 15"/>
          <p:cNvSpPr/>
          <p:nvPr/>
        </p:nvSpPr>
        <p:spPr>
          <a:xfrm>
            <a:off x="4014216" y="3328416"/>
            <a:ext cx="128016" cy="0"/>
          </a:xfrm>
          <a:prstGeom prst="line">
            <a:avLst/>
          </a:prstGeom>
          <a:noFill/>
          <a:ln w="15240">
            <a:solidFill>
              <a:srgbClr val="30363D"/>
            </a:solidFill>
            <a:prstDash val="solid"/>
          </a:ln>
        </p:spPr>
      </p:sp>
      <p:sp>
        <p:nvSpPr>
          <p:cNvPr id="18" name="Shape 16"/>
          <p:cNvSpPr/>
          <p:nvPr/>
        </p:nvSpPr>
        <p:spPr>
          <a:xfrm>
            <a:off x="4142232" y="2999232"/>
            <a:ext cx="822960" cy="658368"/>
          </a:xfrm>
          <a:prstGeom prst="roundRect">
            <a:avLst>
              <a:gd name="adj" fmla="val 8333"/>
            </a:avLst>
          </a:prstGeom>
          <a:solidFill>
            <a:srgbClr val="161B22"/>
          </a:solidFill>
          <a:ln w="12700">
            <a:solidFill>
              <a:srgbClr val="E3B341"/>
            </a:solidFill>
            <a:prstDash val="solid"/>
          </a:ln>
          <a:effectLst>
            <a:outerShdw sx="100000" sy="100000" kx="0" ky="0" algn="bl" rotWithShape="0" blurRad="101600" dist="38100" dir="2700000">
              <a:srgbClr val="000000">
                <a:alpha val="30000"/>
              </a:srgbClr>
            </a:outerShdw>
          </a:effectLst>
        </p:spPr>
      </p:sp>
      <p:sp>
        <p:nvSpPr>
          <p:cNvPr id="19" name="Text 17"/>
          <p:cNvSpPr/>
          <p:nvPr/>
        </p:nvSpPr>
        <p:spPr>
          <a:xfrm>
            <a:off x="4142232" y="2999232"/>
            <a:ext cx="822960" cy="658368"/>
          </a:xfrm>
          <a:prstGeom prst="rect">
            <a:avLst/>
          </a:prstGeom>
          <a:noFill/>
          <a:ln/>
        </p:spPr>
        <p:txBody>
          <a:bodyPr wrap="square" lIns="0" tIns="0" rIns="0" bIns="0" rtlCol="0" anchor="ctr"/>
          <a:lstStyle/>
          <a:p>
            <a:pPr algn="ctr" indent="0" marL="0">
              <a:buNone/>
            </a:pPr>
            <a:r>
              <a:rPr lang="en-US" sz="900" b="1" dirty="0">
                <a:solidFill>
                  <a:srgbClr val="E3B341"/>
                </a:solidFill>
                <a:latin typeface="Calibri" pitchFamily="34" charset="0"/>
                <a:ea typeface="Calibri" pitchFamily="34" charset="-122"/>
                <a:cs typeface="Calibri" pitchFamily="34" charset="-120"/>
              </a:rPr>
              <a:t>Trivy</a:t>
            </a:r>
            <a:endParaRPr lang="en-US" sz="900" dirty="0"/>
          </a:p>
        </p:txBody>
      </p:sp>
      <p:sp>
        <p:nvSpPr>
          <p:cNvPr id="20" name="Shape 18"/>
          <p:cNvSpPr/>
          <p:nvPr/>
        </p:nvSpPr>
        <p:spPr>
          <a:xfrm>
            <a:off x="4946904" y="3328416"/>
            <a:ext cx="128016" cy="0"/>
          </a:xfrm>
          <a:prstGeom prst="line">
            <a:avLst/>
          </a:prstGeom>
          <a:noFill/>
          <a:ln w="15240">
            <a:solidFill>
              <a:srgbClr val="30363D"/>
            </a:solidFill>
            <a:prstDash val="solid"/>
          </a:ln>
        </p:spPr>
      </p:sp>
      <p:sp>
        <p:nvSpPr>
          <p:cNvPr id="21" name="Shape 19"/>
          <p:cNvSpPr/>
          <p:nvPr/>
        </p:nvSpPr>
        <p:spPr>
          <a:xfrm>
            <a:off x="5074920" y="2999232"/>
            <a:ext cx="822960" cy="658368"/>
          </a:xfrm>
          <a:prstGeom prst="roundRect">
            <a:avLst>
              <a:gd name="adj" fmla="val 8333"/>
            </a:avLst>
          </a:prstGeom>
          <a:solidFill>
            <a:srgbClr val="161B22"/>
          </a:solidFill>
          <a:ln w="12700">
            <a:solidFill>
              <a:srgbClr val="146EB4"/>
            </a:solidFill>
            <a:prstDash val="solid"/>
          </a:ln>
          <a:effectLst>
            <a:outerShdw sx="100000" sy="100000" kx="0" ky="0" algn="bl" rotWithShape="0" blurRad="101600" dist="38100" dir="2700000">
              <a:srgbClr val="000000">
                <a:alpha val="30000"/>
              </a:srgbClr>
            </a:outerShdw>
          </a:effectLst>
        </p:spPr>
      </p:sp>
      <p:sp>
        <p:nvSpPr>
          <p:cNvPr id="22" name="Text 20"/>
          <p:cNvSpPr/>
          <p:nvPr/>
        </p:nvSpPr>
        <p:spPr>
          <a:xfrm>
            <a:off x="5074920" y="2999232"/>
            <a:ext cx="822960" cy="658368"/>
          </a:xfrm>
          <a:prstGeom prst="rect">
            <a:avLst/>
          </a:prstGeom>
          <a:noFill/>
          <a:ln/>
        </p:spPr>
        <p:txBody>
          <a:bodyPr wrap="square" lIns="0" tIns="0" rIns="0" bIns="0" rtlCol="0" anchor="ctr"/>
          <a:lstStyle/>
          <a:p>
            <a:pPr algn="ctr" indent="0" marL="0">
              <a:buNone/>
            </a:pPr>
            <a:r>
              <a:rPr lang="en-US" sz="900" b="1" dirty="0">
                <a:solidFill>
                  <a:srgbClr val="146EB4"/>
                </a:solidFill>
                <a:latin typeface="Calibri" pitchFamily="34" charset="0"/>
                <a:ea typeface="Calibri" pitchFamily="34" charset="-122"/>
                <a:cs typeface="Calibri" pitchFamily="34" charset="-120"/>
              </a:rPr>
              <a:t>Docker Build</a:t>
            </a:r>
            <a:endParaRPr lang="en-US" sz="900" dirty="0"/>
          </a:p>
        </p:txBody>
      </p:sp>
      <p:sp>
        <p:nvSpPr>
          <p:cNvPr id="23" name="Shape 21"/>
          <p:cNvSpPr/>
          <p:nvPr/>
        </p:nvSpPr>
        <p:spPr>
          <a:xfrm>
            <a:off x="5879592" y="3328416"/>
            <a:ext cx="128016" cy="0"/>
          </a:xfrm>
          <a:prstGeom prst="line">
            <a:avLst/>
          </a:prstGeom>
          <a:noFill/>
          <a:ln w="15240">
            <a:solidFill>
              <a:srgbClr val="30363D"/>
            </a:solidFill>
            <a:prstDash val="solid"/>
          </a:ln>
        </p:spPr>
      </p:sp>
      <p:sp>
        <p:nvSpPr>
          <p:cNvPr id="24" name="Shape 22"/>
          <p:cNvSpPr/>
          <p:nvPr/>
        </p:nvSpPr>
        <p:spPr>
          <a:xfrm>
            <a:off x="6007608" y="2999232"/>
            <a:ext cx="822960" cy="658368"/>
          </a:xfrm>
          <a:prstGeom prst="roundRect">
            <a:avLst>
              <a:gd name="adj" fmla="val 8333"/>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6007608" y="2999232"/>
            <a:ext cx="822960" cy="658368"/>
          </a:xfrm>
          <a:prstGeom prst="rect">
            <a:avLst/>
          </a:prstGeom>
          <a:noFill/>
          <a:ln/>
        </p:spPr>
        <p:txBody>
          <a:bodyPr wrap="square" lIns="0" tIns="0" rIns="0" bIns="0" rtlCol="0" anchor="ctr"/>
          <a:lstStyle/>
          <a:p>
            <a:pPr algn="ctr" indent="0" marL="0">
              <a:buNone/>
            </a:pPr>
            <a:r>
              <a:rPr lang="en-US" sz="900" b="1" dirty="0">
                <a:solidFill>
                  <a:srgbClr val="FF9900"/>
                </a:solidFill>
                <a:latin typeface="Calibri" pitchFamily="34" charset="0"/>
                <a:ea typeface="Calibri" pitchFamily="34" charset="-122"/>
                <a:cs typeface="Calibri" pitchFamily="34" charset="-120"/>
              </a:rPr>
              <a:t>Push → ECR</a:t>
            </a:r>
            <a:endParaRPr lang="en-US" sz="900" dirty="0"/>
          </a:p>
        </p:txBody>
      </p:sp>
      <p:sp>
        <p:nvSpPr>
          <p:cNvPr id="26" name="Shape 24"/>
          <p:cNvSpPr/>
          <p:nvPr/>
        </p:nvSpPr>
        <p:spPr>
          <a:xfrm>
            <a:off x="6812280" y="3328416"/>
            <a:ext cx="128016" cy="0"/>
          </a:xfrm>
          <a:prstGeom prst="line">
            <a:avLst/>
          </a:prstGeom>
          <a:noFill/>
          <a:ln w="15240">
            <a:solidFill>
              <a:srgbClr val="30363D"/>
            </a:solidFill>
            <a:prstDash val="solid"/>
          </a:ln>
        </p:spPr>
      </p:sp>
      <p:sp>
        <p:nvSpPr>
          <p:cNvPr id="27" name="Shape 25"/>
          <p:cNvSpPr/>
          <p:nvPr/>
        </p:nvSpPr>
        <p:spPr>
          <a:xfrm>
            <a:off x="6940296" y="2999232"/>
            <a:ext cx="822960" cy="658368"/>
          </a:xfrm>
          <a:prstGeom prst="roundRect">
            <a:avLst>
              <a:gd name="adj" fmla="val 8333"/>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28" name="Text 26"/>
          <p:cNvSpPr/>
          <p:nvPr/>
        </p:nvSpPr>
        <p:spPr>
          <a:xfrm>
            <a:off x="6940296" y="2999232"/>
            <a:ext cx="822960" cy="658368"/>
          </a:xfrm>
          <a:prstGeom prst="rect">
            <a:avLst/>
          </a:prstGeom>
          <a:noFill/>
          <a:ln/>
        </p:spPr>
        <p:txBody>
          <a:bodyPr wrap="square" lIns="0" tIns="0" rIns="0" bIns="0" rtlCol="0" anchor="ctr"/>
          <a:lstStyle/>
          <a:p>
            <a:pPr algn="ctr" indent="0" marL="0">
              <a:buNone/>
            </a:pPr>
            <a:r>
              <a:rPr lang="en-US" sz="900" b="1" dirty="0">
                <a:solidFill>
                  <a:srgbClr val="00A4BD"/>
                </a:solidFill>
                <a:latin typeface="Calibri" pitchFamily="34" charset="0"/>
                <a:ea typeface="Calibri" pitchFamily="34" charset="-122"/>
                <a:cs typeface="Calibri" pitchFamily="34" charset="-120"/>
              </a:rPr>
              <a:t>Update Helm</a:t>
            </a:r>
            <a:endParaRPr lang="en-US" sz="900" dirty="0"/>
          </a:p>
        </p:txBody>
      </p:sp>
      <p:sp>
        <p:nvSpPr>
          <p:cNvPr id="29" name="Shape 27"/>
          <p:cNvSpPr/>
          <p:nvPr/>
        </p:nvSpPr>
        <p:spPr>
          <a:xfrm>
            <a:off x="7744968" y="3328416"/>
            <a:ext cx="128016" cy="0"/>
          </a:xfrm>
          <a:prstGeom prst="line">
            <a:avLst/>
          </a:prstGeom>
          <a:noFill/>
          <a:ln w="15240">
            <a:solidFill>
              <a:srgbClr val="30363D"/>
            </a:solidFill>
            <a:prstDash val="solid"/>
          </a:ln>
        </p:spPr>
      </p:sp>
      <p:sp>
        <p:nvSpPr>
          <p:cNvPr id="30" name="Shape 28"/>
          <p:cNvSpPr/>
          <p:nvPr/>
        </p:nvSpPr>
        <p:spPr>
          <a:xfrm>
            <a:off x="7872984" y="2999232"/>
            <a:ext cx="822960" cy="658368"/>
          </a:xfrm>
          <a:prstGeom prst="roundRect">
            <a:avLst>
              <a:gd name="adj" fmla="val 8333"/>
            </a:avLst>
          </a:prstGeom>
          <a:solidFill>
            <a:srgbClr val="161B22"/>
          </a:solidFill>
          <a:ln w="12700">
            <a:solidFill>
              <a:srgbClr val="2EA44F"/>
            </a:solidFill>
            <a:prstDash val="solid"/>
          </a:ln>
          <a:effectLst>
            <a:outerShdw sx="100000" sy="100000" kx="0" ky="0" algn="bl" rotWithShape="0" blurRad="101600" dist="38100" dir="2700000">
              <a:srgbClr val="000000">
                <a:alpha val="30000"/>
              </a:srgbClr>
            </a:outerShdw>
          </a:effectLst>
        </p:spPr>
      </p:sp>
      <p:sp>
        <p:nvSpPr>
          <p:cNvPr id="31" name="Text 29"/>
          <p:cNvSpPr/>
          <p:nvPr/>
        </p:nvSpPr>
        <p:spPr>
          <a:xfrm>
            <a:off x="7872984" y="2999232"/>
            <a:ext cx="822960" cy="658368"/>
          </a:xfrm>
          <a:prstGeom prst="rect">
            <a:avLst/>
          </a:prstGeom>
          <a:noFill/>
          <a:ln/>
        </p:spPr>
        <p:txBody>
          <a:bodyPr wrap="square" lIns="0" tIns="0" rIns="0" bIns="0" rtlCol="0" anchor="ctr"/>
          <a:lstStyle/>
          <a:p>
            <a:pPr algn="ctr" indent="0" marL="0">
              <a:buNone/>
            </a:pPr>
            <a:r>
              <a:rPr lang="en-US" sz="900" b="1" dirty="0">
                <a:solidFill>
                  <a:srgbClr val="2EA44F"/>
                </a:solidFill>
                <a:latin typeface="Calibri" pitchFamily="34" charset="0"/>
                <a:ea typeface="Calibri" pitchFamily="34" charset="-122"/>
                <a:cs typeface="Calibri" pitchFamily="34" charset="-120"/>
              </a:rPr>
              <a:t>ArgoCD Sync</a:t>
            </a:r>
            <a:endParaRPr lang="en-US" sz="900" dirty="0"/>
          </a:p>
        </p:txBody>
      </p:sp>
      <p:sp>
        <p:nvSpPr>
          <p:cNvPr id="32" name="Shape 30"/>
          <p:cNvSpPr/>
          <p:nvPr/>
        </p:nvSpPr>
        <p:spPr>
          <a:xfrm>
            <a:off x="457200" y="3840480"/>
            <a:ext cx="3977640" cy="1170432"/>
          </a:xfrm>
          <a:prstGeom prst="roundRect">
            <a:avLst>
              <a:gd name="adj" fmla="val 6250"/>
            </a:avLst>
          </a:prstGeom>
          <a:solidFill>
            <a:srgbClr val="161B22"/>
          </a:solidFill>
          <a:ln w="10160">
            <a:solidFill>
              <a:srgbClr val="00A4BD"/>
            </a:solidFill>
            <a:prstDash val="solid"/>
          </a:ln>
          <a:effectLst>
            <a:outerShdw sx="100000" sy="100000" kx="0" ky="0" algn="bl" rotWithShape="0" blurRad="101600" dist="38100" dir="2700000">
              <a:srgbClr val="000000">
                <a:alpha val="30000"/>
              </a:srgbClr>
            </a:outerShdw>
          </a:effectLst>
        </p:spPr>
      </p:sp>
      <p:sp>
        <p:nvSpPr>
          <p:cNvPr id="33" name="Text 31"/>
          <p:cNvSpPr/>
          <p:nvPr/>
        </p:nvSpPr>
        <p:spPr>
          <a:xfrm>
            <a:off x="594360" y="3913632"/>
            <a:ext cx="3657600" cy="292608"/>
          </a:xfrm>
          <a:prstGeom prst="rect">
            <a:avLst/>
          </a:prstGeom>
          <a:noFill/>
          <a:ln/>
        </p:spPr>
        <p:txBody>
          <a:bodyPr wrap="square" lIns="0" tIns="0" rIns="0" bIns="0" rtlCol="0" anchor="ctr"/>
          <a:lstStyle/>
          <a:p>
            <a:pPr indent="0" marL="0">
              <a:buNone/>
            </a:pPr>
            <a:r>
              <a:rPr lang="en-US" sz="1200" b="1" dirty="0">
                <a:solidFill>
                  <a:srgbClr val="00A4BD"/>
                </a:solidFill>
                <a:latin typeface="Calibri" pitchFamily="34" charset="0"/>
                <a:ea typeface="Calibri" pitchFamily="34" charset="-122"/>
                <a:cs typeface="Calibri" pitchFamily="34" charset="-120"/>
              </a:rPr>
              <a:t>Quality Gates</a:t>
            </a:r>
            <a:endParaRPr lang="en-US" sz="1200" dirty="0"/>
          </a:p>
        </p:txBody>
      </p:sp>
      <p:sp>
        <p:nvSpPr>
          <p:cNvPr id="34" name="Text 32"/>
          <p:cNvSpPr/>
          <p:nvPr/>
        </p:nvSpPr>
        <p:spPr>
          <a:xfrm>
            <a:off x="594360" y="4206240"/>
            <a:ext cx="3657600" cy="7315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SonarCloud code quality scan  ·  Snyk dependency vulnerability check  ·  Trivy container image scan  ·  Unit test coverage threshold</a:t>
            </a:r>
            <a:endParaRPr lang="en-US" sz="1000" dirty="0"/>
          </a:p>
        </p:txBody>
      </p:sp>
      <p:sp>
        <p:nvSpPr>
          <p:cNvPr id="35" name="Shape 33"/>
          <p:cNvSpPr/>
          <p:nvPr/>
        </p:nvSpPr>
        <p:spPr>
          <a:xfrm>
            <a:off x="4663440" y="3840480"/>
            <a:ext cx="3977640" cy="1170432"/>
          </a:xfrm>
          <a:prstGeom prst="roundRect">
            <a:avLst>
              <a:gd name="adj" fmla="val 6250"/>
            </a:avLst>
          </a:prstGeom>
          <a:solidFill>
            <a:srgbClr val="161B22"/>
          </a:solidFill>
          <a:ln w="10160">
            <a:solidFill>
              <a:srgbClr val="FF9900"/>
            </a:solidFill>
            <a:prstDash val="solid"/>
          </a:ln>
          <a:effectLst>
            <a:outerShdw sx="100000" sy="100000" kx="0" ky="0" algn="bl" rotWithShape="0" blurRad="101600" dist="38100" dir="2700000">
              <a:srgbClr val="000000">
                <a:alpha val="30000"/>
              </a:srgbClr>
            </a:outerShdw>
          </a:effectLst>
        </p:spPr>
      </p:sp>
      <p:sp>
        <p:nvSpPr>
          <p:cNvPr id="36" name="Text 34"/>
          <p:cNvSpPr/>
          <p:nvPr/>
        </p:nvSpPr>
        <p:spPr>
          <a:xfrm>
            <a:off x="4800600" y="3913632"/>
            <a:ext cx="3657600" cy="292608"/>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Deploy Automation</a:t>
            </a:r>
            <a:endParaRPr lang="en-US" sz="1200" dirty="0"/>
          </a:p>
        </p:txBody>
      </p:sp>
      <p:sp>
        <p:nvSpPr>
          <p:cNvPr id="37" name="Text 35"/>
          <p:cNvSpPr/>
          <p:nvPr/>
        </p:nvSpPr>
        <p:spPr>
          <a:xfrm>
            <a:off x="4800600" y="4206240"/>
            <a:ext cx="3657600" cy="7315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Docker image tagged with SHA  ·  Pushed to Amazon ECR  ·  Helm values.yaml auto-updated  ·  ArgoCD detects &amp; syncs to EKS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GITOPS DEPLOYMENT</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ArgoCD — Git as the Source of Truth</a:t>
            </a:r>
            <a:endParaRPr lang="en-US" sz="3000" dirty="0"/>
          </a:p>
        </p:txBody>
      </p:sp>
      <p:sp>
        <p:nvSpPr>
          <p:cNvPr id="4" name="Shape 2"/>
          <p:cNvSpPr/>
          <p:nvPr/>
        </p:nvSpPr>
        <p:spPr>
          <a:xfrm>
            <a:off x="457200" y="1417320"/>
            <a:ext cx="1463040" cy="1280160"/>
          </a:xfrm>
          <a:prstGeom prst="ellipse">
            <a:avLst/>
          </a:prstGeom>
          <a:solidFill>
            <a:srgbClr val="161B22"/>
          </a:solidFill>
          <a:ln w="19050">
            <a:solidFill>
              <a:srgbClr val="FF9900"/>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457200" y="1508760"/>
            <a:ext cx="1463040" cy="731520"/>
          </a:xfrm>
          <a:prstGeom prst="rect">
            <a:avLst/>
          </a:prstGeom>
          <a:noFill/>
          <a:ln/>
        </p:spPr>
        <p:txBody>
          <a:bodyPr wrap="square" lIns="0" tIns="0" rIns="0" bIns="0"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Developer</a:t>
            </a:r>
            <a:endParaRPr lang="en-US" sz="1200" dirty="0"/>
          </a:p>
          <a:p>
            <a:pPr algn="ctr" indent="0" marL="0">
              <a:buNone/>
            </a:pPr>
            <a:r>
              <a:rPr lang="en-US" sz="1200" b="1" dirty="0">
                <a:solidFill>
                  <a:srgbClr val="FF9900"/>
                </a:solidFill>
                <a:latin typeface="Calibri" pitchFamily="34" charset="0"/>
                <a:ea typeface="Calibri" pitchFamily="34" charset="-122"/>
                <a:cs typeface="Calibri" pitchFamily="34" charset="-120"/>
              </a:rPr>
              <a:t>Push</a:t>
            </a:r>
            <a:endParaRPr lang="en-US" sz="1200" dirty="0"/>
          </a:p>
        </p:txBody>
      </p:sp>
      <p:sp>
        <p:nvSpPr>
          <p:cNvPr id="6" name="Text 4"/>
          <p:cNvSpPr/>
          <p:nvPr/>
        </p:nvSpPr>
        <p:spPr>
          <a:xfrm>
            <a:off x="457200" y="2267712"/>
            <a:ext cx="146304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git push</a:t>
            </a:r>
            <a:endParaRPr lang="en-US" sz="900" dirty="0"/>
          </a:p>
        </p:txBody>
      </p:sp>
      <p:sp>
        <p:nvSpPr>
          <p:cNvPr id="7" name="Shape 5"/>
          <p:cNvSpPr/>
          <p:nvPr/>
        </p:nvSpPr>
        <p:spPr>
          <a:xfrm>
            <a:off x="1920240" y="2057400"/>
            <a:ext cx="731520" cy="0"/>
          </a:xfrm>
          <a:prstGeom prst="line">
            <a:avLst/>
          </a:prstGeom>
          <a:noFill/>
          <a:ln w="19050">
            <a:solidFill>
              <a:srgbClr val="FF9900"/>
            </a:solidFill>
            <a:prstDash val="solid"/>
          </a:ln>
        </p:spPr>
      </p:sp>
      <p:sp>
        <p:nvSpPr>
          <p:cNvPr id="8" name="Text 6"/>
          <p:cNvSpPr/>
          <p:nvPr/>
        </p:nvSpPr>
        <p:spPr>
          <a:xfrm>
            <a:off x="1938528" y="1920240"/>
            <a:ext cx="694944" cy="274320"/>
          </a:xfrm>
          <a:prstGeom prst="rect">
            <a:avLst/>
          </a:prstGeom>
          <a:noFill/>
          <a:ln/>
        </p:spPr>
        <p:txBody>
          <a:bodyPr wrap="square" lIns="0" tIns="0" rIns="0" bIns="0" rtlCol="0" anchor="ctr"/>
          <a:lstStyle/>
          <a:p>
            <a:pPr algn="ctr" indent="0" marL="0">
              <a:buNone/>
            </a:pPr>
            <a:r>
              <a:rPr lang="en-US" sz="1400" dirty="0">
                <a:solidFill>
                  <a:srgbClr val="FF9900"/>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194560" y="1417320"/>
            <a:ext cx="1463040" cy="1280160"/>
          </a:xfrm>
          <a:prstGeom prst="ellipse">
            <a:avLst/>
          </a:prstGeom>
          <a:solidFill>
            <a:srgbClr val="161B22"/>
          </a:solidFill>
          <a:ln w="19050">
            <a:solidFill>
              <a:srgbClr val="00A4BD"/>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2194560" y="1508760"/>
            <a:ext cx="1463040" cy="731520"/>
          </a:xfrm>
          <a:prstGeom prst="rect">
            <a:avLst/>
          </a:prstGeom>
          <a:noFill/>
          <a:ln/>
        </p:spPr>
        <p:txBody>
          <a:bodyPr wrap="square" lIns="0" tIns="0" rIns="0" bIns="0" rtlCol="0" anchor="ctr"/>
          <a:lstStyle/>
          <a:p>
            <a:pPr algn="ctr" indent="0" marL="0">
              <a:buNone/>
            </a:pPr>
            <a:r>
              <a:rPr lang="en-US" sz="1200" b="1" dirty="0">
                <a:solidFill>
                  <a:srgbClr val="00A4BD"/>
                </a:solidFill>
                <a:latin typeface="Calibri" pitchFamily="34" charset="0"/>
                <a:ea typeface="Calibri" pitchFamily="34" charset="-122"/>
                <a:cs typeface="Calibri" pitchFamily="34" charset="-120"/>
              </a:rPr>
              <a:t>GitHub</a:t>
            </a:r>
            <a:endParaRPr lang="en-US" sz="1200" dirty="0"/>
          </a:p>
          <a:p>
            <a:pPr algn="ctr" indent="0" marL="0">
              <a:buNone/>
            </a:pPr>
            <a:r>
              <a:rPr lang="en-US" sz="1200" b="1" dirty="0">
                <a:solidFill>
                  <a:srgbClr val="00A4BD"/>
                </a:solidFill>
                <a:latin typeface="Calibri" pitchFamily="34" charset="0"/>
                <a:ea typeface="Calibri" pitchFamily="34" charset="-122"/>
                <a:cs typeface="Calibri" pitchFamily="34" charset="-120"/>
              </a:rPr>
              <a:t>Repo</a:t>
            </a:r>
            <a:endParaRPr lang="en-US" sz="1200" dirty="0"/>
          </a:p>
        </p:txBody>
      </p:sp>
      <p:sp>
        <p:nvSpPr>
          <p:cNvPr id="11" name="Text 9"/>
          <p:cNvSpPr/>
          <p:nvPr/>
        </p:nvSpPr>
        <p:spPr>
          <a:xfrm>
            <a:off x="2194560" y="2267712"/>
            <a:ext cx="146304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Helm charts</a:t>
            </a:r>
            <a:endParaRPr lang="en-US" sz="900" dirty="0"/>
          </a:p>
        </p:txBody>
      </p:sp>
      <p:sp>
        <p:nvSpPr>
          <p:cNvPr id="12" name="Shape 10"/>
          <p:cNvSpPr/>
          <p:nvPr/>
        </p:nvSpPr>
        <p:spPr>
          <a:xfrm>
            <a:off x="3657600" y="2057400"/>
            <a:ext cx="731520" cy="0"/>
          </a:xfrm>
          <a:prstGeom prst="line">
            <a:avLst/>
          </a:prstGeom>
          <a:noFill/>
          <a:ln w="19050">
            <a:solidFill>
              <a:srgbClr val="00A4BD"/>
            </a:solidFill>
            <a:prstDash val="solid"/>
          </a:ln>
        </p:spPr>
      </p:sp>
      <p:sp>
        <p:nvSpPr>
          <p:cNvPr id="13" name="Text 11"/>
          <p:cNvSpPr/>
          <p:nvPr/>
        </p:nvSpPr>
        <p:spPr>
          <a:xfrm>
            <a:off x="3675888" y="1920240"/>
            <a:ext cx="694944" cy="274320"/>
          </a:xfrm>
          <a:prstGeom prst="rect">
            <a:avLst/>
          </a:prstGeom>
          <a:noFill/>
          <a:ln/>
        </p:spPr>
        <p:txBody>
          <a:bodyPr wrap="square" lIns="0" tIns="0" rIns="0" bIns="0" rtlCol="0" anchor="ctr"/>
          <a:lstStyle/>
          <a:p>
            <a:pPr algn="ctr" indent="0" marL="0">
              <a:buNone/>
            </a:pPr>
            <a:r>
              <a:rPr lang="en-US" sz="1400" dirty="0">
                <a:solidFill>
                  <a:srgbClr val="00A4BD"/>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3931920" y="1417320"/>
            <a:ext cx="1463040" cy="1280160"/>
          </a:xfrm>
          <a:prstGeom prst="ellipse">
            <a:avLst/>
          </a:prstGeom>
          <a:solidFill>
            <a:srgbClr val="161B22"/>
          </a:solidFill>
          <a:ln w="19050">
            <a:solidFill>
              <a:srgbClr val="A371F7"/>
            </a:solidFill>
            <a:prstDash val="solid"/>
          </a:ln>
          <a:effectLst>
            <a:outerShdw sx="100000" sy="100000" kx="0" ky="0" algn="bl" rotWithShape="0" blurRad="101600" dist="38100" dir="2700000">
              <a:srgbClr val="000000">
                <a:alpha val="30000"/>
              </a:srgbClr>
            </a:outerShdw>
          </a:effectLst>
        </p:spPr>
      </p:sp>
      <p:sp>
        <p:nvSpPr>
          <p:cNvPr id="15" name="Text 13"/>
          <p:cNvSpPr/>
          <p:nvPr/>
        </p:nvSpPr>
        <p:spPr>
          <a:xfrm>
            <a:off x="3931920" y="1508760"/>
            <a:ext cx="1463040" cy="731520"/>
          </a:xfrm>
          <a:prstGeom prst="rect">
            <a:avLst/>
          </a:prstGeom>
          <a:noFill/>
          <a:ln/>
        </p:spPr>
        <p:txBody>
          <a:bodyPr wrap="square" lIns="0" tIns="0" rIns="0" bIns="0" rtlCol="0" anchor="ctr"/>
          <a:lstStyle/>
          <a:p>
            <a:pPr algn="ctr" indent="0" marL="0">
              <a:buNone/>
            </a:pPr>
            <a:r>
              <a:rPr lang="en-US" sz="1200" b="1" dirty="0">
                <a:solidFill>
                  <a:srgbClr val="A371F7"/>
                </a:solidFill>
                <a:latin typeface="Calibri" pitchFamily="34" charset="0"/>
                <a:ea typeface="Calibri" pitchFamily="34" charset="-122"/>
                <a:cs typeface="Calibri" pitchFamily="34" charset="-120"/>
              </a:rPr>
              <a:t>ArgoCD</a:t>
            </a:r>
            <a:endParaRPr lang="en-US" sz="1200" dirty="0"/>
          </a:p>
          <a:p>
            <a:pPr algn="ctr" indent="0" marL="0">
              <a:buNone/>
            </a:pPr>
            <a:r>
              <a:rPr lang="en-US" sz="1200" b="1" dirty="0">
                <a:solidFill>
                  <a:srgbClr val="A371F7"/>
                </a:solidFill>
                <a:latin typeface="Calibri" pitchFamily="34" charset="0"/>
                <a:ea typeface="Calibri" pitchFamily="34" charset="-122"/>
                <a:cs typeface="Calibri" pitchFamily="34" charset="-120"/>
              </a:rPr>
              <a:t>Detects Drift</a:t>
            </a:r>
            <a:endParaRPr lang="en-US" sz="1200" dirty="0"/>
          </a:p>
        </p:txBody>
      </p:sp>
      <p:sp>
        <p:nvSpPr>
          <p:cNvPr id="16" name="Text 14"/>
          <p:cNvSpPr/>
          <p:nvPr/>
        </p:nvSpPr>
        <p:spPr>
          <a:xfrm>
            <a:off x="3931920" y="2267712"/>
            <a:ext cx="146304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Auto-sync</a:t>
            </a:r>
            <a:endParaRPr lang="en-US" sz="900" dirty="0"/>
          </a:p>
        </p:txBody>
      </p:sp>
      <p:sp>
        <p:nvSpPr>
          <p:cNvPr id="17" name="Shape 15"/>
          <p:cNvSpPr/>
          <p:nvPr/>
        </p:nvSpPr>
        <p:spPr>
          <a:xfrm>
            <a:off x="5394960" y="2057400"/>
            <a:ext cx="731520" cy="0"/>
          </a:xfrm>
          <a:prstGeom prst="line">
            <a:avLst/>
          </a:prstGeom>
          <a:noFill/>
          <a:ln w="19050">
            <a:solidFill>
              <a:srgbClr val="A371F7"/>
            </a:solidFill>
            <a:prstDash val="solid"/>
          </a:ln>
        </p:spPr>
      </p:sp>
      <p:sp>
        <p:nvSpPr>
          <p:cNvPr id="18" name="Text 16"/>
          <p:cNvSpPr/>
          <p:nvPr/>
        </p:nvSpPr>
        <p:spPr>
          <a:xfrm>
            <a:off x="5413248" y="1920240"/>
            <a:ext cx="694944" cy="274320"/>
          </a:xfrm>
          <a:prstGeom prst="rect">
            <a:avLst/>
          </a:prstGeom>
          <a:noFill/>
          <a:ln/>
        </p:spPr>
        <p:txBody>
          <a:bodyPr wrap="square" lIns="0" tIns="0" rIns="0" bIns="0" rtlCol="0" anchor="ctr"/>
          <a:lstStyle/>
          <a:p>
            <a:pPr algn="ctr" indent="0" marL="0">
              <a:buNone/>
            </a:pPr>
            <a:r>
              <a:rPr lang="en-US" sz="1400" dirty="0">
                <a:solidFill>
                  <a:srgbClr val="A371F7"/>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5669280" y="1417320"/>
            <a:ext cx="1463040" cy="1280160"/>
          </a:xfrm>
          <a:prstGeom prst="ellipse">
            <a:avLst/>
          </a:prstGeom>
          <a:solidFill>
            <a:srgbClr val="161B22"/>
          </a:solidFill>
          <a:ln w="19050">
            <a:solidFill>
              <a:srgbClr val="2EA44F"/>
            </a:solidFill>
            <a:prstDash val="solid"/>
          </a:ln>
          <a:effectLst>
            <a:outerShdw sx="100000" sy="100000" kx="0" ky="0" algn="bl" rotWithShape="0" blurRad="101600" dist="38100" dir="2700000">
              <a:srgbClr val="000000">
                <a:alpha val="30000"/>
              </a:srgbClr>
            </a:outerShdw>
          </a:effectLst>
        </p:spPr>
      </p:sp>
      <p:sp>
        <p:nvSpPr>
          <p:cNvPr id="20" name="Text 18"/>
          <p:cNvSpPr/>
          <p:nvPr/>
        </p:nvSpPr>
        <p:spPr>
          <a:xfrm>
            <a:off x="5669280" y="1508760"/>
            <a:ext cx="1463040" cy="731520"/>
          </a:xfrm>
          <a:prstGeom prst="rect">
            <a:avLst/>
          </a:prstGeom>
          <a:noFill/>
          <a:ln/>
        </p:spPr>
        <p:txBody>
          <a:bodyPr wrap="square" lIns="0" tIns="0" rIns="0" bIns="0" rtlCol="0" anchor="ctr"/>
          <a:lstStyle/>
          <a:p>
            <a:pPr algn="ctr" indent="0" marL="0">
              <a:buNone/>
            </a:pPr>
            <a:r>
              <a:rPr lang="en-US" sz="1200" b="1" dirty="0">
                <a:solidFill>
                  <a:srgbClr val="2EA44F"/>
                </a:solidFill>
                <a:latin typeface="Calibri" pitchFamily="34" charset="0"/>
                <a:ea typeface="Calibri" pitchFamily="34" charset="-122"/>
                <a:cs typeface="Calibri" pitchFamily="34" charset="-120"/>
              </a:rPr>
              <a:t>EKS</a:t>
            </a:r>
            <a:endParaRPr lang="en-US" sz="1200" dirty="0"/>
          </a:p>
          <a:p>
            <a:pPr algn="ctr" indent="0" marL="0">
              <a:buNone/>
            </a:pPr>
            <a:r>
              <a:rPr lang="en-US" sz="1200" b="1" dirty="0">
                <a:solidFill>
                  <a:srgbClr val="2EA44F"/>
                </a:solidFill>
                <a:latin typeface="Calibri" pitchFamily="34" charset="0"/>
                <a:ea typeface="Calibri" pitchFamily="34" charset="-122"/>
                <a:cs typeface="Calibri" pitchFamily="34" charset="-120"/>
              </a:rPr>
              <a:t>Deploys</a:t>
            </a:r>
            <a:endParaRPr lang="en-US" sz="1200" dirty="0"/>
          </a:p>
        </p:txBody>
      </p:sp>
      <p:sp>
        <p:nvSpPr>
          <p:cNvPr id="21" name="Text 19"/>
          <p:cNvSpPr/>
          <p:nvPr/>
        </p:nvSpPr>
        <p:spPr>
          <a:xfrm>
            <a:off x="5669280" y="2267712"/>
            <a:ext cx="146304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Kubernetes</a:t>
            </a:r>
            <a:endParaRPr lang="en-US" sz="900" dirty="0"/>
          </a:p>
        </p:txBody>
      </p:sp>
      <p:sp>
        <p:nvSpPr>
          <p:cNvPr id="22" name="Shape 20"/>
          <p:cNvSpPr/>
          <p:nvPr/>
        </p:nvSpPr>
        <p:spPr>
          <a:xfrm>
            <a:off x="7132320" y="2057400"/>
            <a:ext cx="731520" cy="0"/>
          </a:xfrm>
          <a:prstGeom prst="line">
            <a:avLst/>
          </a:prstGeom>
          <a:noFill/>
          <a:ln w="19050">
            <a:solidFill>
              <a:srgbClr val="2EA44F"/>
            </a:solidFill>
            <a:prstDash val="solid"/>
          </a:ln>
        </p:spPr>
      </p:sp>
      <p:sp>
        <p:nvSpPr>
          <p:cNvPr id="23" name="Text 21"/>
          <p:cNvSpPr/>
          <p:nvPr/>
        </p:nvSpPr>
        <p:spPr>
          <a:xfrm>
            <a:off x="7150608" y="1920240"/>
            <a:ext cx="694944" cy="274320"/>
          </a:xfrm>
          <a:prstGeom prst="rect">
            <a:avLst/>
          </a:prstGeom>
          <a:noFill/>
          <a:ln/>
        </p:spPr>
        <p:txBody>
          <a:bodyPr wrap="square" lIns="0" tIns="0" rIns="0" bIns="0" rtlCol="0" anchor="ctr"/>
          <a:lstStyle/>
          <a:p>
            <a:pPr algn="ctr" indent="0" marL="0">
              <a:buNone/>
            </a:pPr>
            <a:r>
              <a:rPr lang="en-US" sz="1400" dirty="0">
                <a:solidFill>
                  <a:srgbClr val="2EA44F"/>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7406640" y="1417320"/>
            <a:ext cx="1463040" cy="1280160"/>
          </a:xfrm>
          <a:prstGeom prst="ellipse">
            <a:avLst/>
          </a:prstGeom>
          <a:solidFill>
            <a:srgbClr val="161B22"/>
          </a:solidFill>
          <a:ln w="19050">
            <a:solidFill>
              <a:srgbClr val="E3B341"/>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7406640" y="1508760"/>
            <a:ext cx="1463040" cy="731520"/>
          </a:xfrm>
          <a:prstGeom prst="rect">
            <a:avLst/>
          </a:prstGeom>
          <a:noFill/>
          <a:ln/>
        </p:spPr>
        <p:txBody>
          <a:bodyPr wrap="square" lIns="0" tIns="0" rIns="0" bIns="0" rtlCol="0" anchor="ctr"/>
          <a:lstStyle/>
          <a:p>
            <a:pPr algn="ctr" indent="0" marL="0">
              <a:buNone/>
            </a:pPr>
            <a:r>
              <a:rPr lang="en-US" sz="1200" b="1" dirty="0">
                <a:solidFill>
                  <a:srgbClr val="E3B341"/>
                </a:solidFill>
                <a:latin typeface="Calibri" pitchFamily="34" charset="0"/>
                <a:ea typeface="Calibri" pitchFamily="34" charset="-122"/>
                <a:cs typeface="Calibri" pitchFamily="34" charset="-120"/>
              </a:rPr>
              <a:t>Live</a:t>
            </a:r>
            <a:endParaRPr lang="en-US" sz="1200" dirty="0"/>
          </a:p>
          <a:p>
            <a:pPr algn="ctr" indent="0" marL="0">
              <a:buNone/>
            </a:pPr>
            <a:r>
              <a:rPr lang="en-US" sz="1200" b="1" dirty="0">
                <a:solidFill>
                  <a:srgbClr val="E3B341"/>
                </a:solidFill>
                <a:latin typeface="Calibri" pitchFamily="34" charset="0"/>
                <a:ea typeface="Calibri" pitchFamily="34" charset="-122"/>
                <a:cs typeface="Calibri" pitchFamily="34" charset="-120"/>
              </a:rPr>
              <a:t>App ✓</a:t>
            </a:r>
            <a:endParaRPr lang="en-US" sz="1200" dirty="0"/>
          </a:p>
        </p:txBody>
      </p:sp>
      <p:sp>
        <p:nvSpPr>
          <p:cNvPr id="26" name="Text 24"/>
          <p:cNvSpPr/>
          <p:nvPr/>
        </p:nvSpPr>
        <p:spPr>
          <a:xfrm>
            <a:off x="7406640" y="2267712"/>
            <a:ext cx="146304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Production</a:t>
            </a:r>
            <a:endParaRPr lang="en-US" sz="900" dirty="0"/>
          </a:p>
        </p:txBody>
      </p:sp>
      <p:sp>
        <p:nvSpPr>
          <p:cNvPr id="27" name="Shape 25"/>
          <p:cNvSpPr/>
          <p:nvPr/>
        </p:nvSpPr>
        <p:spPr>
          <a:xfrm>
            <a:off x="457200" y="2880360"/>
            <a:ext cx="2697480" cy="1691640"/>
          </a:xfrm>
          <a:prstGeom prst="roundRect">
            <a:avLst>
              <a:gd name="adj" fmla="val 4865"/>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28" name="Text 26"/>
          <p:cNvSpPr/>
          <p:nvPr/>
        </p:nvSpPr>
        <p:spPr>
          <a:xfrm>
            <a:off x="594360" y="2999232"/>
            <a:ext cx="2423160" cy="365760"/>
          </a:xfrm>
          <a:prstGeom prst="rect">
            <a:avLst/>
          </a:prstGeom>
          <a:noFill/>
          <a:ln/>
        </p:spPr>
        <p:txBody>
          <a:bodyPr wrap="square" lIns="0" tIns="0" rIns="0" bIns="0" rtlCol="0" anchor="ctr"/>
          <a:lstStyle/>
          <a:p>
            <a:pPr indent="0" marL="0">
              <a:buNone/>
            </a:pPr>
            <a:r>
              <a:rPr lang="en-US" sz="1400" b="1" dirty="0">
                <a:solidFill>
                  <a:srgbClr val="00A4BD"/>
                </a:solidFill>
                <a:latin typeface="Calibri" pitchFamily="34" charset="0"/>
                <a:ea typeface="Calibri" pitchFamily="34" charset="-122"/>
                <a:cs typeface="Calibri" pitchFamily="34" charset="-120"/>
              </a:rPr>
              <a:t>Automated Deploy</a:t>
            </a:r>
            <a:endParaRPr lang="en-US" sz="1400" dirty="0"/>
          </a:p>
        </p:txBody>
      </p:sp>
      <p:sp>
        <p:nvSpPr>
          <p:cNvPr id="29" name="Text 27"/>
          <p:cNvSpPr/>
          <p:nvPr/>
        </p:nvSpPr>
        <p:spPr>
          <a:xfrm>
            <a:off x="594360" y="3401568"/>
            <a:ext cx="2423160" cy="10515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ArgoCD syncs on every commit — zero manual kubectl apply</a:t>
            </a:r>
            <a:endParaRPr lang="en-US" sz="1100" dirty="0"/>
          </a:p>
        </p:txBody>
      </p:sp>
      <p:sp>
        <p:nvSpPr>
          <p:cNvPr id="30" name="Shape 28"/>
          <p:cNvSpPr/>
          <p:nvPr/>
        </p:nvSpPr>
        <p:spPr>
          <a:xfrm>
            <a:off x="3337560" y="2880360"/>
            <a:ext cx="2697480" cy="1691640"/>
          </a:xfrm>
          <a:prstGeom prst="roundRect">
            <a:avLst>
              <a:gd name="adj" fmla="val 4865"/>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31" name="Text 29"/>
          <p:cNvSpPr/>
          <p:nvPr/>
        </p:nvSpPr>
        <p:spPr>
          <a:xfrm>
            <a:off x="3474720" y="2999232"/>
            <a:ext cx="2423160" cy="365760"/>
          </a:xfrm>
          <a:prstGeom prst="rect">
            <a:avLst/>
          </a:prstGeom>
          <a:noFill/>
          <a:ln/>
        </p:spPr>
        <p:txBody>
          <a:bodyPr wrap="square" lIns="0" tIns="0" rIns="0" bIns="0" rtlCol="0" anchor="ctr"/>
          <a:lstStyle/>
          <a:p>
            <a:pPr indent="0" marL="0">
              <a:buNone/>
            </a:pPr>
            <a:r>
              <a:rPr lang="en-US" sz="1400" b="1" dirty="0">
                <a:solidFill>
                  <a:srgbClr val="FF9900"/>
                </a:solidFill>
                <a:latin typeface="Calibri" pitchFamily="34" charset="0"/>
                <a:ea typeface="Calibri" pitchFamily="34" charset="-122"/>
                <a:cs typeface="Calibri" pitchFamily="34" charset="-120"/>
              </a:rPr>
              <a:t>Instant Rollback</a:t>
            </a:r>
            <a:endParaRPr lang="en-US" sz="1400" dirty="0"/>
          </a:p>
        </p:txBody>
      </p:sp>
      <p:sp>
        <p:nvSpPr>
          <p:cNvPr id="32" name="Text 30"/>
          <p:cNvSpPr/>
          <p:nvPr/>
        </p:nvSpPr>
        <p:spPr>
          <a:xfrm>
            <a:off x="3474720" y="3401568"/>
            <a:ext cx="2423160" cy="10515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git revert triggers automatic rollback — MTTR in seconds</a:t>
            </a:r>
            <a:endParaRPr lang="en-US" sz="1100" dirty="0"/>
          </a:p>
        </p:txBody>
      </p:sp>
      <p:sp>
        <p:nvSpPr>
          <p:cNvPr id="33" name="Shape 31"/>
          <p:cNvSpPr/>
          <p:nvPr/>
        </p:nvSpPr>
        <p:spPr>
          <a:xfrm>
            <a:off x="6217920" y="2880360"/>
            <a:ext cx="2697480" cy="1691640"/>
          </a:xfrm>
          <a:prstGeom prst="roundRect">
            <a:avLst>
              <a:gd name="adj" fmla="val 4865"/>
            </a:avLst>
          </a:prstGeom>
          <a:solidFill>
            <a:srgbClr val="161B22"/>
          </a:solidFill>
          <a:ln w="12700">
            <a:solidFill>
              <a:srgbClr val="2EA44F"/>
            </a:solidFill>
            <a:prstDash val="solid"/>
          </a:ln>
          <a:effectLst>
            <a:outerShdw sx="100000" sy="100000" kx="0" ky="0" algn="bl" rotWithShape="0" blurRad="101600" dist="38100" dir="2700000">
              <a:srgbClr val="000000">
                <a:alpha val="30000"/>
              </a:srgbClr>
            </a:outerShdw>
          </a:effectLst>
        </p:spPr>
      </p:sp>
      <p:sp>
        <p:nvSpPr>
          <p:cNvPr id="34" name="Text 32"/>
          <p:cNvSpPr/>
          <p:nvPr/>
        </p:nvSpPr>
        <p:spPr>
          <a:xfrm>
            <a:off x="6355080" y="2999232"/>
            <a:ext cx="2423160" cy="365760"/>
          </a:xfrm>
          <a:prstGeom prst="rect">
            <a:avLst/>
          </a:prstGeom>
          <a:noFill/>
          <a:ln/>
        </p:spPr>
        <p:txBody>
          <a:bodyPr wrap="square" lIns="0" tIns="0" rIns="0" bIns="0" rtlCol="0" anchor="ctr"/>
          <a:lstStyle/>
          <a:p>
            <a:pPr indent="0" marL="0">
              <a:buNone/>
            </a:pPr>
            <a:r>
              <a:rPr lang="en-US" sz="1400" b="1" dirty="0">
                <a:solidFill>
                  <a:srgbClr val="2EA44F"/>
                </a:solidFill>
                <a:latin typeface="Calibri" pitchFamily="34" charset="0"/>
                <a:ea typeface="Calibri" pitchFamily="34" charset="-122"/>
                <a:cs typeface="Calibri" pitchFamily="34" charset="-120"/>
              </a:rPr>
              <a:t>Declarative State</a:t>
            </a:r>
            <a:endParaRPr lang="en-US" sz="1400" dirty="0"/>
          </a:p>
        </p:txBody>
      </p:sp>
      <p:sp>
        <p:nvSpPr>
          <p:cNvPr id="35" name="Text 33"/>
          <p:cNvSpPr/>
          <p:nvPr/>
        </p:nvSpPr>
        <p:spPr>
          <a:xfrm>
            <a:off x="6355080" y="3401568"/>
            <a:ext cx="2423160" cy="10515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Cluster state always matches Git — infrastructure as truth</a:t>
            </a:r>
            <a:endParaRPr lang="en-US" sz="1100" dirty="0"/>
          </a:p>
        </p:txBody>
      </p:sp>
      <p:sp>
        <p:nvSpPr>
          <p:cNvPr id="36" name="Text 34"/>
          <p:cNvSpPr/>
          <p:nvPr/>
        </p:nvSpPr>
        <p:spPr>
          <a:xfrm>
            <a:off x="457200" y="4754880"/>
            <a:ext cx="82296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ArgoCD installed via Helm  ·  Tracks GitHub repo  ·  Application health monitoring built-in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E3B341"/>
                </a:solidFill>
                <a:latin typeface="Calibri" pitchFamily="34" charset="0"/>
                <a:ea typeface="Calibri" pitchFamily="34" charset="-122"/>
                <a:cs typeface="Calibri" pitchFamily="34" charset="-120"/>
              </a:rPr>
              <a:t>MONITORING &amp; OBSERVABILITY</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Full-Stack Observability Platform</a:t>
            </a:r>
            <a:endParaRPr lang="en-US" sz="3200" dirty="0"/>
          </a:p>
        </p:txBody>
      </p:sp>
      <p:sp>
        <p:nvSpPr>
          <p:cNvPr id="4" name="Shape 2"/>
          <p:cNvSpPr/>
          <p:nvPr/>
        </p:nvSpPr>
        <p:spPr>
          <a:xfrm>
            <a:off x="2743200" y="1280160"/>
            <a:ext cx="6126480" cy="2834640"/>
          </a:xfrm>
          <a:prstGeom prst="roundRect">
            <a:avLst>
              <a:gd name="adj" fmla="val 3871"/>
            </a:avLst>
          </a:prstGeom>
          <a:solidFill>
            <a:srgbClr val="161B22"/>
          </a:solidFill>
          <a:ln w="19050">
            <a:solidFill>
              <a:srgbClr val="30363D"/>
            </a:solidFill>
            <a:prstDash val="dash"/>
          </a:ln>
        </p:spPr>
      </p:sp>
      <p:sp>
        <p:nvSpPr>
          <p:cNvPr id="5" name="Text 3"/>
          <p:cNvSpPr/>
          <p:nvPr/>
        </p:nvSpPr>
        <p:spPr>
          <a:xfrm>
            <a:off x="2743200" y="1280160"/>
            <a:ext cx="6126480" cy="2834640"/>
          </a:xfrm>
          <a:prstGeom prst="rect">
            <a:avLst/>
          </a:prstGeom>
          <a:noFill/>
          <a:ln/>
        </p:spPr>
        <p:txBody>
          <a:bodyPr wrap="square" lIns="0" tIns="0" rIns="0" bIns="0" rtlCol="0" anchor="ctr"/>
          <a:lstStyle/>
          <a:p>
            <a:pPr algn="ctr" indent="0" marL="0">
              <a:buNone/>
            </a:pPr>
            <a:r>
              <a:rPr lang="en-US" sz="1300" i="1" dirty="0">
                <a:solidFill>
                  <a:srgbClr val="6E7681"/>
                </a:solidFill>
                <a:latin typeface="Calibri" pitchFamily="34" charset="0"/>
                <a:ea typeface="Calibri" pitchFamily="34" charset="-122"/>
                <a:cs typeface="Calibri" pitchFamily="34" charset="-120"/>
              </a:rPr>
              <a:t>[ Insert Prometheus / Grafana Dashboard Screenshot ]</a:t>
            </a:r>
            <a:endParaRPr lang="en-US" sz="1300" dirty="0"/>
          </a:p>
        </p:txBody>
      </p:sp>
      <p:sp>
        <p:nvSpPr>
          <p:cNvPr id="6" name="Shape 4"/>
          <p:cNvSpPr/>
          <p:nvPr/>
        </p:nvSpPr>
        <p:spPr>
          <a:xfrm>
            <a:off x="457200" y="1280160"/>
            <a:ext cx="2103120" cy="594360"/>
          </a:xfrm>
          <a:prstGeom prst="roundRect">
            <a:avLst>
              <a:gd name="adj" fmla="val 10769"/>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594360" y="1344168"/>
            <a:ext cx="1828800" cy="256032"/>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Prometheus</a:t>
            </a:r>
            <a:endParaRPr lang="en-US" sz="1300" dirty="0"/>
          </a:p>
        </p:txBody>
      </p:sp>
      <p:sp>
        <p:nvSpPr>
          <p:cNvPr id="8" name="Text 6"/>
          <p:cNvSpPr/>
          <p:nvPr/>
        </p:nvSpPr>
        <p:spPr>
          <a:xfrm>
            <a:off x="594360" y="1572768"/>
            <a:ext cx="18288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Metrics scraping</a:t>
            </a:r>
            <a:endParaRPr lang="en-US" sz="1000" dirty="0"/>
          </a:p>
        </p:txBody>
      </p:sp>
      <p:sp>
        <p:nvSpPr>
          <p:cNvPr id="9" name="Shape 7"/>
          <p:cNvSpPr/>
          <p:nvPr/>
        </p:nvSpPr>
        <p:spPr>
          <a:xfrm>
            <a:off x="457200" y="2002536"/>
            <a:ext cx="2103120" cy="594360"/>
          </a:xfrm>
          <a:prstGeom prst="roundRect">
            <a:avLst>
              <a:gd name="adj" fmla="val 10769"/>
            </a:avLst>
          </a:prstGeom>
          <a:solidFill>
            <a:srgbClr val="161B22"/>
          </a:solidFill>
          <a:ln w="12700">
            <a:solidFill>
              <a:srgbClr val="E3B341"/>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594360" y="2066544"/>
            <a:ext cx="1828800" cy="256032"/>
          </a:xfrm>
          <a:prstGeom prst="rect">
            <a:avLst/>
          </a:prstGeom>
          <a:noFill/>
          <a:ln/>
        </p:spPr>
        <p:txBody>
          <a:bodyPr wrap="square" lIns="0" tIns="0" rIns="0" bIns="0" rtlCol="0" anchor="ctr"/>
          <a:lstStyle/>
          <a:p>
            <a:pPr indent="0" marL="0">
              <a:buNone/>
            </a:pPr>
            <a:r>
              <a:rPr lang="en-US" sz="1300" b="1" dirty="0">
                <a:solidFill>
                  <a:srgbClr val="E3B341"/>
                </a:solidFill>
                <a:latin typeface="Calibri" pitchFamily="34" charset="0"/>
                <a:ea typeface="Calibri" pitchFamily="34" charset="-122"/>
                <a:cs typeface="Calibri" pitchFamily="34" charset="-120"/>
              </a:rPr>
              <a:t>Grafana</a:t>
            </a:r>
            <a:endParaRPr lang="en-US" sz="1300" dirty="0"/>
          </a:p>
        </p:txBody>
      </p:sp>
      <p:sp>
        <p:nvSpPr>
          <p:cNvPr id="11" name="Text 9"/>
          <p:cNvSpPr/>
          <p:nvPr/>
        </p:nvSpPr>
        <p:spPr>
          <a:xfrm>
            <a:off x="594360" y="2295144"/>
            <a:ext cx="18288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Dashboards &amp; alerts</a:t>
            </a:r>
            <a:endParaRPr lang="en-US" sz="1000" dirty="0"/>
          </a:p>
        </p:txBody>
      </p:sp>
      <p:sp>
        <p:nvSpPr>
          <p:cNvPr id="12" name="Shape 10"/>
          <p:cNvSpPr/>
          <p:nvPr/>
        </p:nvSpPr>
        <p:spPr>
          <a:xfrm>
            <a:off x="457200" y="2724912"/>
            <a:ext cx="2103120" cy="594360"/>
          </a:xfrm>
          <a:prstGeom prst="roundRect">
            <a:avLst>
              <a:gd name="adj" fmla="val 10769"/>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594360" y="2788920"/>
            <a:ext cx="1828800" cy="256032"/>
          </a:xfrm>
          <a:prstGeom prst="rect">
            <a:avLst/>
          </a:prstGeom>
          <a:noFill/>
          <a:ln/>
        </p:spPr>
        <p:txBody>
          <a:bodyPr wrap="square" lIns="0" tIns="0" rIns="0" bIns="0" rtlCol="0" anchor="ctr"/>
          <a:lstStyle/>
          <a:p>
            <a:pPr indent="0" marL="0">
              <a:buNone/>
            </a:pPr>
            <a:r>
              <a:rPr lang="en-US" sz="1300" b="1" dirty="0">
                <a:solidFill>
                  <a:srgbClr val="00A4BD"/>
                </a:solidFill>
                <a:latin typeface="Calibri" pitchFamily="34" charset="0"/>
                <a:ea typeface="Calibri" pitchFamily="34" charset="-122"/>
                <a:cs typeface="Calibri" pitchFamily="34" charset="-120"/>
              </a:rPr>
              <a:t>CloudWatch</a:t>
            </a:r>
            <a:endParaRPr lang="en-US" sz="1300" dirty="0"/>
          </a:p>
        </p:txBody>
      </p:sp>
      <p:sp>
        <p:nvSpPr>
          <p:cNvPr id="14" name="Text 12"/>
          <p:cNvSpPr/>
          <p:nvPr/>
        </p:nvSpPr>
        <p:spPr>
          <a:xfrm>
            <a:off x="594360" y="3017520"/>
            <a:ext cx="18288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AWS infra metrics</a:t>
            </a:r>
            <a:endParaRPr lang="en-US" sz="1000" dirty="0"/>
          </a:p>
        </p:txBody>
      </p:sp>
      <p:sp>
        <p:nvSpPr>
          <p:cNvPr id="15" name="Shape 13"/>
          <p:cNvSpPr/>
          <p:nvPr/>
        </p:nvSpPr>
        <p:spPr>
          <a:xfrm>
            <a:off x="457200" y="3447288"/>
            <a:ext cx="2103120" cy="594360"/>
          </a:xfrm>
          <a:prstGeom prst="roundRect">
            <a:avLst>
              <a:gd name="adj" fmla="val 10769"/>
            </a:avLst>
          </a:prstGeom>
          <a:solidFill>
            <a:srgbClr val="161B22"/>
          </a:solidFill>
          <a:ln w="12700">
            <a:solidFill>
              <a:srgbClr val="2EA44F"/>
            </a:solidFill>
            <a:prstDash val="solid"/>
          </a:ln>
          <a:effectLst>
            <a:outerShdw sx="100000" sy="100000" kx="0" ky="0" algn="bl" rotWithShape="0" blurRad="101600" dist="38100" dir="2700000">
              <a:srgbClr val="000000">
                <a:alpha val="30000"/>
              </a:srgbClr>
            </a:outerShdw>
          </a:effectLst>
        </p:spPr>
      </p:sp>
      <p:sp>
        <p:nvSpPr>
          <p:cNvPr id="16" name="Text 14"/>
          <p:cNvSpPr/>
          <p:nvPr/>
        </p:nvSpPr>
        <p:spPr>
          <a:xfrm>
            <a:off x="594360" y="3511296"/>
            <a:ext cx="1828800" cy="256032"/>
          </a:xfrm>
          <a:prstGeom prst="rect">
            <a:avLst/>
          </a:prstGeom>
          <a:noFill/>
          <a:ln/>
        </p:spPr>
        <p:txBody>
          <a:bodyPr wrap="square" lIns="0" tIns="0" rIns="0" bIns="0" rtlCol="0" anchor="ctr"/>
          <a:lstStyle/>
          <a:p>
            <a:pPr indent="0" marL="0">
              <a:buNone/>
            </a:pPr>
            <a:r>
              <a:rPr lang="en-US" sz="1300" b="1" dirty="0">
                <a:solidFill>
                  <a:srgbClr val="2EA44F"/>
                </a:solidFill>
                <a:latin typeface="Calibri" pitchFamily="34" charset="0"/>
                <a:ea typeface="Calibri" pitchFamily="34" charset="-122"/>
                <a:cs typeface="Calibri" pitchFamily="34" charset="-120"/>
              </a:rPr>
              <a:t>CloudTrail</a:t>
            </a:r>
            <a:endParaRPr lang="en-US" sz="1300" dirty="0"/>
          </a:p>
        </p:txBody>
      </p:sp>
      <p:sp>
        <p:nvSpPr>
          <p:cNvPr id="17" name="Text 15"/>
          <p:cNvSpPr/>
          <p:nvPr/>
        </p:nvSpPr>
        <p:spPr>
          <a:xfrm>
            <a:off x="594360" y="3739896"/>
            <a:ext cx="18288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API audit logging</a:t>
            </a:r>
            <a:endParaRPr lang="en-US" sz="1000" dirty="0"/>
          </a:p>
        </p:txBody>
      </p:sp>
      <p:sp>
        <p:nvSpPr>
          <p:cNvPr id="18" name="Shape 16"/>
          <p:cNvSpPr/>
          <p:nvPr/>
        </p:nvSpPr>
        <p:spPr>
          <a:xfrm>
            <a:off x="457200" y="4251960"/>
            <a:ext cx="1581912" cy="566928"/>
          </a:xfrm>
          <a:prstGeom prst="roundRect">
            <a:avLst>
              <a:gd name="adj" fmla="val 9677"/>
            </a:avLst>
          </a:prstGeom>
          <a:solidFill>
            <a:srgbClr val="1C2333"/>
          </a:solidFill>
          <a:ln w="8890">
            <a:solidFill>
              <a:srgbClr val="30363D"/>
            </a:solidFill>
            <a:prstDash val="solid"/>
          </a:ln>
          <a:effectLst>
            <a:outerShdw sx="100000" sy="100000" kx="0" ky="0" algn="bl" rotWithShape="0" blurRad="101600" dist="38100" dir="2700000">
              <a:srgbClr val="000000">
                <a:alpha val="30000"/>
              </a:srgbClr>
            </a:outerShdw>
          </a:effectLst>
        </p:spPr>
      </p:sp>
      <p:sp>
        <p:nvSpPr>
          <p:cNvPr id="19" name="Text 17"/>
          <p:cNvSpPr/>
          <p:nvPr/>
        </p:nvSpPr>
        <p:spPr>
          <a:xfrm>
            <a:off x="457200" y="4251960"/>
            <a:ext cx="1581912" cy="56692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Request Latency (p99)</a:t>
            </a:r>
            <a:endParaRPr lang="en-US" sz="1000" dirty="0"/>
          </a:p>
        </p:txBody>
      </p:sp>
      <p:sp>
        <p:nvSpPr>
          <p:cNvPr id="20" name="Shape 18"/>
          <p:cNvSpPr/>
          <p:nvPr/>
        </p:nvSpPr>
        <p:spPr>
          <a:xfrm>
            <a:off x="2167128" y="4251960"/>
            <a:ext cx="1581912" cy="566928"/>
          </a:xfrm>
          <a:prstGeom prst="roundRect">
            <a:avLst>
              <a:gd name="adj" fmla="val 9677"/>
            </a:avLst>
          </a:prstGeom>
          <a:solidFill>
            <a:srgbClr val="1C2333"/>
          </a:solidFill>
          <a:ln w="8890">
            <a:solidFill>
              <a:srgbClr val="30363D"/>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2167128" y="4251960"/>
            <a:ext cx="1581912" cy="56692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Error Rate %</a:t>
            </a:r>
            <a:endParaRPr lang="en-US" sz="1000" dirty="0"/>
          </a:p>
        </p:txBody>
      </p:sp>
      <p:sp>
        <p:nvSpPr>
          <p:cNvPr id="22" name="Shape 20"/>
          <p:cNvSpPr/>
          <p:nvPr/>
        </p:nvSpPr>
        <p:spPr>
          <a:xfrm>
            <a:off x="3877056" y="4251960"/>
            <a:ext cx="1581912" cy="566928"/>
          </a:xfrm>
          <a:prstGeom prst="roundRect">
            <a:avLst>
              <a:gd name="adj" fmla="val 9677"/>
            </a:avLst>
          </a:prstGeom>
          <a:solidFill>
            <a:srgbClr val="1C2333"/>
          </a:solidFill>
          <a:ln w="8890">
            <a:solidFill>
              <a:srgbClr val="30363D"/>
            </a:solidFill>
            <a:prstDash val="solid"/>
          </a:ln>
          <a:effectLst>
            <a:outerShdw sx="100000" sy="100000" kx="0" ky="0" algn="bl" rotWithShape="0" blurRad="101600" dist="38100" dir="2700000">
              <a:srgbClr val="000000">
                <a:alpha val="30000"/>
              </a:srgbClr>
            </a:outerShdw>
          </a:effectLst>
        </p:spPr>
      </p:sp>
      <p:sp>
        <p:nvSpPr>
          <p:cNvPr id="23" name="Text 21"/>
          <p:cNvSpPr/>
          <p:nvPr/>
        </p:nvSpPr>
        <p:spPr>
          <a:xfrm>
            <a:off x="3877056" y="4251960"/>
            <a:ext cx="1581912" cy="56692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Pod CPU Usage</a:t>
            </a:r>
            <a:endParaRPr lang="en-US" sz="1000" dirty="0"/>
          </a:p>
        </p:txBody>
      </p:sp>
      <p:sp>
        <p:nvSpPr>
          <p:cNvPr id="24" name="Shape 22"/>
          <p:cNvSpPr/>
          <p:nvPr/>
        </p:nvSpPr>
        <p:spPr>
          <a:xfrm>
            <a:off x="5586984" y="4251960"/>
            <a:ext cx="1581912" cy="566928"/>
          </a:xfrm>
          <a:prstGeom prst="roundRect">
            <a:avLst>
              <a:gd name="adj" fmla="val 9677"/>
            </a:avLst>
          </a:prstGeom>
          <a:solidFill>
            <a:srgbClr val="1C2333"/>
          </a:solidFill>
          <a:ln w="8890">
            <a:solidFill>
              <a:srgbClr val="30363D"/>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5586984" y="4251960"/>
            <a:ext cx="1581912" cy="56692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Memory Consumption</a:t>
            </a:r>
            <a:endParaRPr lang="en-US" sz="1000" dirty="0"/>
          </a:p>
        </p:txBody>
      </p:sp>
      <p:sp>
        <p:nvSpPr>
          <p:cNvPr id="26" name="Shape 24"/>
          <p:cNvSpPr/>
          <p:nvPr/>
        </p:nvSpPr>
        <p:spPr>
          <a:xfrm>
            <a:off x="7296912" y="4251960"/>
            <a:ext cx="1581912" cy="566928"/>
          </a:xfrm>
          <a:prstGeom prst="roundRect">
            <a:avLst>
              <a:gd name="adj" fmla="val 9677"/>
            </a:avLst>
          </a:prstGeom>
          <a:solidFill>
            <a:srgbClr val="1C2333"/>
          </a:solidFill>
          <a:ln w="8890">
            <a:solidFill>
              <a:srgbClr val="30363D"/>
            </a:solidFill>
            <a:prstDash val="solid"/>
          </a:ln>
          <a:effectLst>
            <a:outerShdw sx="100000" sy="100000" kx="0" ky="0" algn="bl" rotWithShape="0" blurRad="101600" dist="38100" dir="2700000">
              <a:srgbClr val="000000">
                <a:alpha val="30000"/>
              </a:srgbClr>
            </a:outerShdw>
          </a:effectLst>
        </p:spPr>
      </p:sp>
      <p:sp>
        <p:nvSpPr>
          <p:cNvPr id="27" name="Text 25"/>
          <p:cNvSpPr/>
          <p:nvPr/>
        </p:nvSpPr>
        <p:spPr>
          <a:xfrm>
            <a:off x="7296912" y="4251960"/>
            <a:ext cx="1581912" cy="56692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Pod Restart Count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E3B341"/>
                </a:solidFill>
                <a:latin typeface="Calibri" pitchFamily="34" charset="0"/>
                <a:ea typeface="Calibri" pitchFamily="34" charset="-122"/>
                <a:cs typeface="Calibri" pitchFamily="34" charset="-120"/>
              </a:rPr>
              <a:t>EVENT-DRIVEN ARCHITECTURE</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Async Notification Pipeline</a:t>
            </a:r>
            <a:endParaRPr lang="en-US" sz="3200" dirty="0"/>
          </a:p>
        </p:txBody>
      </p:sp>
      <p:sp>
        <p:nvSpPr>
          <p:cNvPr id="4" name="Shape 2"/>
          <p:cNvSpPr/>
          <p:nvPr/>
        </p:nvSpPr>
        <p:spPr>
          <a:xfrm>
            <a:off x="548640" y="1737360"/>
            <a:ext cx="1508760" cy="1234440"/>
          </a:xfrm>
          <a:prstGeom prst="roundRect">
            <a:avLst>
              <a:gd name="adj" fmla="val 7407"/>
            </a:avLst>
          </a:prstGeom>
          <a:solidFill>
            <a:srgbClr val="161B22"/>
          </a:solidFill>
          <a:ln w="19050">
            <a:solidFill>
              <a:srgbClr val="E3B341"/>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548640" y="1737360"/>
            <a:ext cx="1508760" cy="1234440"/>
          </a:xfrm>
          <a:prstGeom prst="rect">
            <a:avLst/>
          </a:prstGeom>
          <a:noFill/>
          <a:ln/>
        </p:spPr>
        <p:txBody>
          <a:bodyPr wrap="square" lIns="0" tIns="0" rIns="0" bIns="0" rtlCol="0" anchor="ctr"/>
          <a:lstStyle/>
          <a:p>
            <a:pPr algn="ctr" indent="0" marL="0">
              <a:buNone/>
            </a:pPr>
            <a:r>
              <a:rPr lang="en-US" sz="1300" b="1" dirty="0">
                <a:solidFill>
                  <a:srgbClr val="E3B341"/>
                </a:solidFill>
                <a:latin typeface="Calibri" pitchFamily="34" charset="0"/>
                <a:ea typeface="Calibri" pitchFamily="34" charset="-122"/>
                <a:cs typeface="Calibri" pitchFamily="34" charset="-120"/>
              </a:rPr>
              <a:t>Booking</a:t>
            </a:r>
            <a:endParaRPr lang="en-US" sz="1300" dirty="0"/>
          </a:p>
          <a:p>
            <a:pPr algn="ctr" indent="0" marL="0">
              <a:buNone/>
            </a:pPr>
            <a:r>
              <a:rPr lang="en-US" sz="1300" b="1" dirty="0">
                <a:solidFill>
                  <a:srgbClr val="E3B341"/>
                </a:solidFill>
                <a:latin typeface="Calibri" pitchFamily="34" charset="0"/>
                <a:ea typeface="Calibri" pitchFamily="34" charset="-122"/>
                <a:cs typeface="Calibri" pitchFamily="34" charset="-120"/>
              </a:rPr>
              <a:t>Created</a:t>
            </a:r>
            <a:endParaRPr lang="en-US" sz="1300" dirty="0"/>
          </a:p>
        </p:txBody>
      </p:sp>
      <p:sp>
        <p:nvSpPr>
          <p:cNvPr id="6" name="Shape 4"/>
          <p:cNvSpPr/>
          <p:nvPr/>
        </p:nvSpPr>
        <p:spPr>
          <a:xfrm>
            <a:off x="2057400" y="2350008"/>
            <a:ext cx="731520" cy="0"/>
          </a:xfrm>
          <a:prstGeom prst="line">
            <a:avLst/>
          </a:prstGeom>
          <a:noFill/>
          <a:ln w="22860">
            <a:solidFill>
              <a:srgbClr val="30363D"/>
            </a:solidFill>
            <a:prstDash val="solid"/>
          </a:ln>
        </p:spPr>
      </p:sp>
      <p:sp>
        <p:nvSpPr>
          <p:cNvPr id="7" name="Text 5"/>
          <p:cNvSpPr/>
          <p:nvPr/>
        </p:nvSpPr>
        <p:spPr>
          <a:xfrm>
            <a:off x="2057400" y="2212848"/>
            <a:ext cx="731520" cy="274320"/>
          </a:xfrm>
          <a:prstGeom prst="rect">
            <a:avLst/>
          </a:prstGeom>
          <a:noFill/>
          <a:ln/>
        </p:spPr>
        <p:txBody>
          <a:bodyPr wrap="square" lIns="0" tIns="0" rIns="0" bIns="0" rtlCol="0" anchor="ctr"/>
          <a:lstStyle/>
          <a:p>
            <a:pPr algn="ctr" indent="0" marL="0">
              <a:buNone/>
            </a:pPr>
            <a:r>
              <a:rPr lang="en-US" sz="1600" dirty="0">
                <a:solidFill>
                  <a:srgbClr val="FF9900"/>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240280" y="1737360"/>
            <a:ext cx="1508760" cy="1234440"/>
          </a:xfrm>
          <a:prstGeom prst="roundRect">
            <a:avLst>
              <a:gd name="adj" fmla="val 7407"/>
            </a:avLst>
          </a:prstGeom>
          <a:solidFill>
            <a:srgbClr val="161B22"/>
          </a:solidFill>
          <a:ln w="19050">
            <a:solidFill>
              <a:srgbClr val="FF9900"/>
            </a:solidFill>
            <a:prstDash val="solid"/>
          </a:ln>
          <a:effectLst>
            <a:outerShdw sx="100000" sy="100000" kx="0" ky="0" algn="bl" rotWithShape="0" blurRad="101600" dist="38100" dir="2700000">
              <a:srgbClr val="000000">
                <a:alpha val="30000"/>
              </a:srgbClr>
            </a:outerShdw>
          </a:effectLst>
        </p:spPr>
      </p:sp>
      <p:sp>
        <p:nvSpPr>
          <p:cNvPr id="9" name="Text 7"/>
          <p:cNvSpPr/>
          <p:nvPr/>
        </p:nvSpPr>
        <p:spPr>
          <a:xfrm>
            <a:off x="2240280" y="1737360"/>
            <a:ext cx="1508760" cy="1234440"/>
          </a:xfrm>
          <a:prstGeom prst="rect">
            <a:avLst/>
          </a:prstGeom>
          <a:noFill/>
          <a:ln/>
        </p:spPr>
        <p:txBody>
          <a:bodyPr wrap="square" lIns="0" tIns="0" rIns="0" bIns="0"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Amazon</a:t>
            </a:r>
            <a:endParaRPr lang="en-US" sz="1300" dirty="0"/>
          </a:p>
          <a:p>
            <a:pPr algn="ctr" indent="0" marL="0">
              <a:buNone/>
            </a:pPr>
            <a:r>
              <a:rPr lang="en-US" sz="1300" b="1" dirty="0">
                <a:solidFill>
                  <a:srgbClr val="FF9900"/>
                </a:solidFill>
                <a:latin typeface="Calibri" pitchFamily="34" charset="0"/>
                <a:ea typeface="Calibri" pitchFamily="34" charset="-122"/>
                <a:cs typeface="Calibri" pitchFamily="34" charset="-120"/>
              </a:rPr>
              <a:t>SQS</a:t>
            </a:r>
            <a:endParaRPr lang="en-US" sz="1300" dirty="0"/>
          </a:p>
        </p:txBody>
      </p:sp>
      <p:sp>
        <p:nvSpPr>
          <p:cNvPr id="10" name="Shape 8"/>
          <p:cNvSpPr/>
          <p:nvPr/>
        </p:nvSpPr>
        <p:spPr>
          <a:xfrm>
            <a:off x="3749040" y="2350008"/>
            <a:ext cx="731520" cy="0"/>
          </a:xfrm>
          <a:prstGeom prst="line">
            <a:avLst/>
          </a:prstGeom>
          <a:noFill/>
          <a:ln w="22860">
            <a:solidFill>
              <a:srgbClr val="30363D"/>
            </a:solidFill>
            <a:prstDash val="solid"/>
          </a:ln>
        </p:spPr>
      </p:sp>
      <p:sp>
        <p:nvSpPr>
          <p:cNvPr id="11" name="Text 9"/>
          <p:cNvSpPr/>
          <p:nvPr/>
        </p:nvSpPr>
        <p:spPr>
          <a:xfrm>
            <a:off x="3749040" y="2212848"/>
            <a:ext cx="731520" cy="274320"/>
          </a:xfrm>
          <a:prstGeom prst="rect">
            <a:avLst/>
          </a:prstGeom>
          <a:noFill/>
          <a:ln/>
        </p:spPr>
        <p:txBody>
          <a:bodyPr wrap="square" lIns="0" tIns="0" rIns="0" bIns="0" rtlCol="0" anchor="ctr"/>
          <a:lstStyle/>
          <a:p>
            <a:pPr algn="ctr" indent="0" marL="0">
              <a:buNone/>
            </a:pPr>
            <a:r>
              <a:rPr lang="en-US" sz="1600" dirty="0">
                <a:solidFill>
                  <a:srgbClr val="FF9900"/>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3931920" y="1737360"/>
            <a:ext cx="1508760" cy="1234440"/>
          </a:xfrm>
          <a:prstGeom prst="roundRect">
            <a:avLst>
              <a:gd name="adj" fmla="val 7407"/>
            </a:avLst>
          </a:prstGeom>
          <a:solidFill>
            <a:srgbClr val="161B22"/>
          </a:solidFill>
          <a:ln w="19050">
            <a:solidFill>
              <a:srgbClr val="00A4BD"/>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3931920" y="1737360"/>
            <a:ext cx="1508760" cy="1234440"/>
          </a:xfrm>
          <a:prstGeom prst="rect">
            <a:avLst/>
          </a:prstGeom>
          <a:noFill/>
          <a:ln/>
        </p:spPr>
        <p:txBody>
          <a:bodyPr wrap="square" lIns="0" tIns="0" rIns="0" bIns="0" rtlCol="0" anchor="ctr"/>
          <a:lstStyle/>
          <a:p>
            <a:pPr algn="ctr" indent="0" marL="0">
              <a:buNone/>
            </a:pPr>
            <a:r>
              <a:rPr lang="en-US" sz="1300" b="1" dirty="0">
                <a:solidFill>
                  <a:srgbClr val="00A4BD"/>
                </a:solidFill>
                <a:latin typeface="Calibri" pitchFamily="34" charset="0"/>
                <a:ea typeface="Calibri" pitchFamily="34" charset="-122"/>
                <a:cs typeface="Calibri" pitchFamily="34" charset="-120"/>
              </a:rPr>
              <a:t>AWS</a:t>
            </a:r>
            <a:endParaRPr lang="en-US" sz="1300" dirty="0"/>
          </a:p>
          <a:p>
            <a:pPr algn="ctr" indent="0" marL="0">
              <a:buNone/>
            </a:pPr>
            <a:r>
              <a:rPr lang="en-US" sz="1300" b="1" dirty="0">
                <a:solidFill>
                  <a:srgbClr val="00A4BD"/>
                </a:solidFill>
                <a:latin typeface="Calibri" pitchFamily="34" charset="0"/>
                <a:ea typeface="Calibri" pitchFamily="34" charset="-122"/>
                <a:cs typeface="Calibri" pitchFamily="34" charset="-120"/>
              </a:rPr>
              <a:t>Lambda</a:t>
            </a:r>
            <a:endParaRPr lang="en-US" sz="1300" dirty="0"/>
          </a:p>
        </p:txBody>
      </p:sp>
      <p:sp>
        <p:nvSpPr>
          <p:cNvPr id="14" name="Shape 12"/>
          <p:cNvSpPr/>
          <p:nvPr/>
        </p:nvSpPr>
        <p:spPr>
          <a:xfrm>
            <a:off x="5440680" y="2350008"/>
            <a:ext cx="731520" cy="0"/>
          </a:xfrm>
          <a:prstGeom prst="line">
            <a:avLst/>
          </a:prstGeom>
          <a:noFill/>
          <a:ln w="22860">
            <a:solidFill>
              <a:srgbClr val="30363D"/>
            </a:solidFill>
            <a:prstDash val="solid"/>
          </a:ln>
        </p:spPr>
      </p:sp>
      <p:sp>
        <p:nvSpPr>
          <p:cNvPr id="15" name="Text 13"/>
          <p:cNvSpPr/>
          <p:nvPr/>
        </p:nvSpPr>
        <p:spPr>
          <a:xfrm>
            <a:off x="5440680" y="2212848"/>
            <a:ext cx="731520" cy="274320"/>
          </a:xfrm>
          <a:prstGeom prst="rect">
            <a:avLst/>
          </a:prstGeom>
          <a:noFill/>
          <a:ln/>
        </p:spPr>
        <p:txBody>
          <a:bodyPr wrap="square" lIns="0" tIns="0" rIns="0" bIns="0" rtlCol="0" anchor="ctr"/>
          <a:lstStyle/>
          <a:p>
            <a:pPr algn="ctr" indent="0" marL="0">
              <a:buNone/>
            </a:pPr>
            <a:r>
              <a:rPr lang="en-US" sz="1600" dirty="0">
                <a:solidFill>
                  <a:srgbClr val="FF990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623560" y="1737360"/>
            <a:ext cx="1508760" cy="1234440"/>
          </a:xfrm>
          <a:prstGeom prst="roundRect">
            <a:avLst>
              <a:gd name="adj" fmla="val 7407"/>
            </a:avLst>
          </a:prstGeom>
          <a:solidFill>
            <a:srgbClr val="161B22"/>
          </a:solidFill>
          <a:ln w="19050">
            <a:solidFill>
              <a:srgbClr val="2EA44F"/>
            </a:solidFill>
            <a:prstDash val="solid"/>
          </a:ln>
          <a:effectLst>
            <a:outerShdw sx="100000" sy="100000" kx="0" ky="0" algn="bl" rotWithShape="0" blurRad="101600" dist="38100" dir="2700000">
              <a:srgbClr val="000000">
                <a:alpha val="30000"/>
              </a:srgbClr>
            </a:outerShdw>
          </a:effectLst>
        </p:spPr>
      </p:sp>
      <p:sp>
        <p:nvSpPr>
          <p:cNvPr id="17" name="Text 15"/>
          <p:cNvSpPr/>
          <p:nvPr/>
        </p:nvSpPr>
        <p:spPr>
          <a:xfrm>
            <a:off x="5623560" y="1737360"/>
            <a:ext cx="1508760" cy="1234440"/>
          </a:xfrm>
          <a:prstGeom prst="rect">
            <a:avLst/>
          </a:prstGeom>
          <a:noFill/>
          <a:ln/>
        </p:spPr>
        <p:txBody>
          <a:bodyPr wrap="square" lIns="0" tIns="0" rIns="0" bIns="0" rtlCol="0" anchor="ctr"/>
          <a:lstStyle/>
          <a:p>
            <a:pPr algn="ctr" indent="0" marL="0">
              <a:buNone/>
            </a:pPr>
            <a:r>
              <a:rPr lang="en-US" sz="1300" b="1" dirty="0">
                <a:solidFill>
                  <a:srgbClr val="2EA44F"/>
                </a:solidFill>
                <a:latin typeface="Calibri" pitchFamily="34" charset="0"/>
                <a:ea typeface="Calibri" pitchFamily="34" charset="-122"/>
                <a:cs typeface="Calibri" pitchFamily="34" charset="-120"/>
              </a:rPr>
              <a:t>Amazon</a:t>
            </a:r>
            <a:endParaRPr lang="en-US" sz="1300" dirty="0"/>
          </a:p>
          <a:p>
            <a:pPr algn="ctr" indent="0" marL="0">
              <a:buNone/>
            </a:pPr>
            <a:r>
              <a:rPr lang="en-US" sz="1300" b="1" dirty="0">
                <a:solidFill>
                  <a:srgbClr val="2EA44F"/>
                </a:solidFill>
                <a:latin typeface="Calibri" pitchFamily="34" charset="0"/>
                <a:ea typeface="Calibri" pitchFamily="34" charset="-122"/>
                <a:cs typeface="Calibri" pitchFamily="34" charset="-120"/>
              </a:rPr>
              <a:t>SNS</a:t>
            </a:r>
            <a:endParaRPr lang="en-US" sz="1300" dirty="0"/>
          </a:p>
        </p:txBody>
      </p:sp>
      <p:sp>
        <p:nvSpPr>
          <p:cNvPr id="18" name="Shape 16"/>
          <p:cNvSpPr/>
          <p:nvPr/>
        </p:nvSpPr>
        <p:spPr>
          <a:xfrm>
            <a:off x="7132320" y="2350008"/>
            <a:ext cx="731520" cy="0"/>
          </a:xfrm>
          <a:prstGeom prst="line">
            <a:avLst/>
          </a:prstGeom>
          <a:noFill/>
          <a:ln w="22860">
            <a:solidFill>
              <a:srgbClr val="30363D"/>
            </a:solidFill>
            <a:prstDash val="solid"/>
          </a:ln>
        </p:spPr>
      </p:sp>
      <p:sp>
        <p:nvSpPr>
          <p:cNvPr id="19" name="Text 17"/>
          <p:cNvSpPr/>
          <p:nvPr/>
        </p:nvSpPr>
        <p:spPr>
          <a:xfrm>
            <a:off x="7132320" y="2212848"/>
            <a:ext cx="731520" cy="274320"/>
          </a:xfrm>
          <a:prstGeom prst="rect">
            <a:avLst/>
          </a:prstGeom>
          <a:noFill/>
          <a:ln/>
        </p:spPr>
        <p:txBody>
          <a:bodyPr wrap="square" lIns="0" tIns="0" rIns="0" bIns="0" rtlCol="0" anchor="ctr"/>
          <a:lstStyle/>
          <a:p>
            <a:pPr algn="ctr" indent="0" marL="0">
              <a:buNone/>
            </a:pPr>
            <a:r>
              <a:rPr lang="en-US" sz="1600" dirty="0">
                <a:solidFill>
                  <a:srgbClr val="FF9900"/>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315200" y="1737360"/>
            <a:ext cx="1508760" cy="1234440"/>
          </a:xfrm>
          <a:prstGeom prst="roundRect">
            <a:avLst>
              <a:gd name="adj" fmla="val 7407"/>
            </a:avLst>
          </a:prstGeom>
          <a:solidFill>
            <a:srgbClr val="161B22"/>
          </a:solidFill>
          <a:ln w="19050">
            <a:solidFill>
              <a:srgbClr val="A371F7"/>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7315200" y="1737360"/>
            <a:ext cx="1508760" cy="1234440"/>
          </a:xfrm>
          <a:prstGeom prst="rect">
            <a:avLst/>
          </a:prstGeom>
          <a:noFill/>
          <a:ln/>
        </p:spPr>
        <p:txBody>
          <a:bodyPr wrap="square" lIns="0" tIns="0" rIns="0" bIns="0" rtlCol="0" anchor="ctr"/>
          <a:lstStyle/>
          <a:p>
            <a:pPr algn="ctr" indent="0" marL="0">
              <a:buNone/>
            </a:pPr>
            <a:r>
              <a:rPr lang="en-US" sz="1300" b="1" dirty="0">
                <a:solidFill>
                  <a:srgbClr val="A371F7"/>
                </a:solidFill>
                <a:latin typeface="Calibri" pitchFamily="34" charset="0"/>
                <a:ea typeface="Calibri" pitchFamily="34" charset="-122"/>
                <a:cs typeface="Calibri" pitchFamily="34" charset="-120"/>
              </a:rPr>
              <a:t>Email</a:t>
            </a:r>
            <a:endParaRPr lang="en-US" sz="1300" dirty="0"/>
          </a:p>
          <a:p>
            <a:pPr algn="ctr" indent="0" marL="0">
              <a:buNone/>
            </a:pPr>
            <a:r>
              <a:rPr lang="en-US" sz="1300" b="1" dirty="0">
                <a:solidFill>
                  <a:srgbClr val="A371F7"/>
                </a:solidFill>
                <a:latin typeface="Calibri" pitchFamily="34" charset="0"/>
                <a:ea typeface="Calibri" pitchFamily="34" charset="-122"/>
                <a:cs typeface="Calibri" pitchFamily="34" charset="-120"/>
              </a:rPr>
              <a:t>Delivered</a:t>
            </a:r>
            <a:endParaRPr lang="en-US" sz="1300" dirty="0"/>
          </a:p>
        </p:txBody>
      </p:sp>
      <p:sp>
        <p:nvSpPr>
          <p:cNvPr id="22" name="Shape 20"/>
          <p:cNvSpPr/>
          <p:nvPr/>
        </p:nvSpPr>
        <p:spPr>
          <a:xfrm>
            <a:off x="457200" y="3154680"/>
            <a:ext cx="4023360" cy="749808"/>
          </a:xfrm>
          <a:prstGeom prst="roundRect">
            <a:avLst>
              <a:gd name="adj" fmla="val 8537"/>
            </a:avLst>
          </a:prstGeom>
          <a:solidFill>
            <a:srgbClr val="161B22"/>
          </a:solidFill>
          <a:ln w="10160">
            <a:solidFill>
              <a:srgbClr val="E3B341"/>
            </a:solidFill>
            <a:prstDash val="solid"/>
          </a:ln>
          <a:effectLst>
            <a:outerShdw sx="100000" sy="100000" kx="0" ky="0" algn="bl" rotWithShape="0" blurRad="101600" dist="38100" dir="2700000">
              <a:srgbClr val="000000">
                <a:alpha val="30000"/>
              </a:srgbClr>
            </a:outerShdw>
          </a:effectLst>
        </p:spPr>
      </p:sp>
      <p:sp>
        <p:nvSpPr>
          <p:cNvPr id="23" name="Text 21"/>
          <p:cNvSpPr/>
          <p:nvPr/>
        </p:nvSpPr>
        <p:spPr>
          <a:xfrm>
            <a:off x="594360" y="3218688"/>
            <a:ext cx="3749040" cy="256032"/>
          </a:xfrm>
          <a:prstGeom prst="rect">
            <a:avLst/>
          </a:prstGeom>
          <a:noFill/>
          <a:ln/>
        </p:spPr>
        <p:txBody>
          <a:bodyPr wrap="square" lIns="0" tIns="0" rIns="0" bIns="0" rtlCol="0" anchor="ctr"/>
          <a:lstStyle/>
          <a:p>
            <a:pPr indent="0" marL="0">
              <a:buNone/>
            </a:pPr>
            <a:r>
              <a:rPr lang="en-US" sz="1200" b="1" dirty="0">
                <a:solidFill>
                  <a:srgbClr val="E3B341"/>
                </a:solidFill>
                <a:latin typeface="Calibri" pitchFamily="34" charset="0"/>
                <a:ea typeface="Calibri" pitchFamily="34" charset="-122"/>
                <a:cs typeface="Calibri" pitchFamily="34" charset="-120"/>
              </a:rPr>
              <a:t>Decoupled Services</a:t>
            </a:r>
            <a:endParaRPr lang="en-US" sz="1200" dirty="0"/>
          </a:p>
        </p:txBody>
      </p:sp>
      <p:sp>
        <p:nvSpPr>
          <p:cNvPr id="24" name="Text 22"/>
          <p:cNvSpPr/>
          <p:nvPr/>
        </p:nvSpPr>
        <p:spPr>
          <a:xfrm>
            <a:off x="594360" y="3456432"/>
            <a:ext cx="3749040" cy="34747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booking-service doesn't wait for email delivery — fire and forget via SQS</a:t>
            </a:r>
            <a:endParaRPr lang="en-US" sz="1000" dirty="0"/>
          </a:p>
        </p:txBody>
      </p:sp>
      <p:sp>
        <p:nvSpPr>
          <p:cNvPr id="25" name="Shape 23"/>
          <p:cNvSpPr/>
          <p:nvPr/>
        </p:nvSpPr>
        <p:spPr>
          <a:xfrm>
            <a:off x="4754880" y="3154680"/>
            <a:ext cx="4023360" cy="749808"/>
          </a:xfrm>
          <a:prstGeom prst="roundRect">
            <a:avLst>
              <a:gd name="adj" fmla="val 8537"/>
            </a:avLst>
          </a:prstGeom>
          <a:solidFill>
            <a:srgbClr val="161B22"/>
          </a:solidFill>
          <a:ln w="10160">
            <a:solidFill>
              <a:srgbClr val="FF9900"/>
            </a:solidFill>
            <a:prstDash val="solid"/>
          </a:ln>
          <a:effectLst>
            <a:outerShdw sx="100000" sy="100000" kx="0" ky="0" algn="bl" rotWithShape="0" blurRad="101600" dist="38100" dir="2700000">
              <a:srgbClr val="000000">
                <a:alpha val="30000"/>
              </a:srgbClr>
            </a:outerShdw>
          </a:effectLst>
        </p:spPr>
      </p:sp>
      <p:sp>
        <p:nvSpPr>
          <p:cNvPr id="26" name="Text 24"/>
          <p:cNvSpPr/>
          <p:nvPr/>
        </p:nvSpPr>
        <p:spPr>
          <a:xfrm>
            <a:off x="4892040" y="3218688"/>
            <a:ext cx="3749040" cy="256032"/>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Serverless Processing</a:t>
            </a:r>
            <a:endParaRPr lang="en-US" sz="1200" dirty="0"/>
          </a:p>
        </p:txBody>
      </p:sp>
      <p:sp>
        <p:nvSpPr>
          <p:cNvPr id="27" name="Text 25"/>
          <p:cNvSpPr/>
          <p:nvPr/>
        </p:nvSpPr>
        <p:spPr>
          <a:xfrm>
            <a:off x="4892040" y="3456432"/>
            <a:ext cx="3749040" cy="34747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Lambda auto-scales to handle any notification volume without idle servers</a:t>
            </a:r>
            <a:endParaRPr lang="en-US" sz="1000" dirty="0"/>
          </a:p>
        </p:txBody>
      </p:sp>
      <p:sp>
        <p:nvSpPr>
          <p:cNvPr id="28" name="Shape 26"/>
          <p:cNvSpPr/>
          <p:nvPr/>
        </p:nvSpPr>
        <p:spPr>
          <a:xfrm>
            <a:off x="457200" y="4050792"/>
            <a:ext cx="4023360" cy="749808"/>
          </a:xfrm>
          <a:prstGeom prst="roundRect">
            <a:avLst>
              <a:gd name="adj" fmla="val 8537"/>
            </a:avLst>
          </a:prstGeom>
          <a:solidFill>
            <a:srgbClr val="161B22"/>
          </a:solidFill>
          <a:ln w="10160">
            <a:solidFill>
              <a:srgbClr val="2EA44F"/>
            </a:solidFill>
            <a:prstDash val="solid"/>
          </a:ln>
          <a:effectLst>
            <a:outerShdw sx="100000" sy="100000" kx="0" ky="0" algn="bl" rotWithShape="0" blurRad="101600" dist="38100" dir="2700000">
              <a:srgbClr val="000000">
                <a:alpha val="30000"/>
              </a:srgbClr>
            </a:outerShdw>
          </a:effectLst>
        </p:spPr>
      </p:sp>
      <p:sp>
        <p:nvSpPr>
          <p:cNvPr id="29" name="Text 27"/>
          <p:cNvSpPr/>
          <p:nvPr/>
        </p:nvSpPr>
        <p:spPr>
          <a:xfrm>
            <a:off x="594360" y="4114800"/>
            <a:ext cx="3749040" cy="256032"/>
          </a:xfrm>
          <a:prstGeom prst="rect">
            <a:avLst/>
          </a:prstGeom>
          <a:noFill/>
          <a:ln/>
        </p:spPr>
        <p:txBody>
          <a:bodyPr wrap="square" lIns="0" tIns="0" rIns="0" bIns="0" rtlCol="0" anchor="ctr"/>
          <a:lstStyle/>
          <a:p>
            <a:pPr indent="0" marL="0">
              <a:buNone/>
            </a:pPr>
            <a:r>
              <a:rPr lang="en-US" sz="1200" b="1" dirty="0">
                <a:solidFill>
                  <a:srgbClr val="2EA44F"/>
                </a:solidFill>
                <a:latin typeface="Calibri" pitchFamily="34" charset="0"/>
                <a:ea typeface="Calibri" pitchFamily="34" charset="-122"/>
                <a:cs typeface="Calibri" pitchFamily="34" charset="-120"/>
              </a:rPr>
              <a:t>Fan-Out via SNS</a:t>
            </a:r>
            <a:endParaRPr lang="en-US" sz="1200" dirty="0"/>
          </a:p>
        </p:txBody>
      </p:sp>
      <p:sp>
        <p:nvSpPr>
          <p:cNvPr id="30" name="Text 28"/>
          <p:cNvSpPr/>
          <p:nvPr/>
        </p:nvSpPr>
        <p:spPr>
          <a:xfrm>
            <a:off x="594360" y="4352544"/>
            <a:ext cx="3749040" cy="34747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SNS enables multi-channel delivery — email, SMS, or push from one publish</a:t>
            </a:r>
            <a:endParaRPr lang="en-US" sz="1000" dirty="0"/>
          </a:p>
        </p:txBody>
      </p:sp>
      <p:sp>
        <p:nvSpPr>
          <p:cNvPr id="31" name="Shape 29"/>
          <p:cNvSpPr/>
          <p:nvPr/>
        </p:nvSpPr>
        <p:spPr>
          <a:xfrm>
            <a:off x="4754880" y="4050792"/>
            <a:ext cx="4023360" cy="749808"/>
          </a:xfrm>
          <a:prstGeom prst="roundRect">
            <a:avLst>
              <a:gd name="adj" fmla="val 8537"/>
            </a:avLst>
          </a:prstGeom>
          <a:solidFill>
            <a:srgbClr val="161B22"/>
          </a:solidFill>
          <a:ln w="10160">
            <a:solidFill>
              <a:srgbClr val="00A4BD"/>
            </a:solidFill>
            <a:prstDash val="solid"/>
          </a:ln>
          <a:effectLst>
            <a:outerShdw sx="100000" sy="100000" kx="0" ky="0" algn="bl" rotWithShape="0" blurRad="101600" dist="38100" dir="2700000">
              <a:srgbClr val="000000">
                <a:alpha val="30000"/>
              </a:srgbClr>
            </a:outerShdw>
          </a:effectLst>
        </p:spPr>
      </p:sp>
      <p:sp>
        <p:nvSpPr>
          <p:cNvPr id="32" name="Text 30"/>
          <p:cNvSpPr/>
          <p:nvPr/>
        </p:nvSpPr>
        <p:spPr>
          <a:xfrm>
            <a:off x="4892040" y="4114800"/>
            <a:ext cx="3749040" cy="256032"/>
          </a:xfrm>
          <a:prstGeom prst="rect">
            <a:avLst/>
          </a:prstGeom>
          <a:noFill/>
          <a:ln/>
        </p:spPr>
        <p:txBody>
          <a:bodyPr wrap="square" lIns="0" tIns="0" rIns="0" bIns="0" rtlCol="0" anchor="ctr"/>
          <a:lstStyle/>
          <a:p>
            <a:pPr indent="0" marL="0">
              <a:buNone/>
            </a:pPr>
            <a:r>
              <a:rPr lang="en-US" sz="1200" b="1" dirty="0">
                <a:solidFill>
                  <a:srgbClr val="00A4BD"/>
                </a:solidFill>
                <a:latin typeface="Calibri" pitchFamily="34" charset="0"/>
                <a:ea typeface="Calibri" pitchFamily="34" charset="-122"/>
                <a:cs typeface="Calibri" pitchFamily="34" charset="-120"/>
              </a:rPr>
              <a:t>Resilient by Design</a:t>
            </a:r>
            <a:endParaRPr lang="en-US" sz="1200" dirty="0"/>
          </a:p>
        </p:txBody>
      </p:sp>
      <p:sp>
        <p:nvSpPr>
          <p:cNvPr id="33" name="Text 31"/>
          <p:cNvSpPr/>
          <p:nvPr/>
        </p:nvSpPr>
        <p:spPr>
          <a:xfrm>
            <a:off x="4892040" y="4352544"/>
            <a:ext cx="3749040" cy="34747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SQS provides retry, dead-letter queue, and at-least-once delivery guarantee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A371F7"/>
                </a:solidFill>
                <a:latin typeface="Calibri" pitchFamily="34" charset="0"/>
                <a:ea typeface="Calibri" pitchFamily="34" charset="-122"/>
                <a:cs typeface="Calibri" pitchFamily="34" charset="-120"/>
              </a:rPr>
              <a:t>AI AGENT ARCHITECTURE</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Amazon Bedrock Agentic Assistant</a:t>
            </a:r>
            <a:endParaRPr lang="en-US" sz="3200" dirty="0"/>
          </a:p>
        </p:txBody>
      </p:sp>
      <p:sp>
        <p:nvSpPr>
          <p:cNvPr id="4" name="Shape 2"/>
          <p:cNvSpPr/>
          <p:nvPr/>
        </p:nvSpPr>
        <p:spPr>
          <a:xfrm>
            <a:off x="457200" y="1280160"/>
            <a:ext cx="5303520" cy="2743200"/>
          </a:xfrm>
          <a:prstGeom prst="roundRect">
            <a:avLst>
              <a:gd name="adj" fmla="val 4000"/>
            </a:avLst>
          </a:prstGeom>
          <a:solidFill>
            <a:srgbClr val="161B22"/>
          </a:solidFill>
          <a:ln w="19050">
            <a:solidFill>
              <a:srgbClr val="30363D"/>
            </a:solidFill>
            <a:prstDash val="dash"/>
          </a:ln>
        </p:spPr>
      </p:sp>
      <p:sp>
        <p:nvSpPr>
          <p:cNvPr id="5" name="Text 3"/>
          <p:cNvSpPr/>
          <p:nvPr/>
        </p:nvSpPr>
        <p:spPr>
          <a:xfrm>
            <a:off x="457200" y="1280160"/>
            <a:ext cx="5303520" cy="2743200"/>
          </a:xfrm>
          <a:prstGeom prst="rect">
            <a:avLst/>
          </a:prstGeom>
          <a:noFill/>
          <a:ln/>
        </p:spPr>
        <p:txBody>
          <a:bodyPr wrap="square" lIns="0" tIns="0" rIns="0" bIns="0" rtlCol="0" anchor="ctr"/>
          <a:lstStyle/>
          <a:p>
            <a:pPr algn="ctr" indent="0" marL="0">
              <a:buNone/>
            </a:pPr>
            <a:r>
              <a:rPr lang="en-US" sz="1500" i="1" dirty="0">
                <a:solidFill>
                  <a:srgbClr val="6E7681"/>
                </a:solidFill>
                <a:latin typeface="Calibri" pitchFamily="34" charset="0"/>
                <a:ea typeface="Calibri" pitchFamily="34" charset="-122"/>
                <a:cs typeface="Calibri" pitchFamily="34" charset="-120"/>
              </a:rPr>
              <a:t>[ Insert AI Agent Flow Diagram Here ]</a:t>
            </a:r>
            <a:endParaRPr lang="en-US" sz="1500" dirty="0"/>
          </a:p>
        </p:txBody>
      </p:sp>
      <p:sp>
        <p:nvSpPr>
          <p:cNvPr id="6" name="Shape 4"/>
          <p:cNvSpPr/>
          <p:nvPr/>
        </p:nvSpPr>
        <p:spPr>
          <a:xfrm>
            <a:off x="5943600" y="1280160"/>
            <a:ext cx="2926080" cy="621792"/>
          </a:xfrm>
          <a:prstGeom prst="roundRect">
            <a:avLst>
              <a:gd name="adj" fmla="val 10294"/>
            </a:avLst>
          </a:prstGeom>
          <a:solidFill>
            <a:srgbClr val="161B22"/>
          </a:solidFill>
          <a:ln w="10160">
            <a:solidFill>
              <a:srgbClr val="FF9900"/>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6035040" y="1344168"/>
            <a:ext cx="411480" cy="502920"/>
          </a:xfrm>
          <a:prstGeom prst="rect">
            <a:avLst/>
          </a:prstGeom>
          <a:noFill/>
          <a:ln/>
        </p:spPr>
        <p:txBody>
          <a:bodyPr wrap="square" lIns="0" tIns="0" rIns="0" bIns="0" rtlCol="0" anchor="ctr"/>
          <a:lstStyle/>
          <a:p>
            <a:pPr indent="0" marL="0">
              <a:buNone/>
            </a:pPr>
            <a:r>
              <a:rPr lang="en-US" sz="2000" b="1" dirty="0">
                <a:solidFill>
                  <a:srgbClr val="FF9900"/>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6492240" y="1344168"/>
            <a:ext cx="2240280" cy="256032"/>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User Request</a:t>
            </a:r>
            <a:endParaRPr lang="en-US" sz="1200" dirty="0"/>
          </a:p>
        </p:txBody>
      </p:sp>
      <p:sp>
        <p:nvSpPr>
          <p:cNvPr id="9" name="Text 7"/>
          <p:cNvSpPr/>
          <p:nvPr/>
        </p:nvSpPr>
        <p:spPr>
          <a:xfrm>
            <a:off x="6492240" y="1581912"/>
            <a:ext cx="224028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Natural language via chatbot-service</a:t>
            </a:r>
            <a:endParaRPr lang="en-US" sz="1000" dirty="0"/>
          </a:p>
        </p:txBody>
      </p:sp>
      <p:sp>
        <p:nvSpPr>
          <p:cNvPr id="10" name="Shape 8"/>
          <p:cNvSpPr/>
          <p:nvPr/>
        </p:nvSpPr>
        <p:spPr>
          <a:xfrm>
            <a:off x="5943600" y="2029968"/>
            <a:ext cx="2926080" cy="621792"/>
          </a:xfrm>
          <a:prstGeom prst="roundRect">
            <a:avLst>
              <a:gd name="adj" fmla="val 10294"/>
            </a:avLst>
          </a:prstGeom>
          <a:solidFill>
            <a:srgbClr val="161B22"/>
          </a:solidFill>
          <a:ln w="10160">
            <a:solidFill>
              <a:srgbClr val="A371F7"/>
            </a:solidFill>
            <a:prstDash val="solid"/>
          </a:ln>
          <a:effectLst>
            <a:outerShdw sx="100000" sy="100000" kx="0" ky="0" algn="bl" rotWithShape="0" blurRad="101600" dist="38100" dir="2700000">
              <a:srgbClr val="000000">
                <a:alpha val="30000"/>
              </a:srgbClr>
            </a:outerShdw>
          </a:effectLst>
        </p:spPr>
      </p:sp>
      <p:sp>
        <p:nvSpPr>
          <p:cNvPr id="11" name="Text 9"/>
          <p:cNvSpPr/>
          <p:nvPr/>
        </p:nvSpPr>
        <p:spPr>
          <a:xfrm>
            <a:off x="6035040" y="2093976"/>
            <a:ext cx="411480" cy="502920"/>
          </a:xfrm>
          <a:prstGeom prst="rect">
            <a:avLst/>
          </a:prstGeom>
          <a:noFill/>
          <a:ln/>
        </p:spPr>
        <p:txBody>
          <a:bodyPr wrap="square" lIns="0" tIns="0" rIns="0" bIns="0" rtlCol="0" anchor="ctr"/>
          <a:lstStyle/>
          <a:p>
            <a:pPr indent="0" marL="0">
              <a:buNone/>
            </a:pPr>
            <a:r>
              <a:rPr lang="en-US" sz="2000" b="1" dirty="0">
                <a:solidFill>
                  <a:srgbClr val="A371F7"/>
                </a:solidFill>
                <a:latin typeface="Cambria" pitchFamily="34" charset="0"/>
                <a:ea typeface="Cambria" pitchFamily="34" charset="-122"/>
                <a:cs typeface="Cambria" pitchFamily="34" charset="-120"/>
              </a:rPr>
              <a:t>02</a:t>
            </a:r>
            <a:endParaRPr lang="en-US" sz="2000" dirty="0"/>
          </a:p>
        </p:txBody>
      </p:sp>
      <p:sp>
        <p:nvSpPr>
          <p:cNvPr id="12" name="Text 10"/>
          <p:cNvSpPr/>
          <p:nvPr/>
        </p:nvSpPr>
        <p:spPr>
          <a:xfrm>
            <a:off x="6492240" y="2093976"/>
            <a:ext cx="2240280" cy="256032"/>
          </a:xfrm>
          <a:prstGeom prst="rect">
            <a:avLst/>
          </a:prstGeom>
          <a:noFill/>
          <a:ln/>
        </p:spPr>
        <p:txBody>
          <a:bodyPr wrap="square" lIns="0" tIns="0" rIns="0" bIns="0" rtlCol="0" anchor="ctr"/>
          <a:lstStyle/>
          <a:p>
            <a:pPr indent="0" marL="0">
              <a:buNone/>
            </a:pPr>
            <a:r>
              <a:rPr lang="en-US" sz="1200" b="1" dirty="0">
                <a:solidFill>
                  <a:srgbClr val="A371F7"/>
                </a:solidFill>
                <a:latin typeface="Calibri" pitchFamily="34" charset="0"/>
                <a:ea typeface="Calibri" pitchFamily="34" charset="-122"/>
                <a:cs typeface="Calibri" pitchFamily="34" charset="-120"/>
              </a:rPr>
              <a:t>Bedrock Agent</a:t>
            </a:r>
            <a:endParaRPr lang="en-US" sz="1200" dirty="0"/>
          </a:p>
        </p:txBody>
      </p:sp>
      <p:sp>
        <p:nvSpPr>
          <p:cNvPr id="13" name="Text 11"/>
          <p:cNvSpPr/>
          <p:nvPr/>
        </p:nvSpPr>
        <p:spPr>
          <a:xfrm>
            <a:off x="6492240" y="2331720"/>
            <a:ext cx="224028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Intent detection + tool selection</a:t>
            </a:r>
            <a:endParaRPr lang="en-US" sz="1000" dirty="0"/>
          </a:p>
        </p:txBody>
      </p:sp>
      <p:sp>
        <p:nvSpPr>
          <p:cNvPr id="14" name="Shape 12"/>
          <p:cNvSpPr/>
          <p:nvPr/>
        </p:nvSpPr>
        <p:spPr>
          <a:xfrm>
            <a:off x="5943600" y="2779776"/>
            <a:ext cx="2926080" cy="621792"/>
          </a:xfrm>
          <a:prstGeom prst="roundRect">
            <a:avLst>
              <a:gd name="adj" fmla="val 10294"/>
            </a:avLst>
          </a:prstGeom>
          <a:solidFill>
            <a:srgbClr val="161B22"/>
          </a:solidFill>
          <a:ln w="10160">
            <a:solidFill>
              <a:srgbClr val="00A4BD"/>
            </a:solidFill>
            <a:prstDash val="solid"/>
          </a:ln>
          <a:effectLst>
            <a:outerShdw sx="100000" sy="100000" kx="0" ky="0" algn="bl" rotWithShape="0" blurRad="101600" dist="38100" dir="2700000">
              <a:srgbClr val="000000">
                <a:alpha val="30000"/>
              </a:srgbClr>
            </a:outerShdw>
          </a:effectLst>
        </p:spPr>
      </p:sp>
      <p:sp>
        <p:nvSpPr>
          <p:cNvPr id="15" name="Text 13"/>
          <p:cNvSpPr/>
          <p:nvPr/>
        </p:nvSpPr>
        <p:spPr>
          <a:xfrm>
            <a:off x="6035040" y="2843784"/>
            <a:ext cx="411480" cy="502920"/>
          </a:xfrm>
          <a:prstGeom prst="rect">
            <a:avLst/>
          </a:prstGeom>
          <a:noFill/>
          <a:ln/>
        </p:spPr>
        <p:txBody>
          <a:bodyPr wrap="square" lIns="0" tIns="0" rIns="0" bIns="0" rtlCol="0" anchor="ctr"/>
          <a:lstStyle/>
          <a:p>
            <a:pPr indent="0" marL="0">
              <a:buNone/>
            </a:pPr>
            <a:r>
              <a:rPr lang="en-US" sz="2000" b="1" dirty="0">
                <a:solidFill>
                  <a:srgbClr val="00A4BD"/>
                </a:solidFill>
                <a:latin typeface="Cambria" pitchFamily="34" charset="0"/>
                <a:ea typeface="Cambria" pitchFamily="34" charset="-122"/>
                <a:cs typeface="Cambria" pitchFamily="34" charset="-120"/>
              </a:rPr>
              <a:t>03</a:t>
            </a:r>
            <a:endParaRPr lang="en-US" sz="2000" dirty="0"/>
          </a:p>
        </p:txBody>
      </p:sp>
      <p:sp>
        <p:nvSpPr>
          <p:cNvPr id="16" name="Text 14"/>
          <p:cNvSpPr/>
          <p:nvPr/>
        </p:nvSpPr>
        <p:spPr>
          <a:xfrm>
            <a:off x="6492240" y="2843784"/>
            <a:ext cx="2240280" cy="256032"/>
          </a:xfrm>
          <a:prstGeom prst="rect">
            <a:avLst/>
          </a:prstGeom>
          <a:noFill/>
          <a:ln/>
        </p:spPr>
        <p:txBody>
          <a:bodyPr wrap="square" lIns="0" tIns="0" rIns="0" bIns="0" rtlCol="0" anchor="ctr"/>
          <a:lstStyle/>
          <a:p>
            <a:pPr indent="0" marL="0">
              <a:buNone/>
            </a:pPr>
            <a:r>
              <a:rPr lang="en-US" sz="1200" b="1" dirty="0">
                <a:solidFill>
                  <a:srgbClr val="00A4BD"/>
                </a:solidFill>
                <a:latin typeface="Calibri" pitchFamily="34" charset="0"/>
                <a:ea typeface="Calibri" pitchFamily="34" charset="-122"/>
                <a:cs typeface="Calibri" pitchFamily="34" charset="-120"/>
              </a:rPr>
              <a:t>Service Calls</a:t>
            </a:r>
            <a:endParaRPr lang="en-US" sz="1200" dirty="0"/>
          </a:p>
        </p:txBody>
      </p:sp>
      <p:sp>
        <p:nvSpPr>
          <p:cNvPr id="17" name="Text 15"/>
          <p:cNvSpPr/>
          <p:nvPr/>
        </p:nvSpPr>
        <p:spPr>
          <a:xfrm>
            <a:off x="6492240" y="3081528"/>
            <a:ext cx="224028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event-service &amp; booking-service APIs</a:t>
            </a:r>
            <a:endParaRPr lang="en-US" sz="1000" dirty="0"/>
          </a:p>
        </p:txBody>
      </p:sp>
      <p:sp>
        <p:nvSpPr>
          <p:cNvPr id="18" name="Shape 16"/>
          <p:cNvSpPr/>
          <p:nvPr/>
        </p:nvSpPr>
        <p:spPr>
          <a:xfrm>
            <a:off x="5943600" y="3529584"/>
            <a:ext cx="2926080" cy="621792"/>
          </a:xfrm>
          <a:prstGeom prst="roundRect">
            <a:avLst>
              <a:gd name="adj" fmla="val 10294"/>
            </a:avLst>
          </a:prstGeom>
          <a:solidFill>
            <a:srgbClr val="161B22"/>
          </a:solidFill>
          <a:ln w="10160">
            <a:solidFill>
              <a:srgbClr val="2EA44F"/>
            </a:solidFill>
            <a:prstDash val="solid"/>
          </a:ln>
          <a:effectLst>
            <a:outerShdw sx="100000" sy="100000" kx="0" ky="0" algn="bl" rotWithShape="0" blurRad="101600" dist="38100" dir="2700000">
              <a:srgbClr val="000000">
                <a:alpha val="30000"/>
              </a:srgbClr>
            </a:outerShdw>
          </a:effectLst>
        </p:spPr>
      </p:sp>
      <p:sp>
        <p:nvSpPr>
          <p:cNvPr id="19" name="Text 17"/>
          <p:cNvSpPr/>
          <p:nvPr/>
        </p:nvSpPr>
        <p:spPr>
          <a:xfrm>
            <a:off x="6035040" y="3593592"/>
            <a:ext cx="411480" cy="502920"/>
          </a:xfrm>
          <a:prstGeom prst="rect">
            <a:avLst/>
          </a:prstGeom>
          <a:noFill/>
          <a:ln/>
        </p:spPr>
        <p:txBody>
          <a:bodyPr wrap="square" lIns="0" tIns="0" rIns="0" bIns="0" rtlCol="0" anchor="ctr"/>
          <a:lstStyle/>
          <a:p>
            <a:pPr indent="0" marL="0">
              <a:buNone/>
            </a:pPr>
            <a:r>
              <a:rPr lang="en-US" sz="2000" b="1" dirty="0">
                <a:solidFill>
                  <a:srgbClr val="2EA44F"/>
                </a:solidFill>
                <a:latin typeface="Cambria" pitchFamily="34" charset="0"/>
                <a:ea typeface="Cambria" pitchFamily="34" charset="-122"/>
                <a:cs typeface="Cambria" pitchFamily="34" charset="-120"/>
              </a:rPr>
              <a:t>04</a:t>
            </a:r>
            <a:endParaRPr lang="en-US" sz="2000" dirty="0"/>
          </a:p>
        </p:txBody>
      </p:sp>
      <p:sp>
        <p:nvSpPr>
          <p:cNvPr id="20" name="Text 18"/>
          <p:cNvSpPr/>
          <p:nvPr/>
        </p:nvSpPr>
        <p:spPr>
          <a:xfrm>
            <a:off x="6492240" y="3593592"/>
            <a:ext cx="2240280" cy="256032"/>
          </a:xfrm>
          <a:prstGeom prst="rect">
            <a:avLst/>
          </a:prstGeom>
          <a:noFill/>
          <a:ln/>
        </p:spPr>
        <p:txBody>
          <a:bodyPr wrap="square" lIns="0" tIns="0" rIns="0" bIns="0" rtlCol="0" anchor="ctr"/>
          <a:lstStyle/>
          <a:p>
            <a:pPr indent="0" marL="0">
              <a:buNone/>
            </a:pPr>
            <a:r>
              <a:rPr lang="en-US" sz="1200" b="1" dirty="0">
                <a:solidFill>
                  <a:srgbClr val="2EA44F"/>
                </a:solidFill>
                <a:latin typeface="Calibri" pitchFamily="34" charset="0"/>
                <a:ea typeface="Calibri" pitchFamily="34" charset="-122"/>
                <a:cs typeface="Calibri" pitchFamily="34" charset="-120"/>
              </a:rPr>
              <a:t>Confirmation</a:t>
            </a:r>
            <a:endParaRPr lang="en-US" sz="1200" dirty="0"/>
          </a:p>
        </p:txBody>
      </p:sp>
      <p:sp>
        <p:nvSpPr>
          <p:cNvPr id="21" name="Text 19"/>
          <p:cNvSpPr/>
          <p:nvPr/>
        </p:nvSpPr>
        <p:spPr>
          <a:xfrm>
            <a:off x="6492240" y="3831336"/>
            <a:ext cx="224028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SQS → Lambda → SNS email sent</a:t>
            </a:r>
            <a:endParaRPr lang="en-US" sz="1000" dirty="0"/>
          </a:p>
        </p:txBody>
      </p:sp>
      <p:sp>
        <p:nvSpPr>
          <p:cNvPr id="22" name="Text 20"/>
          <p:cNvSpPr/>
          <p:nvPr/>
        </p:nvSpPr>
        <p:spPr>
          <a:xfrm>
            <a:off x="457200" y="4754880"/>
            <a:ext cx="82296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Fully agentic  ·  No hardcoded rules  ·  Bedrock Foundation Model  ·  Internal API integration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A371F7"/>
                </a:solidFill>
                <a:latin typeface="Calibri" pitchFamily="34" charset="0"/>
                <a:ea typeface="Calibri" pitchFamily="34" charset="-122"/>
                <a:cs typeface="Calibri" pitchFamily="34" charset="-120"/>
              </a:rPr>
              <a:t>ADVANCED: CROSS-ACCOUNT AI</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Cross-Account Bedrock Architecture</a:t>
            </a:r>
            <a:endParaRPr lang="en-US" sz="3000" dirty="0"/>
          </a:p>
        </p:txBody>
      </p:sp>
      <p:sp>
        <p:nvSpPr>
          <p:cNvPr id="4" name="Shape 2"/>
          <p:cNvSpPr/>
          <p:nvPr/>
        </p:nvSpPr>
        <p:spPr>
          <a:xfrm>
            <a:off x="365760" y="1325880"/>
            <a:ext cx="3474720" cy="3291840"/>
          </a:xfrm>
          <a:prstGeom prst="roundRect">
            <a:avLst>
              <a:gd name="adj" fmla="val 3333"/>
            </a:avLst>
          </a:prstGeom>
          <a:solidFill>
            <a:srgbClr val="161B22"/>
          </a:solidFill>
          <a:ln w="19050">
            <a:solidFill>
              <a:srgbClr val="00A4BD"/>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502920" y="1444752"/>
            <a:ext cx="3200400" cy="347472"/>
          </a:xfrm>
          <a:prstGeom prst="rect">
            <a:avLst/>
          </a:prstGeom>
          <a:noFill/>
          <a:ln/>
        </p:spPr>
        <p:txBody>
          <a:bodyPr wrap="square" lIns="0" tIns="0" rIns="0" bIns="0" rtlCol="0" anchor="ctr"/>
          <a:lstStyle/>
          <a:p>
            <a:pPr indent="0" marL="0">
              <a:buNone/>
            </a:pPr>
            <a:r>
              <a:rPr lang="en-US" sz="1400" b="1" dirty="0">
                <a:solidFill>
                  <a:srgbClr val="00A4BD"/>
                </a:solidFill>
                <a:latin typeface="Calibri" pitchFamily="34" charset="0"/>
                <a:ea typeface="Calibri" pitchFamily="34" charset="-122"/>
                <a:cs typeface="Calibri" pitchFamily="34" charset="-120"/>
              </a:rPr>
              <a:t>AWS Account A</a:t>
            </a:r>
            <a:endParaRPr lang="en-US" sz="1400" dirty="0"/>
          </a:p>
        </p:txBody>
      </p:sp>
      <p:sp>
        <p:nvSpPr>
          <p:cNvPr id="6" name="Text 4"/>
          <p:cNvSpPr/>
          <p:nvPr/>
        </p:nvSpPr>
        <p:spPr>
          <a:xfrm>
            <a:off x="502920" y="1764792"/>
            <a:ext cx="3200400" cy="228600"/>
          </a:xfrm>
          <a:prstGeom prst="rect">
            <a:avLst/>
          </a:prstGeom>
          <a:noFill/>
          <a:ln/>
        </p:spPr>
        <p:txBody>
          <a:bodyPr wrap="square" lIns="0" tIns="0" rIns="0" bIns="0" rtlCol="0" anchor="ctr"/>
          <a:lstStyle/>
          <a:p>
            <a:pPr indent="0" marL="0">
              <a:buNone/>
            </a:pPr>
            <a:r>
              <a:rPr lang="en-US" sz="900" spc="200" kern="0" dirty="0">
                <a:solidFill>
                  <a:srgbClr val="6E7681"/>
                </a:solidFill>
                <a:latin typeface="Calibri" pitchFamily="34" charset="0"/>
                <a:ea typeface="Calibri" pitchFamily="34" charset="-122"/>
                <a:cs typeface="Calibri" pitchFamily="34" charset="-120"/>
              </a:rPr>
              <a:t>APPLICATION ACCOUNT</a:t>
            </a:r>
            <a:endParaRPr lang="en-US" sz="900" dirty="0"/>
          </a:p>
        </p:txBody>
      </p:sp>
      <p:sp>
        <p:nvSpPr>
          <p:cNvPr id="7" name="Shape 5"/>
          <p:cNvSpPr/>
          <p:nvPr/>
        </p:nvSpPr>
        <p:spPr>
          <a:xfrm>
            <a:off x="594360" y="2103120"/>
            <a:ext cx="3017520" cy="502920"/>
          </a:xfrm>
          <a:prstGeom prst="roundRect">
            <a:avLst>
              <a:gd name="adj" fmla="val 10909"/>
            </a:avLst>
          </a:prstGeom>
          <a:solidFill>
            <a:srgbClr val="1C2333"/>
          </a:solidFill>
          <a:ln w="7620">
            <a:solidFill>
              <a:srgbClr val="00A4BD">
                <a:alpha val="40000"/>
              </a:srgbClr>
            </a:solidFill>
            <a:prstDash val="solid"/>
          </a:ln>
        </p:spPr>
      </p:sp>
      <p:sp>
        <p:nvSpPr>
          <p:cNvPr id="8" name="Text 6"/>
          <p:cNvSpPr/>
          <p:nvPr/>
        </p:nvSpPr>
        <p:spPr>
          <a:xfrm>
            <a:off x="594360" y="2103120"/>
            <a:ext cx="3017520" cy="50292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chatbot-service (pod)</a:t>
            </a:r>
            <a:endParaRPr lang="en-US" sz="1200" dirty="0"/>
          </a:p>
        </p:txBody>
      </p:sp>
      <p:sp>
        <p:nvSpPr>
          <p:cNvPr id="9" name="Shape 7"/>
          <p:cNvSpPr/>
          <p:nvPr/>
        </p:nvSpPr>
        <p:spPr>
          <a:xfrm>
            <a:off x="594360" y="2743200"/>
            <a:ext cx="3017520" cy="502920"/>
          </a:xfrm>
          <a:prstGeom prst="roundRect">
            <a:avLst>
              <a:gd name="adj" fmla="val 10909"/>
            </a:avLst>
          </a:prstGeom>
          <a:solidFill>
            <a:srgbClr val="1C2333"/>
          </a:solidFill>
          <a:ln w="7620">
            <a:solidFill>
              <a:srgbClr val="00A4BD">
                <a:alpha val="40000"/>
              </a:srgbClr>
            </a:solidFill>
            <a:prstDash val="solid"/>
          </a:ln>
        </p:spPr>
      </p:sp>
      <p:sp>
        <p:nvSpPr>
          <p:cNvPr id="10" name="Text 8"/>
          <p:cNvSpPr/>
          <p:nvPr/>
        </p:nvSpPr>
        <p:spPr>
          <a:xfrm>
            <a:off x="594360" y="2743200"/>
            <a:ext cx="3017520" cy="50292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EKS Cluster</a:t>
            </a:r>
            <a:endParaRPr lang="en-US" sz="1200" dirty="0"/>
          </a:p>
        </p:txBody>
      </p:sp>
      <p:sp>
        <p:nvSpPr>
          <p:cNvPr id="11" name="Shape 9"/>
          <p:cNvSpPr/>
          <p:nvPr/>
        </p:nvSpPr>
        <p:spPr>
          <a:xfrm>
            <a:off x="594360" y="3383280"/>
            <a:ext cx="3017520" cy="502920"/>
          </a:xfrm>
          <a:prstGeom prst="roundRect">
            <a:avLst>
              <a:gd name="adj" fmla="val 10909"/>
            </a:avLst>
          </a:prstGeom>
          <a:solidFill>
            <a:srgbClr val="1C2333"/>
          </a:solidFill>
          <a:ln w="7620">
            <a:solidFill>
              <a:srgbClr val="00A4BD">
                <a:alpha val="40000"/>
              </a:srgbClr>
            </a:solidFill>
            <a:prstDash val="solid"/>
          </a:ln>
        </p:spPr>
      </p:sp>
      <p:sp>
        <p:nvSpPr>
          <p:cNvPr id="12" name="Text 10"/>
          <p:cNvSpPr/>
          <p:nvPr/>
        </p:nvSpPr>
        <p:spPr>
          <a:xfrm>
            <a:off x="594360" y="3383280"/>
            <a:ext cx="3017520" cy="50292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IRSA → assume role</a:t>
            </a:r>
            <a:endParaRPr lang="en-US" sz="1200" dirty="0"/>
          </a:p>
        </p:txBody>
      </p:sp>
      <p:sp>
        <p:nvSpPr>
          <p:cNvPr id="13" name="Shape 11"/>
          <p:cNvSpPr/>
          <p:nvPr/>
        </p:nvSpPr>
        <p:spPr>
          <a:xfrm>
            <a:off x="3931920" y="2377440"/>
            <a:ext cx="1280160" cy="804672"/>
          </a:xfrm>
          <a:prstGeom prst="roundRect">
            <a:avLst>
              <a:gd name="adj" fmla="val 9091"/>
            </a:avLst>
          </a:prstGeom>
          <a:solidFill>
            <a:srgbClr val="1C2333"/>
          </a:solidFill>
          <a:ln w="15240">
            <a:solidFill>
              <a:srgbClr val="FF9900"/>
            </a:solidFill>
            <a:prstDash val="solid"/>
          </a:ln>
          <a:effectLst>
            <a:outerShdw sx="100000" sy="100000" kx="0" ky="0" algn="bl" rotWithShape="0" blurRad="101600" dist="38100" dir="2700000">
              <a:srgbClr val="000000">
                <a:alpha val="30000"/>
              </a:srgbClr>
            </a:outerShdw>
          </a:effectLst>
        </p:spPr>
      </p:sp>
      <p:sp>
        <p:nvSpPr>
          <p:cNvPr id="14" name="Text 12"/>
          <p:cNvSpPr/>
          <p:nvPr/>
        </p:nvSpPr>
        <p:spPr>
          <a:xfrm>
            <a:off x="3931920" y="2377440"/>
            <a:ext cx="1280160" cy="804672"/>
          </a:xfrm>
          <a:prstGeom prst="rect">
            <a:avLst/>
          </a:prstGeom>
          <a:noFill/>
          <a:ln/>
        </p:spPr>
        <p:txBody>
          <a:bodyPr wrap="square" lIns="0" tIns="0" rIns="0" bIns="0"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STS</a:t>
            </a:r>
            <a:endParaRPr lang="en-US" sz="1200" dirty="0"/>
          </a:p>
          <a:p>
            <a:pPr algn="ctr" indent="0" marL="0">
              <a:buNone/>
            </a:pPr>
            <a:r>
              <a:rPr lang="en-US" sz="1200" b="1" dirty="0">
                <a:solidFill>
                  <a:srgbClr val="FF9900"/>
                </a:solidFill>
                <a:latin typeface="Calibri" pitchFamily="34" charset="0"/>
                <a:ea typeface="Calibri" pitchFamily="34" charset="-122"/>
                <a:cs typeface="Calibri" pitchFamily="34" charset="-120"/>
              </a:rPr>
              <a:t>AssumeRole</a:t>
            </a:r>
            <a:endParaRPr lang="en-US" sz="1200" dirty="0"/>
          </a:p>
        </p:txBody>
      </p:sp>
      <p:sp>
        <p:nvSpPr>
          <p:cNvPr id="15" name="Shape 13"/>
          <p:cNvSpPr/>
          <p:nvPr/>
        </p:nvSpPr>
        <p:spPr>
          <a:xfrm>
            <a:off x="3840480" y="2779776"/>
            <a:ext cx="91440" cy="0"/>
          </a:xfrm>
          <a:prstGeom prst="line">
            <a:avLst/>
          </a:prstGeom>
          <a:noFill/>
          <a:ln w="19050">
            <a:solidFill>
              <a:srgbClr val="FF9900"/>
            </a:solidFill>
            <a:prstDash val="solid"/>
          </a:ln>
        </p:spPr>
      </p:sp>
      <p:sp>
        <p:nvSpPr>
          <p:cNvPr id="16" name="Shape 14"/>
          <p:cNvSpPr/>
          <p:nvPr/>
        </p:nvSpPr>
        <p:spPr>
          <a:xfrm>
            <a:off x="3474720" y="2779776"/>
            <a:ext cx="457200" cy="0"/>
          </a:xfrm>
          <a:prstGeom prst="line">
            <a:avLst/>
          </a:prstGeom>
          <a:noFill/>
          <a:ln w="19050">
            <a:solidFill>
              <a:srgbClr val="FF9900"/>
            </a:solidFill>
            <a:prstDash val="solid"/>
          </a:ln>
        </p:spPr>
      </p:sp>
      <p:sp>
        <p:nvSpPr>
          <p:cNvPr id="17" name="Shape 15"/>
          <p:cNvSpPr/>
          <p:nvPr/>
        </p:nvSpPr>
        <p:spPr>
          <a:xfrm>
            <a:off x="5212080" y="2779776"/>
            <a:ext cx="457200" cy="0"/>
          </a:xfrm>
          <a:prstGeom prst="line">
            <a:avLst/>
          </a:prstGeom>
          <a:noFill/>
          <a:ln w="19050">
            <a:solidFill>
              <a:srgbClr val="FF9900"/>
            </a:solidFill>
            <a:prstDash val="solid"/>
          </a:ln>
        </p:spPr>
      </p:sp>
      <p:sp>
        <p:nvSpPr>
          <p:cNvPr id="18" name="Text 16"/>
          <p:cNvSpPr/>
          <p:nvPr/>
        </p:nvSpPr>
        <p:spPr>
          <a:xfrm>
            <a:off x="3657600" y="3246120"/>
            <a:ext cx="1828800" cy="274320"/>
          </a:xfrm>
          <a:prstGeom prst="rect">
            <a:avLst/>
          </a:prstGeom>
          <a:noFill/>
          <a:ln/>
        </p:spPr>
        <p:txBody>
          <a:bodyPr wrap="square" lIns="0" tIns="0" rIns="0" bIns="0" rtlCol="0" anchor="ctr"/>
          <a:lstStyle/>
          <a:p>
            <a:pPr algn="ctr" indent="0" marL="0">
              <a:buNone/>
            </a:pPr>
            <a:r>
              <a:rPr lang="en-US" sz="900" dirty="0">
                <a:solidFill>
                  <a:srgbClr val="FF9900"/>
                </a:solidFill>
                <a:latin typeface="Calibri" pitchFamily="34" charset="0"/>
                <a:ea typeface="Calibri" pitchFamily="34" charset="-122"/>
                <a:cs typeface="Calibri" pitchFamily="34" charset="-120"/>
              </a:rPr>
              <a:t>←  Cross-Account Role  →</a:t>
            </a:r>
            <a:endParaRPr lang="en-US" sz="900" dirty="0"/>
          </a:p>
        </p:txBody>
      </p:sp>
      <p:sp>
        <p:nvSpPr>
          <p:cNvPr id="19" name="Shape 17"/>
          <p:cNvSpPr/>
          <p:nvPr/>
        </p:nvSpPr>
        <p:spPr>
          <a:xfrm>
            <a:off x="5303520" y="1325880"/>
            <a:ext cx="3474720" cy="3291840"/>
          </a:xfrm>
          <a:prstGeom prst="roundRect">
            <a:avLst>
              <a:gd name="adj" fmla="val 3333"/>
            </a:avLst>
          </a:prstGeom>
          <a:solidFill>
            <a:srgbClr val="161B22"/>
          </a:solidFill>
          <a:ln w="19050">
            <a:solidFill>
              <a:srgbClr val="A371F7"/>
            </a:solidFill>
            <a:prstDash val="solid"/>
          </a:ln>
          <a:effectLst>
            <a:outerShdw sx="100000" sy="100000" kx="0" ky="0" algn="bl" rotWithShape="0" blurRad="101600" dist="38100" dir="2700000">
              <a:srgbClr val="000000">
                <a:alpha val="30000"/>
              </a:srgbClr>
            </a:outerShdw>
          </a:effectLst>
        </p:spPr>
      </p:sp>
      <p:sp>
        <p:nvSpPr>
          <p:cNvPr id="20" name="Text 18"/>
          <p:cNvSpPr/>
          <p:nvPr/>
        </p:nvSpPr>
        <p:spPr>
          <a:xfrm>
            <a:off x="5440680" y="1444752"/>
            <a:ext cx="3200400" cy="347472"/>
          </a:xfrm>
          <a:prstGeom prst="rect">
            <a:avLst/>
          </a:prstGeom>
          <a:noFill/>
          <a:ln/>
        </p:spPr>
        <p:txBody>
          <a:bodyPr wrap="square" lIns="0" tIns="0" rIns="0" bIns="0" rtlCol="0" anchor="ctr"/>
          <a:lstStyle/>
          <a:p>
            <a:pPr indent="0" marL="0">
              <a:buNone/>
            </a:pPr>
            <a:r>
              <a:rPr lang="en-US" sz="1400" b="1" dirty="0">
                <a:solidFill>
                  <a:srgbClr val="A371F7"/>
                </a:solidFill>
                <a:latin typeface="Calibri" pitchFamily="34" charset="0"/>
                <a:ea typeface="Calibri" pitchFamily="34" charset="-122"/>
                <a:cs typeface="Calibri" pitchFamily="34" charset="-120"/>
              </a:rPr>
              <a:t>AWS Account B</a:t>
            </a:r>
            <a:endParaRPr lang="en-US" sz="1400" dirty="0"/>
          </a:p>
        </p:txBody>
      </p:sp>
      <p:sp>
        <p:nvSpPr>
          <p:cNvPr id="21" name="Text 19"/>
          <p:cNvSpPr/>
          <p:nvPr/>
        </p:nvSpPr>
        <p:spPr>
          <a:xfrm>
            <a:off x="5440680" y="1764792"/>
            <a:ext cx="3200400" cy="228600"/>
          </a:xfrm>
          <a:prstGeom prst="rect">
            <a:avLst/>
          </a:prstGeom>
          <a:noFill/>
          <a:ln/>
        </p:spPr>
        <p:txBody>
          <a:bodyPr wrap="square" lIns="0" tIns="0" rIns="0" bIns="0" rtlCol="0" anchor="ctr"/>
          <a:lstStyle/>
          <a:p>
            <a:pPr indent="0" marL="0">
              <a:buNone/>
            </a:pPr>
            <a:r>
              <a:rPr lang="en-US" sz="900" spc="200" kern="0" dirty="0">
                <a:solidFill>
                  <a:srgbClr val="6E7681"/>
                </a:solidFill>
                <a:latin typeface="Calibri" pitchFamily="34" charset="0"/>
                <a:ea typeface="Calibri" pitchFamily="34" charset="-122"/>
                <a:cs typeface="Calibri" pitchFamily="34" charset="-120"/>
              </a:rPr>
              <a:t>AI / BEDROCK ACCOUNT</a:t>
            </a:r>
            <a:endParaRPr lang="en-US" sz="900" dirty="0"/>
          </a:p>
        </p:txBody>
      </p:sp>
      <p:sp>
        <p:nvSpPr>
          <p:cNvPr id="22" name="Shape 20"/>
          <p:cNvSpPr/>
          <p:nvPr/>
        </p:nvSpPr>
        <p:spPr>
          <a:xfrm>
            <a:off x="5532120" y="2103120"/>
            <a:ext cx="3017520" cy="502920"/>
          </a:xfrm>
          <a:prstGeom prst="roundRect">
            <a:avLst>
              <a:gd name="adj" fmla="val 10909"/>
            </a:avLst>
          </a:prstGeom>
          <a:solidFill>
            <a:srgbClr val="1C2333"/>
          </a:solidFill>
          <a:ln w="7620">
            <a:solidFill>
              <a:srgbClr val="A371F7">
                <a:alpha val="40000"/>
              </a:srgbClr>
            </a:solidFill>
            <a:prstDash val="solid"/>
          </a:ln>
        </p:spPr>
      </p:sp>
      <p:sp>
        <p:nvSpPr>
          <p:cNvPr id="23" name="Text 21"/>
          <p:cNvSpPr/>
          <p:nvPr/>
        </p:nvSpPr>
        <p:spPr>
          <a:xfrm>
            <a:off x="5532120" y="2103120"/>
            <a:ext cx="3017520" cy="50292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Amazon Bedrock</a:t>
            </a:r>
            <a:endParaRPr lang="en-US" sz="1200" dirty="0"/>
          </a:p>
        </p:txBody>
      </p:sp>
      <p:sp>
        <p:nvSpPr>
          <p:cNvPr id="24" name="Shape 22"/>
          <p:cNvSpPr/>
          <p:nvPr/>
        </p:nvSpPr>
        <p:spPr>
          <a:xfrm>
            <a:off x="5532120" y="2743200"/>
            <a:ext cx="3017520" cy="502920"/>
          </a:xfrm>
          <a:prstGeom prst="roundRect">
            <a:avLst>
              <a:gd name="adj" fmla="val 10909"/>
            </a:avLst>
          </a:prstGeom>
          <a:solidFill>
            <a:srgbClr val="1C2333"/>
          </a:solidFill>
          <a:ln w="7620">
            <a:solidFill>
              <a:srgbClr val="A371F7">
                <a:alpha val="40000"/>
              </a:srgbClr>
            </a:solidFill>
            <a:prstDash val="solid"/>
          </a:ln>
        </p:spPr>
      </p:sp>
      <p:sp>
        <p:nvSpPr>
          <p:cNvPr id="25" name="Text 23"/>
          <p:cNvSpPr/>
          <p:nvPr/>
        </p:nvSpPr>
        <p:spPr>
          <a:xfrm>
            <a:off x="5532120" y="2743200"/>
            <a:ext cx="3017520" cy="50292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Foundation Model (Claude)</a:t>
            </a:r>
            <a:endParaRPr lang="en-US" sz="1200" dirty="0"/>
          </a:p>
        </p:txBody>
      </p:sp>
      <p:sp>
        <p:nvSpPr>
          <p:cNvPr id="26" name="Shape 24"/>
          <p:cNvSpPr/>
          <p:nvPr/>
        </p:nvSpPr>
        <p:spPr>
          <a:xfrm>
            <a:off x="5532120" y="3383280"/>
            <a:ext cx="3017520" cy="502920"/>
          </a:xfrm>
          <a:prstGeom prst="roundRect">
            <a:avLst>
              <a:gd name="adj" fmla="val 10909"/>
            </a:avLst>
          </a:prstGeom>
          <a:solidFill>
            <a:srgbClr val="1C2333"/>
          </a:solidFill>
          <a:ln w="7620">
            <a:solidFill>
              <a:srgbClr val="A371F7">
                <a:alpha val="40000"/>
              </a:srgbClr>
            </a:solidFill>
            <a:prstDash val="solid"/>
          </a:ln>
        </p:spPr>
      </p:sp>
      <p:sp>
        <p:nvSpPr>
          <p:cNvPr id="27" name="Text 25"/>
          <p:cNvSpPr/>
          <p:nvPr/>
        </p:nvSpPr>
        <p:spPr>
          <a:xfrm>
            <a:off x="5532120" y="3383280"/>
            <a:ext cx="3017520" cy="50292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Cross-account IAM Role</a:t>
            </a:r>
            <a:endParaRPr lang="en-US" sz="1200" dirty="0"/>
          </a:p>
        </p:txBody>
      </p:sp>
      <p:sp>
        <p:nvSpPr>
          <p:cNvPr id="28" name="Text 26"/>
          <p:cNvSpPr/>
          <p:nvPr/>
        </p:nvSpPr>
        <p:spPr>
          <a:xfrm>
            <a:off x="457200" y="4754880"/>
            <a:ext cx="8229600" cy="274320"/>
          </a:xfrm>
          <a:prstGeom prst="rect">
            <a:avLst/>
          </a:prstGeom>
          <a:noFill/>
          <a:ln/>
        </p:spPr>
        <p:txBody>
          <a:bodyPr wrap="square" lIns="0" tIns="0" rIns="0" bIns="0" rtlCol="0" anchor="ctr"/>
          <a:lstStyle/>
          <a:p>
            <a:pPr indent="0" marL="0">
              <a:buNone/>
            </a:pPr>
            <a:r>
              <a:rPr lang="en-US" sz="1050" dirty="0">
                <a:solidFill>
                  <a:srgbClr val="6E7681"/>
                </a:solidFill>
                <a:latin typeface="Calibri" pitchFamily="34" charset="0"/>
                <a:ea typeface="Calibri" pitchFamily="34" charset="-122"/>
                <a:cs typeface="Calibri" pitchFamily="34" charset="-120"/>
              </a:rPr>
              <a:t>Separation of concerns  ·  Bedrock access isolated  ·  Loosely coupled  ·  Enterprise-grade multi-account pattern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2EA44F"/>
                </a:solidFill>
                <a:latin typeface="Calibri" pitchFamily="34" charset="0"/>
                <a:ea typeface="Calibri" pitchFamily="34" charset="-122"/>
                <a:cs typeface="Calibri" pitchFamily="34" charset="-120"/>
              </a:rPr>
              <a:t>DEVSECOPS</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Security Shift-Left Implementation</a:t>
            </a:r>
            <a:endParaRPr lang="en-US" sz="3200" dirty="0"/>
          </a:p>
        </p:txBody>
      </p:sp>
      <p:sp>
        <p:nvSpPr>
          <p:cNvPr id="4" name="Shape 2"/>
          <p:cNvSpPr/>
          <p:nvPr/>
        </p:nvSpPr>
        <p:spPr>
          <a:xfrm>
            <a:off x="457200" y="1325880"/>
            <a:ext cx="2697480" cy="2560320"/>
          </a:xfrm>
          <a:prstGeom prst="roundRect">
            <a:avLst>
              <a:gd name="adj" fmla="val 3571"/>
            </a:avLst>
          </a:prstGeom>
          <a:solidFill>
            <a:srgbClr val="161B22"/>
          </a:solidFill>
          <a:ln w="15240">
            <a:solidFill>
              <a:srgbClr val="00A4BD"/>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594360" y="1444752"/>
            <a:ext cx="2423160" cy="384048"/>
          </a:xfrm>
          <a:prstGeom prst="rect">
            <a:avLst/>
          </a:prstGeom>
          <a:noFill/>
          <a:ln/>
        </p:spPr>
        <p:txBody>
          <a:bodyPr wrap="square" lIns="0" tIns="0" rIns="0" bIns="0" rtlCol="0" anchor="ctr"/>
          <a:lstStyle/>
          <a:p>
            <a:pPr indent="0" marL="0">
              <a:buNone/>
            </a:pPr>
            <a:r>
              <a:rPr lang="en-US" sz="1800" b="1" dirty="0">
                <a:solidFill>
                  <a:srgbClr val="00A4BD"/>
                </a:solidFill>
                <a:latin typeface="Cambria" pitchFamily="34" charset="0"/>
                <a:ea typeface="Cambria" pitchFamily="34" charset="-122"/>
                <a:cs typeface="Cambria" pitchFamily="34" charset="-120"/>
              </a:rPr>
              <a:t>SonarCloud</a:t>
            </a:r>
            <a:endParaRPr lang="en-US" sz="1800" dirty="0"/>
          </a:p>
        </p:txBody>
      </p:sp>
      <p:sp>
        <p:nvSpPr>
          <p:cNvPr id="6" name="Text 4"/>
          <p:cNvSpPr/>
          <p:nvPr/>
        </p:nvSpPr>
        <p:spPr>
          <a:xfrm>
            <a:off x="594360" y="1810512"/>
            <a:ext cx="2423160" cy="256032"/>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Code Quality &amp; SAST</a:t>
            </a:r>
            <a:endParaRPr lang="en-US" sz="1100" dirty="0"/>
          </a:p>
        </p:txBody>
      </p:sp>
      <p:sp>
        <p:nvSpPr>
          <p:cNvPr id="7" name="Shape 5"/>
          <p:cNvSpPr/>
          <p:nvPr/>
        </p:nvSpPr>
        <p:spPr>
          <a:xfrm>
            <a:off x="594360" y="2103120"/>
            <a:ext cx="2286000" cy="0"/>
          </a:xfrm>
          <a:prstGeom prst="line">
            <a:avLst/>
          </a:prstGeom>
          <a:noFill/>
          <a:ln w="10160">
            <a:solidFill>
              <a:srgbClr val="00A4BD">
                <a:alpha val="50000"/>
              </a:srgbClr>
            </a:solidFill>
            <a:prstDash val="solid"/>
          </a:ln>
        </p:spPr>
      </p:sp>
      <p:sp>
        <p:nvSpPr>
          <p:cNvPr id="8" name="Text 6"/>
          <p:cNvSpPr/>
          <p:nvPr/>
        </p:nvSpPr>
        <p:spPr>
          <a:xfrm>
            <a:off x="594360" y="221284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Detects code smells and bugs</a:t>
            </a:r>
            <a:endParaRPr lang="en-US" sz="1050" dirty="0"/>
          </a:p>
        </p:txBody>
      </p:sp>
      <p:sp>
        <p:nvSpPr>
          <p:cNvPr id="9" name="Text 7"/>
          <p:cNvSpPr/>
          <p:nvPr/>
        </p:nvSpPr>
        <p:spPr>
          <a:xfrm>
            <a:off x="594360" y="257860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Security vulnerability detection</a:t>
            </a:r>
            <a:endParaRPr lang="en-US" sz="1050" dirty="0"/>
          </a:p>
        </p:txBody>
      </p:sp>
      <p:sp>
        <p:nvSpPr>
          <p:cNvPr id="10" name="Text 8"/>
          <p:cNvSpPr/>
          <p:nvPr/>
        </p:nvSpPr>
        <p:spPr>
          <a:xfrm>
            <a:off x="594360" y="294436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Coverage + reliability gates</a:t>
            </a:r>
            <a:endParaRPr lang="en-US" sz="1050" dirty="0"/>
          </a:p>
        </p:txBody>
      </p:sp>
      <p:sp>
        <p:nvSpPr>
          <p:cNvPr id="11" name="Text 9"/>
          <p:cNvSpPr/>
          <p:nvPr/>
        </p:nvSpPr>
        <p:spPr>
          <a:xfrm>
            <a:off x="594360" y="331012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PR-level analysis and blocking</a:t>
            </a:r>
            <a:endParaRPr lang="en-US" sz="1050" dirty="0"/>
          </a:p>
        </p:txBody>
      </p:sp>
      <p:sp>
        <p:nvSpPr>
          <p:cNvPr id="12" name="Shape 10"/>
          <p:cNvSpPr/>
          <p:nvPr/>
        </p:nvSpPr>
        <p:spPr>
          <a:xfrm>
            <a:off x="3337560" y="1325880"/>
            <a:ext cx="2697480" cy="2560320"/>
          </a:xfrm>
          <a:prstGeom prst="roundRect">
            <a:avLst>
              <a:gd name="adj" fmla="val 3571"/>
            </a:avLst>
          </a:prstGeom>
          <a:solidFill>
            <a:srgbClr val="161B22"/>
          </a:solidFill>
          <a:ln w="15240">
            <a:solidFill>
              <a:srgbClr val="FF9900"/>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3474720" y="1444752"/>
            <a:ext cx="2423160" cy="384048"/>
          </a:xfrm>
          <a:prstGeom prst="rect">
            <a:avLst/>
          </a:prstGeom>
          <a:noFill/>
          <a:ln/>
        </p:spPr>
        <p:txBody>
          <a:bodyPr wrap="square" lIns="0" tIns="0" rIns="0" bIns="0" rtlCol="0" anchor="ctr"/>
          <a:lstStyle/>
          <a:p>
            <a:pPr indent="0" marL="0">
              <a:buNone/>
            </a:pPr>
            <a:r>
              <a:rPr lang="en-US" sz="1800" b="1" dirty="0">
                <a:solidFill>
                  <a:srgbClr val="FF9900"/>
                </a:solidFill>
                <a:latin typeface="Cambria" pitchFamily="34" charset="0"/>
                <a:ea typeface="Cambria" pitchFamily="34" charset="-122"/>
                <a:cs typeface="Cambria" pitchFamily="34" charset="-120"/>
              </a:rPr>
              <a:t>Snyk</a:t>
            </a:r>
            <a:endParaRPr lang="en-US" sz="1800" dirty="0"/>
          </a:p>
        </p:txBody>
      </p:sp>
      <p:sp>
        <p:nvSpPr>
          <p:cNvPr id="14" name="Text 12"/>
          <p:cNvSpPr/>
          <p:nvPr/>
        </p:nvSpPr>
        <p:spPr>
          <a:xfrm>
            <a:off x="3474720" y="1810512"/>
            <a:ext cx="2423160" cy="256032"/>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Dependency Scanning</a:t>
            </a:r>
            <a:endParaRPr lang="en-US" sz="1100" dirty="0"/>
          </a:p>
        </p:txBody>
      </p:sp>
      <p:sp>
        <p:nvSpPr>
          <p:cNvPr id="15" name="Shape 13"/>
          <p:cNvSpPr/>
          <p:nvPr/>
        </p:nvSpPr>
        <p:spPr>
          <a:xfrm>
            <a:off x="3474720" y="2103120"/>
            <a:ext cx="2286000" cy="0"/>
          </a:xfrm>
          <a:prstGeom prst="line">
            <a:avLst/>
          </a:prstGeom>
          <a:noFill/>
          <a:ln w="10160">
            <a:solidFill>
              <a:srgbClr val="FF9900">
                <a:alpha val="50000"/>
              </a:srgbClr>
            </a:solidFill>
            <a:prstDash val="solid"/>
          </a:ln>
        </p:spPr>
      </p:sp>
      <p:sp>
        <p:nvSpPr>
          <p:cNvPr id="16" name="Text 14"/>
          <p:cNvSpPr/>
          <p:nvPr/>
        </p:nvSpPr>
        <p:spPr>
          <a:xfrm>
            <a:off x="3474720" y="221284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OSS dependency CVE scanning</a:t>
            </a:r>
            <a:endParaRPr lang="en-US" sz="1050" dirty="0"/>
          </a:p>
        </p:txBody>
      </p:sp>
      <p:sp>
        <p:nvSpPr>
          <p:cNvPr id="17" name="Text 15"/>
          <p:cNvSpPr/>
          <p:nvPr/>
        </p:nvSpPr>
        <p:spPr>
          <a:xfrm>
            <a:off x="3474720" y="257860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License compliance checks</a:t>
            </a:r>
            <a:endParaRPr lang="en-US" sz="1050" dirty="0"/>
          </a:p>
        </p:txBody>
      </p:sp>
      <p:sp>
        <p:nvSpPr>
          <p:cNvPr id="18" name="Text 16"/>
          <p:cNvSpPr/>
          <p:nvPr/>
        </p:nvSpPr>
        <p:spPr>
          <a:xfrm>
            <a:off x="3474720" y="294436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Auto-fix PRs for vulnerabilities</a:t>
            </a:r>
            <a:endParaRPr lang="en-US" sz="1050" dirty="0"/>
          </a:p>
        </p:txBody>
      </p:sp>
      <p:sp>
        <p:nvSpPr>
          <p:cNvPr id="19" name="Text 17"/>
          <p:cNvSpPr/>
          <p:nvPr/>
        </p:nvSpPr>
        <p:spPr>
          <a:xfrm>
            <a:off x="3474720" y="331012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Runs on every CI trigger</a:t>
            </a:r>
            <a:endParaRPr lang="en-US" sz="1050" dirty="0"/>
          </a:p>
        </p:txBody>
      </p:sp>
      <p:sp>
        <p:nvSpPr>
          <p:cNvPr id="20" name="Shape 18"/>
          <p:cNvSpPr/>
          <p:nvPr/>
        </p:nvSpPr>
        <p:spPr>
          <a:xfrm>
            <a:off x="6217920" y="1325880"/>
            <a:ext cx="2697480" cy="2560320"/>
          </a:xfrm>
          <a:prstGeom prst="roundRect">
            <a:avLst>
              <a:gd name="adj" fmla="val 3571"/>
            </a:avLst>
          </a:prstGeom>
          <a:solidFill>
            <a:srgbClr val="161B22"/>
          </a:solidFill>
          <a:ln w="15240">
            <a:solidFill>
              <a:srgbClr val="F85149"/>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6355080" y="1444752"/>
            <a:ext cx="2423160" cy="384048"/>
          </a:xfrm>
          <a:prstGeom prst="rect">
            <a:avLst/>
          </a:prstGeom>
          <a:noFill/>
          <a:ln/>
        </p:spPr>
        <p:txBody>
          <a:bodyPr wrap="square" lIns="0" tIns="0" rIns="0" bIns="0" rtlCol="0" anchor="ctr"/>
          <a:lstStyle/>
          <a:p>
            <a:pPr indent="0" marL="0">
              <a:buNone/>
            </a:pPr>
            <a:r>
              <a:rPr lang="en-US" sz="1800" b="1" dirty="0">
                <a:solidFill>
                  <a:srgbClr val="F85149"/>
                </a:solidFill>
                <a:latin typeface="Cambria" pitchFamily="34" charset="0"/>
                <a:ea typeface="Cambria" pitchFamily="34" charset="-122"/>
                <a:cs typeface="Cambria" pitchFamily="34" charset="-120"/>
              </a:rPr>
              <a:t>Trivy</a:t>
            </a:r>
            <a:endParaRPr lang="en-US" sz="1800" dirty="0"/>
          </a:p>
        </p:txBody>
      </p:sp>
      <p:sp>
        <p:nvSpPr>
          <p:cNvPr id="22" name="Text 20"/>
          <p:cNvSpPr/>
          <p:nvPr/>
        </p:nvSpPr>
        <p:spPr>
          <a:xfrm>
            <a:off x="6355080" y="1810512"/>
            <a:ext cx="2423160" cy="256032"/>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Container Image Scanning</a:t>
            </a:r>
            <a:endParaRPr lang="en-US" sz="1100" dirty="0"/>
          </a:p>
        </p:txBody>
      </p:sp>
      <p:sp>
        <p:nvSpPr>
          <p:cNvPr id="23" name="Shape 21"/>
          <p:cNvSpPr/>
          <p:nvPr/>
        </p:nvSpPr>
        <p:spPr>
          <a:xfrm>
            <a:off x="6355080" y="2103120"/>
            <a:ext cx="2286000" cy="0"/>
          </a:xfrm>
          <a:prstGeom prst="line">
            <a:avLst/>
          </a:prstGeom>
          <a:noFill/>
          <a:ln w="10160">
            <a:solidFill>
              <a:srgbClr val="F85149">
                <a:alpha val="50000"/>
              </a:srgbClr>
            </a:solidFill>
            <a:prstDash val="solid"/>
          </a:ln>
        </p:spPr>
      </p:sp>
      <p:sp>
        <p:nvSpPr>
          <p:cNvPr id="24" name="Text 22"/>
          <p:cNvSpPr/>
          <p:nvPr/>
        </p:nvSpPr>
        <p:spPr>
          <a:xfrm>
            <a:off x="6355080" y="221284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Scans Docker image layers</a:t>
            </a:r>
            <a:endParaRPr lang="en-US" sz="1050" dirty="0"/>
          </a:p>
        </p:txBody>
      </p:sp>
      <p:sp>
        <p:nvSpPr>
          <p:cNvPr id="25" name="Text 23"/>
          <p:cNvSpPr/>
          <p:nvPr/>
        </p:nvSpPr>
        <p:spPr>
          <a:xfrm>
            <a:off x="6355080" y="257860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OS + language CVE detection</a:t>
            </a:r>
            <a:endParaRPr lang="en-US" sz="1050" dirty="0"/>
          </a:p>
        </p:txBody>
      </p:sp>
      <p:sp>
        <p:nvSpPr>
          <p:cNvPr id="26" name="Text 24"/>
          <p:cNvSpPr/>
          <p:nvPr/>
        </p:nvSpPr>
        <p:spPr>
          <a:xfrm>
            <a:off x="6355080" y="294436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Blocks deploy on CRITICAL CVEs</a:t>
            </a:r>
            <a:endParaRPr lang="en-US" sz="1050" dirty="0"/>
          </a:p>
        </p:txBody>
      </p:sp>
      <p:sp>
        <p:nvSpPr>
          <p:cNvPr id="27" name="Text 25"/>
          <p:cNvSpPr/>
          <p:nvPr/>
        </p:nvSpPr>
        <p:spPr>
          <a:xfrm>
            <a:off x="6355080" y="3310128"/>
            <a:ext cx="2423160" cy="3200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  SBOM generation support</a:t>
            </a:r>
            <a:endParaRPr lang="en-US" sz="1050" dirty="0"/>
          </a:p>
        </p:txBody>
      </p:sp>
      <p:sp>
        <p:nvSpPr>
          <p:cNvPr id="28" name="Shape 26"/>
          <p:cNvSpPr/>
          <p:nvPr/>
        </p:nvSpPr>
        <p:spPr>
          <a:xfrm>
            <a:off x="457200" y="4069080"/>
            <a:ext cx="8321040" cy="868680"/>
          </a:xfrm>
          <a:prstGeom prst="roundRect">
            <a:avLst>
              <a:gd name="adj" fmla="val 8421"/>
            </a:avLst>
          </a:prstGeom>
          <a:solidFill>
            <a:srgbClr val="1C2333"/>
          </a:solidFill>
          <a:ln w="8890">
            <a:solidFill>
              <a:srgbClr val="30363D"/>
            </a:solidFill>
            <a:prstDash val="solid"/>
          </a:ln>
          <a:effectLst>
            <a:outerShdw sx="100000" sy="100000" kx="0" ky="0" algn="bl" rotWithShape="0" blurRad="101600" dist="38100" dir="2700000">
              <a:srgbClr val="000000">
                <a:alpha val="30000"/>
              </a:srgbClr>
            </a:outerShdw>
          </a:effectLst>
        </p:spPr>
      </p:sp>
      <p:sp>
        <p:nvSpPr>
          <p:cNvPr id="29" name="Text 27"/>
          <p:cNvSpPr/>
          <p:nvPr/>
        </p:nvSpPr>
        <p:spPr>
          <a:xfrm>
            <a:off x="594360" y="4133088"/>
            <a:ext cx="2286000" cy="274320"/>
          </a:xfrm>
          <a:prstGeom prst="rect">
            <a:avLst/>
          </a:prstGeom>
          <a:noFill/>
          <a:ln/>
        </p:spPr>
        <p:txBody>
          <a:bodyPr wrap="square" lIns="0" tIns="0" rIns="0" bIns="0" rtlCol="0" anchor="ctr"/>
          <a:lstStyle/>
          <a:p>
            <a:pPr indent="0" marL="0">
              <a:buNone/>
            </a:pPr>
            <a:r>
              <a:rPr lang="en-US" sz="1200" b="1" dirty="0">
                <a:solidFill>
                  <a:srgbClr val="2EA44F"/>
                </a:solidFill>
                <a:latin typeface="Calibri" pitchFamily="34" charset="0"/>
                <a:ea typeface="Calibri" pitchFamily="34" charset="-122"/>
                <a:cs typeface="Calibri" pitchFamily="34" charset="-120"/>
              </a:rPr>
              <a:t>Security Best Practices</a:t>
            </a:r>
            <a:endParaRPr lang="en-US" sz="1200" dirty="0"/>
          </a:p>
        </p:txBody>
      </p:sp>
      <p:sp>
        <p:nvSpPr>
          <p:cNvPr id="30" name="Text 28"/>
          <p:cNvSpPr/>
          <p:nvPr/>
        </p:nvSpPr>
        <p:spPr>
          <a:xfrm>
            <a:off x="594360" y="4416552"/>
            <a:ext cx="393192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No hardcoded credentials in code or containers</a:t>
            </a:r>
            <a:endParaRPr lang="en-US" sz="1000" dirty="0"/>
          </a:p>
        </p:txBody>
      </p:sp>
      <p:sp>
        <p:nvSpPr>
          <p:cNvPr id="31" name="Text 29"/>
          <p:cNvSpPr/>
          <p:nvPr/>
        </p:nvSpPr>
        <p:spPr>
          <a:xfrm>
            <a:off x="4709160" y="4416552"/>
            <a:ext cx="393192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Non-root container execution (securityContext)</a:t>
            </a:r>
            <a:endParaRPr lang="en-US" sz="1000" dirty="0"/>
          </a:p>
        </p:txBody>
      </p:sp>
      <p:sp>
        <p:nvSpPr>
          <p:cNvPr id="32" name="Text 30"/>
          <p:cNvSpPr/>
          <p:nvPr/>
        </p:nvSpPr>
        <p:spPr>
          <a:xfrm>
            <a:off x="594360" y="4617720"/>
            <a:ext cx="393192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Read-only root filesystem where possible</a:t>
            </a:r>
            <a:endParaRPr lang="en-US" sz="1000" dirty="0"/>
          </a:p>
        </p:txBody>
      </p:sp>
      <p:sp>
        <p:nvSpPr>
          <p:cNvPr id="33" name="Text 31"/>
          <p:cNvSpPr/>
          <p:nvPr/>
        </p:nvSpPr>
        <p:spPr>
          <a:xfrm>
            <a:off x="4709160" y="4617720"/>
            <a:ext cx="3931920" cy="201168"/>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Image digest pinning in production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85149"/>
                </a:solidFill>
                <a:latin typeface="Calibri" pitchFamily="34" charset="0"/>
                <a:ea typeface="Calibri" pitchFamily="34" charset="-122"/>
                <a:cs typeface="Calibri" pitchFamily="34" charset="-120"/>
              </a:rPr>
              <a:t>ENGINEERING CHALLENGES</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Real Problems — Real Solutions</a:t>
            </a:r>
            <a:endParaRPr lang="en-US" sz="3200" dirty="0"/>
          </a:p>
        </p:txBody>
      </p:sp>
      <p:sp>
        <p:nvSpPr>
          <p:cNvPr id="4" name="Shape 2"/>
          <p:cNvSpPr/>
          <p:nvPr/>
        </p:nvSpPr>
        <p:spPr>
          <a:xfrm>
            <a:off x="457200" y="1280160"/>
            <a:ext cx="8321040" cy="621792"/>
          </a:xfrm>
          <a:prstGeom prst="roundRect">
            <a:avLst>
              <a:gd name="adj" fmla="val 10294"/>
            </a:avLst>
          </a:prstGeom>
          <a:solidFill>
            <a:srgbClr val="161B22"/>
          </a:solidFill>
          <a:ln w="12700">
            <a:solidFill>
              <a:srgbClr val="F85149"/>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594360" y="1344168"/>
            <a:ext cx="1691640" cy="502920"/>
          </a:xfrm>
          <a:prstGeom prst="rect">
            <a:avLst/>
          </a:prstGeom>
          <a:noFill/>
          <a:ln/>
        </p:spPr>
        <p:txBody>
          <a:bodyPr wrap="square" lIns="0" tIns="0" rIns="0" bIns="0" rtlCol="0" anchor="ctr"/>
          <a:lstStyle/>
          <a:p>
            <a:pPr indent="0" marL="0">
              <a:buNone/>
            </a:pPr>
            <a:r>
              <a:rPr lang="en-US" sz="1100" b="1" dirty="0">
                <a:solidFill>
                  <a:srgbClr val="F85149"/>
                </a:solidFill>
                <a:latin typeface="Calibri" pitchFamily="34" charset="0"/>
                <a:ea typeface="Calibri" pitchFamily="34" charset="-122"/>
                <a:cs typeface="Calibri" pitchFamily="34" charset="-120"/>
              </a:rPr>
              <a:t>SCP Policy Denials</a:t>
            </a:r>
            <a:endParaRPr lang="en-US" sz="1100" dirty="0"/>
          </a:p>
        </p:txBody>
      </p:sp>
      <p:sp>
        <p:nvSpPr>
          <p:cNvPr id="6" name="Text 4"/>
          <p:cNvSpPr/>
          <p:nvPr/>
        </p:nvSpPr>
        <p:spPr>
          <a:xfrm>
            <a:off x="2331720" y="1344168"/>
            <a:ext cx="2926080" cy="5029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Service Control Policies blocked Bedrock API calls across accounts</a:t>
            </a:r>
            <a:endParaRPr lang="en-US" sz="1000" dirty="0"/>
          </a:p>
        </p:txBody>
      </p:sp>
      <p:sp>
        <p:nvSpPr>
          <p:cNvPr id="7" name="Text 5"/>
          <p:cNvSpPr/>
          <p:nvPr/>
        </p:nvSpPr>
        <p:spPr>
          <a:xfrm>
            <a:off x="5321808" y="1344168"/>
            <a:ext cx="3291840" cy="502920"/>
          </a:xfrm>
          <a:prstGeom prst="rect">
            <a:avLst/>
          </a:prstGeom>
          <a:noFill/>
          <a:ln/>
        </p:spPr>
        <p:txBody>
          <a:bodyPr wrap="square" lIns="0" tIns="0" rIns="0" bIns="0" rtlCol="0" anchor="ctr"/>
          <a:lstStyle/>
          <a:p>
            <a:pPr indent="0" marL="0">
              <a:buNone/>
            </a:pPr>
            <a:r>
              <a:rPr lang="en-US" sz="1000" dirty="0">
                <a:solidFill>
                  <a:srgbClr val="2EA44F"/>
                </a:solidFill>
                <a:latin typeface="Calibri" pitchFamily="34" charset="0"/>
                <a:ea typeface="Calibri" pitchFamily="34" charset="-122"/>
                <a:cs typeface="Calibri" pitchFamily="34" charset="-120"/>
              </a:rPr>
              <a:t>✓  Analyzed SCP tree, updated allow list with specific Bedrock ARNs and condition keys</a:t>
            </a:r>
            <a:endParaRPr lang="en-US" sz="1000" dirty="0"/>
          </a:p>
        </p:txBody>
      </p:sp>
      <p:sp>
        <p:nvSpPr>
          <p:cNvPr id="8" name="Shape 6"/>
          <p:cNvSpPr/>
          <p:nvPr/>
        </p:nvSpPr>
        <p:spPr>
          <a:xfrm>
            <a:off x="457200" y="2029968"/>
            <a:ext cx="8321040" cy="621792"/>
          </a:xfrm>
          <a:prstGeom prst="roundRect">
            <a:avLst>
              <a:gd name="adj" fmla="val 10294"/>
            </a:avLst>
          </a:prstGeom>
          <a:solidFill>
            <a:srgbClr val="161B22"/>
          </a:solidFill>
          <a:ln w="12700">
            <a:solidFill>
              <a:srgbClr val="A371F7"/>
            </a:solidFill>
            <a:prstDash val="solid"/>
          </a:ln>
          <a:effectLst>
            <a:outerShdw sx="100000" sy="100000" kx="0" ky="0" algn="bl" rotWithShape="0" blurRad="101600" dist="38100" dir="2700000">
              <a:srgbClr val="000000">
                <a:alpha val="30000"/>
              </a:srgbClr>
            </a:outerShdw>
          </a:effectLst>
        </p:spPr>
      </p:sp>
      <p:sp>
        <p:nvSpPr>
          <p:cNvPr id="9" name="Text 7"/>
          <p:cNvSpPr/>
          <p:nvPr/>
        </p:nvSpPr>
        <p:spPr>
          <a:xfrm>
            <a:off x="594360" y="2093976"/>
            <a:ext cx="1691640" cy="502920"/>
          </a:xfrm>
          <a:prstGeom prst="rect">
            <a:avLst/>
          </a:prstGeom>
          <a:noFill/>
          <a:ln/>
        </p:spPr>
        <p:txBody>
          <a:bodyPr wrap="square" lIns="0" tIns="0" rIns="0" bIns="0" rtlCol="0" anchor="ctr"/>
          <a:lstStyle/>
          <a:p>
            <a:pPr indent="0" marL="0">
              <a:buNone/>
            </a:pPr>
            <a:r>
              <a:rPr lang="en-US" sz="1100" b="1" dirty="0">
                <a:solidFill>
                  <a:srgbClr val="A371F7"/>
                </a:solidFill>
                <a:latin typeface="Calibri" pitchFamily="34" charset="0"/>
                <a:ea typeface="Calibri" pitchFamily="34" charset="-122"/>
                <a:cs typeface="Calibri" pitchFamily="34" charset="-120"/>
              </a:rPr>
              <a:t>Cross-Account Bedrock</a:t>
            </a:r>
            <a:endParaRPr lang="en-US" sz="1100" dirty="0"/>
          </a:p>
        </p:txBody>
      </p:sp>
      <p:sp>
        <p:nvSpPr>
          <p:cNvPr id="10" name="Text 8"/>
          <p:cNvSpPr/>
          <p:nvPr/>
        </p:nvSpPr>
        <p:spPr>
          <a:xfrm>
            <a:off x="2331720" y="2093976"/>
            <a:ext cx="2926080" cy="5029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chatbot-service couldn't reach Bedrock in a separate AWS account</a:t>
            </a:r>
            <a:endParaRPr lang="en-US" sz="1000" dirty="0"/>
          </a:p>
        </p:txBody>
      </p:sp>
      <p:sp>
        <p:nvSpPr>
          <p:cNvPr id="11" name="Text 9"/>
          <p:cNvSpPr/>
          <p:nvPr/>
        </p:nvSpPr>
        <p:spPr>
          <a:xfrm>
            <a:off x="5321808" y="2093976"/>
            <a:ext cx="3291840" cy="502920"/>
          </a:xfrm>
          <a:prstGeom prst="rect">
            <a:avLst/>
          </a:prstGeom>
          <a:noFill/>
          <a:ln/>
        </p:spPr>
        <p:txBody>
          <a:bodyPr wrap="square" lIns="0" tIns="0" rIns="0" bIns="0" rtlCol="0" anchor="ctr"/>
          <a:lstStyle/>
          <a:p>
            <a:pPr indent="0" marL="0">
              <a:buNone/>
            </a:pPr>
            <a:r>
              <a:rPr lang="en-US" sz="1000" dirty="0">
                <a:solidFill>
                  <a:srgbClr val="2EA44F"/>
                </a:solidFill>
                <a:latin typeface="Calibri" pitchFamily="34" charset="0"/>
                <a:ea typeface="Calibri" pitchFamily="34" charset="-122"/>
                <a:cs typeface="Calibri" pitchFamily="34" charset="-120"/>
              </a:rPr>
              <a:t>✓  Implemented STS AssumeRole with trust policy and IRSA-chained credential flow</a:t>
            </a:r>
            <a:endParaRPr lang="en-US" sz="1000" dirty="0"/>
          </a:p>
        </p:txBody>
      </p:sp>
      <p:sp>
        <p:nvSpPr>
          <p:cNvPr id="12" name="Shape 10"/>
          <p:cNvSpPr/>
          <p:nvPr/>
        </p:nvSpPr>
        <p:spPr>
          <a:xfrm>
            <a:off x="457200" y="2779776"/>
            <a:ext cx="8321040" cy="621792"/>
          </a:xfrm>
          <a:prstGeom prst="roundRect">
            <a:avLst>
              <a:gd name="adj" fmla="val 10294"/>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594360" y="2843784"/>
            <a:ext cx="1691640" cy="502920"/>
          </a:xfrm>
          <a:prstGeom prst="rect">
            <a:avLst/>
          </a:prstGeom>
          <a:noFill/>
          <a:ln/>
        </p:spPr>
        <p:txBody>
          <a:bodyPr wrap="square" lIns="0" tIns="0" rIns="0" bIns="0"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EKS Networking Issues</a:t>
            </a:r>
            <a:endParaRPr lang="en-US" sz="1100" dirty="0"/>
          </a:p>
        </p:txBody>
      </p:sp>
      <p:sp>
        <p:nvSpPr>
          <p:cNvPr id="14" name="Text 12"/>
          <p:cNvSpPr/>
          <p:nvPr/>
        </p:nvSpPr>
        <p:spPr>
          <a:xfrm>
            <a:off x="2331720" y="2843784"/>
            <a:ext cx="2926080" cy="5029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Pods unable to resolve internal DNS and reach RDS endpoint</a:t>
            </a:r>
            <a:endParaRPr lang="en-US" sz="1000" dirty="0"/>
          </a:p>
        </p:txBody>
      </p:sp>
      <p:sp>
        <p:nvSpPr>
          <p:cNvPr id="15" name="Text 13"/>
          <p:cNvSpPr/>
          <p:nvPr/>
        </p:nvSpPr>
        <p:spPr>
          <a:xfrm>
            <a:off x="5321808" y="2843784"/>
            <a:ext cx="3291840" cy="502920"/>
          </a:xfrm>
          <a:prstGeom prst="rect">
            <a:avLst/>
          </a:prstGeom>
          <a:noFill/>
          <a:ln/>
        </p:spPr>
        <p:txBody>
          <a:bodyPr wrap="square" lIns="0" tIns="0" rIns="0" bIns="0" rtlCol="0" anchor="ctr"/>
          <a:lstStyle/>
          <a:p>
            <a:pPr indent="0" marL="0">
              <a:buNone/>
            </a:pPr>
            <a:r>
              <a:rPr lang="en-US" sz="1000" dirty="0">
                <a:solidFill>
                  <a:srgbClr val="2EA44F"/>
                </a:solidFill>
                <a:latin typeface="Calibri" pitchFamily="34" charset="0"/>
                <a:ea typeface="Calibri" pitchFamily="34" charset="-122"/>
                <a:cs typeface="Calibri" pitchFamily="34" charset="-120"/>
              </a:rPr>
              <a:t>✓  Corrected CoreDNS config, security group rules, and VPC subnet route tables</a:t>
            </a:r>
            <a:endParaRPr lang="en-US" sz="1000" dirty="0"/>
          </a:p>
        </p:txBody>
      </p:sp>
      <p:sp>
        <p:nvSpPr>
          <p:cNvPr id="16" name="Shape 14"/>
          <p:cNvSpPr/>
          <p:nvPr/>
        </p:nvSpPr>
        <p:spPr>
          <a:xfrm>
            <a:off x="457200" y="3529584"/>
            <a:ext cx="8321040" cy="621792"/>
          </a:xfrm>
          <a:prstGeom prst="roundRect">
            <a:avLst>
              <a:gd name="adj" fmla="val 10294"/>
            </a:avLst>
          </a:prstGeom>
          <a:solidFill>
            <a:srgbClr val="161B22"/>
          </a:solidFill>
          <a:ln w="12700">
            <a:solidFill>
              <a:srgbClr val="E3B341"/>
            </a:solidFill>
            <a:prstDash val="solid"/>
          </a:ln>
          <a:effectLst>
            <a:outerShdw sx="100000" sy="100000" kx="0" ky="0" algn="bl" rotWithShape="0" blurRad="101600" dist="38100" dir="2700000">
              <a:srgbClr val="000000">
                <a:alpha val="30000"/>
              </a:srgbClr>
            </a:outerShdw>
          </a:effectLst>
        </p:spPr>
      </p:sp>
      <p:sp>
        <p:nvSpPr>
          <p:cNvPr id="17" name="Text 15"/>
          <p:cNvSpPr/>
          <p:nvPr/>
        </p:nvSpPr>
        <p:spPr>
          <a:xfrm>
            <a:off x="594360" y="3593592"/>
            <a:ext cx="1691640" cy="502920"/>
          </a:xfrm>
          <a:prstGeom prst="rect">
            <a:avLst/>
          </a:prstGeom>
          <a:noFill/>
          <a:ln/>
        </p:spPr>
        <p:txBody>
          <a:bodyPr wrap="square" lIns="0" tIns="0" rIns="0" bIns="0" rtlCol="0" anchor="ctr"/>
          <a:lstStyle/>
          <a:p>
            <a:pPr indent="0" marL="0">
              <a:buNone/>
            </a:pPr>
            <a:r>
              <a:rPr lang="en-US" sz="1100" b="1" dirty="0">
                <a:solidFill>
                  <a:srgbClr val="E3B341"/>
                </a:solidFill>
                <a:latin typeface="Calibri" pitchFamily="34" charset="0"/>
                <a:ea typeface="Calibri" pitchFamily="34" charset="-122"/>
                <a:cs typeface="Calibri" pitchFamily="34" charset="-120"/>
              </a:rPr>
              <a:t>NetworkPolicy Debugging</a:t>
            </a:r>
            <a:endParaRPr lang="en-US" sz="1100" dirty="0"/>
          </a:p>
        </p:txBody>
      </p:sp>
      <p:sp>
        <p:nvSpPr>
          <p:cNvPr id="18" name="Text 16"/>
          <p:cNvSpPr/>
          <p:nvPr/>
        </p:nvSpPr>
        <p:spPr>
          <a:xfrm>
            <a:off x="2331720" y="3593592"/>
            <a:ext cx="2926080" cy="5029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Default-deny policies caused silent service failures with no error messages</a:t>
            </a:r>
            <a:endParaRPr lang="en-US" sz="1000" dirty="0"/>
          </a:p>
        </p:txBody>
      </p:sp>
      <p:sp>
        <p:nvSpPr>
          <p:cNvPr id="19" name="Text 17"/>
          <p:cNvSpPr/>
          <p:nvPr/>
        </p:nvSpPr>
        <p:spPr>
          <a:xfrm>
            <a:off x="5321808" y="3593592"/>
            <a:ext cx="3291840" cy="502920"/>
          </a:xfrm>
          <a:prstGeom prst="rect">
            <a:avLst/>
          </a:prstGeom>
          <a:noFill/>
          <a:ln/>
        </p:spPr>
        <p:txBody>
          <a:bodyPr wrap="square" lIns="0" tIns="0" rIns="0" bIns="0" rtlCol="0" anchor="ctr"/>
          <a:lstStyle/>
          <a:p>
            <a:pPr indent="0" marL="0">
              <a:buNone/>
            </a:pPr>
            <a:r>
              <a:rPr lang="en-US" sz="1000" dirty="0">
                <a:solidFill>
                  <a:srgbClr val="2EA44F"/>
                </a:solidFill>
                <a:latin typeface="Calibri" pitchFamily="34" charset="0"/>
                <a:ea typeface="Calibri" pitchFamily="34" charset="-122"/>
                <a:cs typeface="Calibri" pitchFamily="34" charset="-120"/>
              </a:rPr>
              <a:t>✓  Used kubectl exec + curl to trace allowed paths; iterated policy selectors</a:t>
            </a:r>
            <a:endParaRPr lang="en-US" sz="1000" dirty="0"/>
          </a:p>
        </p:txBody>
      </p:sp>
      <p:sp>
        <p:nvSpPr>
          <p:cNvPr id="20" name="Shape 18"/>
          <p:cNvSpPr/>
          <p:nvPr/>
        </p:nvSpPr>
        <p:spPr>
          <a:xfrm>
            <a:off x="457200" y="4279392"/>
            <a:ext cx="8321040" cy="621792"/>
          </a:xfrm>
          <a:prstGeom prst="roundRect">
            <a:avLst>
              <a:gd name="adj" fmla="val 10294"/>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594360" y="4343400"/>
            <a:ext cx="1691640" cy="502920"/>
          </a:xfrm>
          <a:prstGeom prst="rect">
            <a:avLst/>
          </a:prstGeom>
          <a:noFill/>
          <a:ln/>
        </p:spPr>
        <p:txBody>
          <a:bodyPr wrap="square" lIns="0" tIns="0" rIns="0" bIns="0" rtlCol="0" anchor="ctr"/>
          <a:lstStyle/>
          <a:p>
            <a:pPr indent="0" marL="0">
              <a:buNone/>
            </a:pPr>
            <a:r>
              <a:rPr lang="en-US" sz="1100" b="1" dirty="0">
                <a:solidFill>
                  <a:srgbClr val="00A4BD"/>
                </a:solidFill>
                <a:latin typeface="Calibri" pitchFamily="34" charset="0"/>
                <a:ea typeface="Calibri" pitchFamily="34" charset="-122"/>
                <a:cs typeface="Calibri" pitchFamily="34" charset="-120"/>
              </a:rPr>
              <a:t>GitOps Sync Failures</a:t>
            </a:r>
            <a:endParaRPr lang="en-US" sz="1100" dirty="0"/>
          </a:p>
        </p:txBody>
      </p:sp>
      <p:sp>
        <p:nvSpPr>
          <p:cNvPr id="22" name="Text 20"/>
          <p:cNvSpPr/>
          <p:nvPr/>
        </p:nvSpPr>
        <p:spPr>
          <a:xfrm>
            <a:off x="2331720" y="4343400"/>
            <a:ext cx="2926080" cy="50292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ArgoCD out-of-sync state after manual kubectl changes to cluster</a:t>
            </a:r>
            <a:endParaRPr lang="en-US" sz="1000" dirty="0"/>
          </a:p>
        </p:txBody>
      </p:sp>
      <p:sp>
        <p:nvSpPr>
          <p:cNvPr id="23" name="Text 21"/>
          <p:cNvSpPr/>
          <p:nvPr/>
        </p:nvSpPr>
        <p:spPr>
          <a:xfrm>
            <a:off x="5321808" y="4343400"/>
            <a:ext cx="3291840" cy="502920"/>
          </a:xfrm>
          <a:prstGeom prst="rect">
            <a:avLst/>
          </a:prstGeom>
          <a:noFill/>
          <a:ln/>
        </p:spPr>
        <p:txBody>
          <a:bodyPr wrap="square" lIns="0" tIns="0" rIns="0" bIns="0" rtlCol="0" anchor="ctr"/>
          <a:lstStyle/>
          <a:p>
            <a:pPr indent="0" marL="0">
              <a:buNone/>
            </a:pPr>
            <a:r>
              <a:rPr lang="en-US" sz="1000" dirty="0">
                <a:solidFill>
                  <a:srgbClr val="2EA44F"/>
                </a:solidFill>
                <a:latin typeface="Calibri" pitchFamily="34" charset="0"/>
                <a:ea typeface="Calibri" pitchFamily="34" charset="-122"/>
                <a:cs typeface="Calibri" pitchFamily="34" charset="-120"/>
              </a:rPr>
              <a:t>✓  Enforced GitOps discipline — reverted manual changes, locked direct kubectl access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FF9900"/>
                </a:solidFill>
                <a:latin typeface="Calibri" pitchFamily="34" charset="0"/>
                <a:ea typeface="Calibri" pitchFamily="34" charset="-122"/>
                <a:cs typeface="Calibri" pitchFamily="34" charset="-120"/>
              </a:rPr>
              <a:t>PROJECT ACHIEVEMENTS</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Built &amp; Delivered</a:t>
            </a:r>
            <a:endParaRPr lang="en-US" sz="3200" dirty="0"/>
          </a:p>
        </p:txBody>
      </p:sp>
      <p:sp>
        <p:nvSpPr>
          <p:cNvPr id="4" name="Shape 2"/>
          <p:cNvSpPr/>
          <p:nvPr/>
        </p:nvSpPr>
        <p:spPr>
          <a:xfrm>
            <a:off x="457200" y="1325880"/>
            <a:ext cx="2697480" cy="1371600"/>
          </a:xfrm>
          <a:prstGeom prst="roundRect">
            <a:avLst>
              <a:gd name="adj" fmla="val 6667"/>
            </a:avLst>
          </a:prstGeom>
          <a:solidFill>
            <a:srgbClr val="161B22"/>
          </a:solidFill>
          <a:ln w="15240">
            <a:solidFill>
              <a:srgbClr val="FF9900"/>
            </a:solidFill>
            <a:prstDash val="solid"/>
          </a:ln>
          <a:effectLst>
            <a:outerShdw sx="100000" sy="100000" kx="0" ky="0" algn="bl" rotWithShape="0" blurRad="101600" dist="38100" dir="2700000">
              <a:srgbClr val="000000">
                <a:alpha val="30000"/>
              </a:srgbClr>
            </a:outerShdw>
          </a:effectLst>
        </p:spPr>
      </p:sp>
      <p:sp>
        <p:nvSpPr>
          <p:cNvPr id="5" name="Text 3"/>
          <p:cNvSpPr/>
          <p:nvPr/>
        </p:nvSpPr>
        <p:spPr>
          <a:xfrm>
            <a:off x="457200" y="1463040"/>
            <a:ext cx="2697480" cy="658368"/>
          </a:xfrm>
          <a:prstGeom prst="rect">
            <a:avLst/>
          </a:prstGeom>
          <a:noFill/>
          <a:ln/>
        </p:spPr>
        <p:txBody>
          <a:bodyPr wrap="square" lIns="0" tIns="0" rIns="0" bIns="0" rtlCol="0" anchor="ctr"/>
          <a:lstStyle/>
          <a:p>
            <a:pPr algn="ctr" indent="0" marL="0">
              <a:buNone/>
            </a:pPr>
            <a:r>
              <a:rPr lang="en-US" sz="4800" b="1" dirty="0">
                <a:solidFill>
                  <a:srgbClr val="FF9900"/>
                </a:solidFill>
                <a:latin typeface="Cambria" pitchFamily="34" charset="0"/>
                <a:ea typeface="Cambria" pitchFamily="34" charset="-122"/>
                <a:cs typeface="Cambria" pitchFamily="34" charset="-120"/>
              </a:rPr>
              <a:t>12</a:t>
            </a:r>
            <a:endParaRPr lang="en-US" sz="4800" dirty="0"/>
          </a:p>
        </p:txBody>
      </p:sp>
      <p:sp>
        <p:nvSpPr>
          <p:cNvPr id="6" name="Text 4"/>
          <p:cNvSpPr/>
          <p:nvPr/>
        </p:nvSpPr>
        <p:spPr>
          <a:xfrm>
            <a:off x="457200" y="2139696"/>
            <a:ext cx="2697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Terraform Modules</a:t>
            </a:r>
            <a:endParaRPr lang="en-US" sz="1300" dirty="0"/>
          </a:p>
        </p:txBody>
      </p:sp>
      <p:sp>
        <p:nvSpPr>
          <p:cNvPr id="7" name="Text 5"/>
          <p:cNvSpPr/>
          <p:nvPr/>
        </p:nvSpPr>
        <p:spPr>
          <a:xfrm>
            <a:off x="457200" y="2423160"/>
            <a:ext cx="2697480" cy="20116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Full IaC coverage</a:t>
            </a:r>
            <a:endParaRPr lang="en-US" sz="1000" dirty="0"/>
          </a:p>
        </p:txBody>
      </p:sp>
      <p:sp>
        <p:nvSpPr>
          <p:cNvPr id="8" name="Shape 6"/>
          <p:cNvSpPr/>
          <p:nvPr/>
        </p:nvSpPr>
        <p:spPr>
          <a:xfrm>
            <a:off x="3337560" y="1325880"/>
            <a:ext cx="2697480" cy="1371600"/>
          </a:xfrm>
          <a:prstGeom prst="roundRect">
            <a:avLst>
              <a:gd name="adj" fmla="val 6667"/>
            </a:avLst>
          </a:prstGeom>
          <a:solidFill>
            <a:srgbClr val="161B22"/>
          </a:solidFill>
          <a:ln w="15240">
            <a:solidFill>
              <a:srgbClr val="00A4BD"/>
            </a:solidFill>
            <a:prstDash val="solid"/>
          </a:ln>
          <a:effectLst>
            <a:outerShdw sx="100000" sy="100000" kx="0" ky="0" algn="bl" rotWithShape="0" blurRad="101600" dist="38100" dir="2700000">
              <a:srgbClr val="000000">
                <a:alpha val="30000"/>
              </a:srgbClr>
            </a:outerShdw>
          </a:effectLst>
        </p:spPr>
      </p:sp>
      <p:sp>
        <p:nvSpPr>
          <p:cNvPr id="9" name="Text 7"/>
          <p:cNvSpPr/>
          <p:nvPr/>
        </p:nvSpPr>
        <p:spPr>
          <a:xfrm>
            <a:off x="3337560" y="1463040"/>
            <a:ext cx="2697480" cy="658368"/>
          </a:xfrm>
          <a:prstGeom prst="rect">
            <a:avLst/>
          </a:prstGeom>
          <a:noFill/>
          <a:ln/>
        </p:spPr>
        <p:txBody>
          <a:bodyPr wrap="square" lIns="0" tIns="0" rIns="0" bIns="0" rtlCol="0" anchor="ctr"/>
          <a:lstStyle/>
          <a:p>
            <a:pPr algn="ctr" indent="0" marL="0">
              <a:buNone/>
            </a:pPr>
            <a:r>
              <a:rPr lang="en-US" sz="4800" b="1" dirty="0">
                <a:solidFill>
                  <a:srgbClr val="00A4BD"/>
                </a:solidFill>
                <a:latin typeface="Cambria" pitchFamily="34" charset="0"/>
                <a:ea typeface="Cambria" pitchFamily="34" charset="-122"/>
                <a:cs typeface="Cambria" pitchFamily="34" charset="-120"/>
              </a:rPr>
              <a:t>5</a:t>
            </a:r>
            <a:endParaRPr lang="en-US" sz="4800" dirty="0"/>
          </a:p>
        </p:txBody>
      </p:sp>
      <p:sp>
        <p:nvSpPr>
          <p:cNvPr id="10" name="Text 8"/>
          <p:cNvSpPr/>
          <p:nvPr/>
        </p:nvSpPr>
        <p:spPr>
          <a:xfrm>
            <a:off x="3337560" y="2139696"/>
            <a:ext cx="2697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Microservices</a:t>
            </a:r>
            <a:endParaRPr lang="en-US" sz="1300" dirty="0"/>
          </a:p>
        </p:txBody>
      </p:sp>
      <p:sp>
        <p:nvSpPr>
          <p:cNvPr id="11" name="Text 9"/>
          <p:cNvSpPr/>
          <p:nvPr/>
        </p:nvSpPr>
        <p:spPr>
          <a:xfrm>
            <a:off x="3337560" y="2423160"/>
            <a:ext cx="2697480" cy="20116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Cloud-native architecture</a:t>
            </a:r>
            <a:endParaRPr lang="en-US" sz="1000" dirty="0"/>
          </a:p>
        </p:txBody>
      </p:sp>
      <p:sp>
        <p:nvSpPr>
          <p:cNvPr id="12" name="Shape 10"/>
          <p:cNvSpPr/>
          <p:nvPr/>
        </p:nvSpPr>
        <p:spPr>
          <a:xfrm>
            <a:off x="6217920" y="1325880"/>
            <a:ext cx="2697480" cy="1371600"/>
          </a:xfrm>
          <a:prstGeom prst="roundRect">
            <a:avLst>
              <a:gd name="adj" fmla="val 6667"/>
            </a:avLst>
          </a:prstGeom>
          <a:solidFill>
            <a:srgbClr val="161B22"/>
          </a:solidFill>
          <a:ln w="15240">
            <a:solidFill>
              <a:srgbClr val="2EA44F"/>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6217920" y="1463040"/>
            <a:ext cx="2697480" cy="658368"/>
          </a:xfrm>
          <a:prstGeom prst="rect">
            <a:avLst/>
          </a:prstGeom>
          <a:noFill/>
          <a:ln/>
        </p:spPr>
        <p:txBody>
          <a:bodyPr wrap="square" lIns="0" tIns="0" rIns="0" bIns="0" rtlCol="0" anchor="ctr"/>
          <a:lstStyle/>
          <a:p>
            <a:pPr algn="ctr" indent="0" marL="0">
              <a:buNone/>
            </a:pPr>
            <a:r>
              <a:rPr lang="en-US" sz="4800" b="1" dirty="0">
                <a:solidFill>
                  <a:srgbClr val="2EA44F"/>
                </a:solidFill>
                <a:latin typeface="Cambria" pitchFamily="34" charset="0"/>
                <a:ea typeface="Cambria" pitchFamily="34" charset="-122"/>
                <a:cs typeface="Cambria" pitchFamily="34" charset="-120"/>
              </a:rPr>
              <a:t>9</a:t>
            </a:r>
            <a:endParaRPr lang="en-US" sz="4800" dirty="0"/>
          </a:p>
        </p:txBody>
      </p:sp>
      <p:sp>
        <p:nvSpPr>
          <p:cNvPr id="14" name="Text 12"/>
          <p:cNvSpPr/>
          <p:nvPr/>
        </p:nvSpPr>
        <p:spPr>
          <a:xfrm>
            <a:off x="6217920" y="2139696"/>
            <a:ext cx="2697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CI/CD Stages</a:t>
            </a:r>
            <a:endParaRPr lang="en-US" sz="1300" dirty="0"/>
          </a:p>
        </p:txBody>
      </p:sp>
      <p:sp>
        <p:nvSpPr>
          <p:cNvPr id="15" name="Text 13"/>
          <p:cNvSpPr/>
          <p:nvPr/>
        </p:nvSpPr>
        <p:spPr>
          <a:xfrm>
            <a:off x="6217920" y="2423160"/>
            <a:ext cx="2697480" cy="20116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Automated quality gates</a:t>
            </a:r>
            <a:endParaRPr lang="en-US" sz="1000" dirty="0"/>
          </a:p>
        </p:txBody>
      </p:sp>
      <p:sp>
        <p:nvSpPr>
          <p:cNvPr id="16" name="Shape 14"/>
          <p:cNvSpPr/>
          <p:nvPr/>
        </p:nvSpPr>
        <p:spPr>
          <a:xfrm>
            <a:off x="457200" y="2898648"/>
            <a:ext cx="2697480" cy="1371600"/>
          </a:xfrm>
          <a:prstGeom prst="roundRect">
            <a:avLst>
              <a:gd name="adj" fmla="val 6667"/>
            </a:avLst>
          </a:prstGeom>
          <a:solidFill>
            <a:srgbClr val="161B22"/>
          </a:solidFill>
          <a:ln w="15240">
            <a:solidFill>
              <a:srgbClr val="F85149"/>
            </a:solidFill>
            <a:prstDash val="solid"/>
          </a:ln>
          <a:effectLst>
            <a:outerShdw sx="100000" sy="100000" kx="0" ky="0" algn="bl" rotWithShape="0" blurRad="101600" dist="38100" dir="2700000">
              <a:srgbClr val="000000">
                <a:alpha val="30000"/>
              </a:srgbClr>
            </a:outerShdw>
          </a:effectLst>
        </p:spPr>
      </p:sp>
      <p:sp>
        <p:nvSpPr>
          <p:cNvPr id="17" name="Text 15"/>
          <p:cNvSpPr/>
          <p:nvPr/>
        </p:nvSpPr>
        <p:spPr>
          <a:xfrm>
            <a:off x="457200" y="3035808"/>
            <a:ext cx="2697480" cy="658368"/>
          </a:xfrm>
          <a:prstGeom prst="rect">
            <a:avLst/>
          </a:prstGeom>
          <a:noFill/>
          <a:ln/>
        </p:spPr>
        <p:txBody>
          <a:bodyPr wrap="square" lIns="0" tIns="0" rIns="0" bIns="0" rtlCol="0" anchor="ctr"/>
          <a:lstStyle/>
          <a:p>
            <a:pPr algn="ctr" indent="0" marL="0">
              <a:buNone/>
            </a:pPr>
            <a:r>
              <a:rPr lang="en-US" sz="4800" b="1" dirty="0">
                <a:solidFill>
                  <a:srgbClr val="F85149"/>
                </a:solidFill>
                <a:latin typeface="Cambria" pitchFamily="34" charset="0"/>
                <a:ea typeface="Cambria" pitchFamily="34" charset="-122"/>
                <a:cs typeface="Cambria" pitchFamily="34" charset="-120"/>
              </a:rPr>
              <a:t>3</a:t>
            </a:r>
            <a:endParaRPr lang="en-US" sz="4800" dirty="0"/>
          </a:p>
        </p:txBody>
      </p:sp>
      <p:sp>
        <p:nvSpPr>
          <p:cNvPr id="18" name="Text 16"/>
          <p:cNvSpPr/>
          <p:nvPr/>
        </p:nvSpPr>
        <p:spPr>
          <a:xfrm>
            <a:off x="457200" y="3712464"/>
            <a:ext cx="2697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Security Scanners</a:t>
            </a:r>
            <a:endParaRPr lang="en-US" sz="1300" dirty="0"/>
          </a:p>
        </p:txBody>
      </p:sp>
      <p:sp>
        <p:nvSpPr>
          <p:cNvPr id="19" name="Text 17"/>
          <p:cNvSpPr/>
          <p:nvPr/>
        </p:nvSpPr>
        <p:spPr>
          <a:xfrm>
            <a:off x="457200" y="3995928"/>
            <a:ext cx="2697480" cy="20116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DevSecOps shift-left</a:t>
            </a:r>
            <a:endParaRPr lang="en-US" sz="1000" dirty="0"/>
          </a:p>
        </p:txBody>
      </p:sp>
      <p:sp>
        <p:nvSpPr>
          <p:cNvPr id="20" name="Shape 18"/>
          <p:cNvSpPr/>
          <p:nvPr/>
        </p:nvSpPr>
        <p:spPr>
          <a:xfrm>
            <a:off x="3337560" y="2898648"/>
            <a:ext cx="2697480" cy="1371600"/>
          </a:xfrm>
          <a:prstGeom prst="roundRect">
            <a:avLst>
              <a:gd name="adj" fmla="val 6667"/>
            </a:avLst>
          </a:prstGeom>
          <a:solidFill>
            <a:srgbClr val="161B22"/>
          </a:solidFill>
          <a:ln w="15240">
            <a:solidFill>
              <a:srgbClr val="E3B341"/>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3337560" y="3035808"/>
            <a:ext cx="2697480" cy="658368"/>
          </a:xfrm>
          <a:prstGeom prst="rect">
            <a:avLst/>
          </a:prstGeom>
          <a:noFill/>
          <a:ln/>
        </p:spPr>
        <p:txBody>
          <a:bodyPr wrap="square" lIns="0" tIns="0" rIns="0" bIns="0" rtlCol="0" anchor="ctr"/>
          <a:lstStyle/>
          <a:p>
            <a:pPr algn="ctr" indent="0" marL="0">
              <a:buNone/>
            </a:pPr>
            <a:r>
              <a:rPr lang="en-US" sz="4800" b="1" dirty="0">
                <a:solidFill>
                  <a:srgbClr val="E3B341"/>
                </a:solidFill>
                <a:latin typeface="Cambria" pitchFamily="34" charset="0"/>
                <a:ea typeface="Cambria" pitchFamily="34" charset="-122"/>
                <a:cs typeface="Cambria" pitchFamily="34" charset="-120"/>
              </a:rPr>
              <a:t>4</a:t>
            </a:r>
            <a:endParaRPr lang="en-US" sz="4800" dirty="0"/>
          </a:p>
        </p:txBody>
      </p:sp>
      <p:sp>
        <p:nvSpPr>
          <p:cNvPr id="22" name="Text 20"/>
          <p:cNvSpPr/>
          <p:nvPr/>
        </p:nvSpPr>
        <p:spPr>
          <a:xfrm>
            <a:off x="3337560" y="3712464"/>
            <a:ext cx="2697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Observability Tools</a:t>
            </a:r>
            <a:endParaRPr lang="en-US" sz="1300" dirty="0"/>
          </a:p>
        </p:txBody>
      </p:sp>
      <p:sp>
        <p:nvSpPr>
          <p:cNvPr id="23" name="Text 21"/>
          <p:cNvSpPr/>
          <p:nvPr/>
        </p:nvSpPr>
        <p:spPr>
          <a:xfrm>
            <a:off x="3337560" y="3995928"/>
            <a:ext cx="2697480" cy="20116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Full-stack monitoring</a:t>
            </a:r>
            <a:endParaRPr lang="en-US" sz="1000" dirty="0"/>
          </a:p>
        </p:txBody>
      </p:sp>
      <p:sp>
        <p:nvSpPr>
          <p:cNvPr id="24" name="Shape 22"/>
          <p:cNvSpPr/>
          <p:nvPr/>
        </p:nvSpPr>
        <p:spPr>
          <a:xfrm>
            <a:off x="6217920" y="2898648"/>
            <a:ext cx="2697480" cy="1371600"/>
          </a:xfrm>
          <a:prstGeom prst="roundRect">
            <a:avLst>
              <a:gd name="adj" fmla="val 6667"/>
            </a:avLst>
          </a:prstGeom>
          <a:solidFill>
            <a:srgbClr val="161B22"/>
          </a:solidFill>
          <a:ln w="15240">
            <a:solidFill>
              <a:srgbClr val="A371F7"/>
            </a:solidFill>
            <a:prstDash val="solid"/>
          </a:ln>
          <a:effectLst>
            <a:outerShdw sx="100000" sy="100000" kx="0" ky="0" algn="bl" rotWithShape="0" blurRad="101600" dist="38100" dir="2700000">
              <a:srgbClr val="000000">
                <a:alpha val="30000"/>
              </a:srgbClr>
            </a:outerShdw>
          </a:effectLst>
        </p:spPr>
      </p:sp>
      <p:sp>
        <p:nvSpPr>
          <p:cNvPr id="25" name="Text 23"/>
          <p:cNvSpPr/>
          <p:nvPr/>
        </p:nvSpPr>
        <p:spPr>
          <a:xfrm>
            <a:off x="6217920" y="3035808"/>
            <a:ext cx="2697480" cy="658368"/>
          </a:xfrm>
          <a:prstGeom prst="rect">
            <a:avLst/>
          </a:prstGeom>
          <a:noFill/>
          <a:ln/>
        </p:spPr>
        <p:txBody>
          <a:bodyPr wrap="square" lIns="0" tIns="0" rIns="0" bIns="0" rtlCol="0" anchor="ctr"/>
          <a:lstStyle/>
          <a:p>
            <a:pPr algn="ctr" indent="0" marL="0">
              <a:buNone/>
            </a:pPr>
            <a:r>
              <a:rPr lang="en-US" sz="4800" b="1" dirty="0">
                <a:solidFill>
                  <a:srgbClr val="A371F7"/>
                </a:solidFill>
                <a:latin typeface="Cambria" pitchFamily="34" charset="0"/>
                <a:ea typeface="Cambria" pitchFamily="34" charset="-122"/>
                <a:cs typeface="Cambria" pitchFamily="34" charset="-120"/>
              </a:rPr>
              <a:t>2</a:t>
            </a:r>
            <a:endParaRPr lang="en-US" sz="4800" dirty="0"/>
          </a:p>
        </p:txBody>
      </p:sp>
      <p:sp>
        <p:nvSpPr>
          <p:cNvPr id="26" name="Text 24"/>
          <p:cNvSpPr/>
          <p:nvPr/>
        </p:nvSpPr>
        <p:spPr>
          <a:xfrm>
            <a:off x="6217920" y="3712464"/>
            <a:ext cx="269748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AWS Accounts</a:t>
            </a:r>
            <a:endParaRPr lang="en-US" sz="1300" dirty="0"/>
          </a:p>
        </p:txBody>
      </p:sp>
      <p:sp>
        <p:nvSpPr>
          <p:cNvPr id="27" name="Text 25"/>
          <p:cNvSpPr/>
          <p:nvPr/>
        </p:nvSpPr>
        <p:spPr>
          <a:xfrm>
            <a:off x="6217920" y="3995928"/>
            <a:ext cx="2697480" cy="201168"/>
          </a:xfrm>
          <a:prstGeom prst="rect">
            <a:avLst/>
          </a:prstGeom>
          <a:noFill/>
          <a:ln/>
        </p:spPr>
        <p:txBody>
          <a:bodyPr wrap="square" lIns="0" tIns="0" rIns="0" bIns="0"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Cross-account AI pattern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320040"/>
          </a:xfrm>
          <a:prstGeom prst="rect">
            <a:avLst/>
          </a:prstGeom>
          <a:noFill/>
          <a:ln/>
        </p:spPr>
        <p:txBody>
          <a:bodyPr wrap="square" lIns="0" tIns="0" rIns="0" bIns="0" rtlCol="0" anchor="ctr"/>
          <a:lstStyle/>
          <a:p>
            <a:pPr indent="0" marL="0">
              <a:buNone/>
            </a:pPr>
            <a:r>
              <a:rPr lang="en-US" sz="1000" b="1" spc="400" kern="0" dirty="0">
                <a:solidFill>
                  <a:srgbClr val="00A4BD"/>
                </a:solidFill>
                <a:latin typeface="Calibri" pitchFamily="34" charset="0"/>
                <a:ea typeface="Calibri" pitchFamily="34" charset="-122"/>
                <a:cs typeface="Calibri" pitchFamily="34" charset="-120"/>
              </a:rPr>
              <a:t>ROADMAP</a:t>
            </a:r>
            <a:endParaRPr lang="en-US" sz="10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Future Engineering Improvements</a:t>
            </a:r>
            <a:endParaRPr lang="en-US" sz="3200" dirty="0"/>
          </a:p>
        </p:txBody>
      </p:sp>
      <p:sp>
        <p:nvSpPr>
          <p:cNvPr id="4" name="Shape 2"/>
          <p:cNvSpPr/>
          <p:nvPr/>
        </p:nvSpPr>
        <p:spPr>
          <a:xfrm>
            <a:off x="457200" y="1325880"/>
            <a:ext cx="4023360" cy="1024128"/>
          </a:xfrm>
          <a:prstGeom prst="roundRect">
            <a:avLst>
              <a:gd name="adj" fmla="val 7143"/>
            </a:avLst>
          </a:prstGeom>
          <a:solidFill>
            <a:srgbClr val="161B22"/>
          </a:solidFill>
          <a:ln w="12700">
            <a:solidFill>
              <a:srgbClr val="FF9900"/>
            </a:solidFill>
            <a:prstDash val="solid"/>
          </a:ln>
          <a:effectLst>
            <a:outerShdw sx="100000" sy="100000" kx="0" ky="0" algn="bl" rotWithShape="0" blurRad="101600" dist="38100" dir="2700000">
              <a:srgbClr val="000000">
                <a:alpha val="30000"/>
              </a:srgbClr>
            </a:outerShdw>
          </a:effectLst>
        </p:spPr>
      </p:sp>
      <p:sp>
        <p:nvSpPr>
          <p:cNvPr id="5" name="Shape 3"/>
          <p:cNvSpPr/>
          <p:nvPr/>
        </p:nvSpPr>
        <p:spPr>
          <a:xfrm>
            <a:off x="594360" y="1417320"/>
            <a:ext cx="749808" cy="256032"/>
          </a:xfrm>
          <a:prstGeom prst="roundRect">
            <a:avLst>
              <a:gd name="adj" fmla="val 14286"/>
            </a:avLst>
          </a:prstGeom>
          <a:solidFill>
            <a:srgbClr val="FF9900">
              <a:alpha val="20000"/>
            </a:srgbClr>
          </a:solidFill>
          <a:ln w="6350">
            <a:solidFill>
              <a:srgbClr val="FF9900"/>
            </a:solidFill>
            <a:prstDash val="solid"/>
          </a:ln>
        </p:spPr>
      </p:sp>
      <p:sp>
        <p:nvSpPr>
          <p:cNvPr id="6" name="Text 4"/>
          <p:cNvSpPr/>
          <p:nvPr/>
        </p:nvSpPr>
        <p:spPr>
          <a:xfrm>
            <a:off x="594360" y="1417320"/>
            <a:ext cx="749808" cy="256032"/>
          </a:xfrm>
          <a:prstGeom prst="rect">
            <a:avLst/>
          </a:prstGeom>
          <a:noFill/>
          <a:ln/>
        </p:spPr>
        <p:txBody>
          <a:bodyPr wrap="square" lIns="0" tIns="0" rIns="0" bIns="0" rtlCol="0" anchor="ctr"/>
          <a:lstStyle/>
          <a:p>
            <a:pPr algn="ctr" indent="0" marL="0">
              <a:buNone/>
            </a:pPr>
            <a:r>
              <a:rPr lang="en-US" sz="900" b="1" dirty="0">
                <a:solidFill>
                  <a:srgbClr val="FF9900"/>
                </a:solidFill>
                <a:latin typeface="Calibri" pitchFamily="34" charset="0"/>
                <a:ea typeface="Calibri" pitchFamily="34" charset="-122"/>
                <a:cs typeface="Calibri" pitchFamily="34" charset="-120"/>
              </a:rPr>
              <a:t>Phase 1</a:t>
            </a:r>
            <a:endParaRPr lang="en-US" sz="900" dirty="0"/>
          </a:p>
        </p:txBody>
      </p:sp>
      <p:sp>
        <p:nvSpPr>
          <p:cNvPr id="7" name="Text 5"/>
          <p:cNvSpPr/>
          <p:nvPr/>
        </p:nvSpPr>
        <p:spPr>
          <a:xfrm>
            <a:off x="1417320" y="1408176"/>
            <a:ext cx="2926080" cy="27432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Cluster Autoscaling</a:t>
            </a:r>
            <a:endParaRPr lang="en-US" sz="1300" dirty="0"/>
          </a:p>
        </p:txBody>
      </p:sp>
      <p:sp>
        <p:nvSpPr>
          <p:cNvPr id="8" name="Text 6"/>
          <p:cNvSpPr/>
          <p:nvPr/>
        </p:nvSpPr>
        <p:spPr>
          <a:xfrm>
            <a:off x="594360" y="1719072"/>
            <a:ext cx="374904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Karpenter node provisioner for intelligent auto-scaling based on workload shape</a:t>
            </a:r>
            <a:endParaRPr lang="en-US" sz="1050" dirty="0"/>
          </a:p>
        </p:txBody>
      </p:sp>
      <p:sp>
        <p:nvSpPr>
          <p:cNvPr id="9" name="Shape 7"/>
          <p:cNvSpPr/>
          <p:nvPr/>
        </p:nvSpPr>
        <p:spPr>
          <a:xfrm>
            <a:off x="4800600" y="1325880"/>
            <a:ext cx="4023360" cy="1024128"/>
          </a:xfrm>
          <a:prstGeom prst="roundRect">
            <a:avLst>
              <a:gd name="adj" fmla="val 7143"/>
            </a:avLst>
          </a:prstGeom>
          <a:solidFill>
            <a:srgbClr val="161B22"/>
          </a:solidFill>
          <a:ln w="12700">
            <a:solidFill>
              <a:srgbClr val="00A4BD"/>
            </a:solidFill>
            <a:prstDash val="solid"/>
          </a:ln>
          <a:effectLst>
            <a:outerShdw sx="100000" sy="100000" kx="0" ky="0" algn="bl" rotWithShape="0" blurRad="101600" dist="38100" dir="2700000">
              <a:srgbClr val="000000">
                <a:alpha val="30000"/>
              </a:srgbClr>
            </a:outerShdw>
          </a:effectLst>
        </p:spPr>
      </p:sp>
      <p:sp>
        <p:nvSpPr>
          <p:cNvPr id="10" name="Shape 8"/>
          <p:cNvSpPr/>
          <p:nvPr/>
        </p:nvSpPr>
        <p:spPr>
          <a:xfrm>
            <a:off x="4937760" y="1417320"/>
            <a:ext cx="749808" cy="256032"/>
          </a:xfrm>
          <a:prstGeom prst="roundRect">
            <a:avLst>
              <a:gd name="adj" fmla="val 14286"/>
            </a:avLst>
          </a:prstGeom>
          <a:solidFill>
            <a:srgbClr val="FF9900">
              <a:alpha val="20000"/>
            </a:srgbClr>
          </a:solidFill>
          <a:ln w="6350">
            <a:solidFill>
              <a:srgbClr val="FF9900"/>
            </a:solidFill>
            <a:prstDash val="solid"/>
          </a:ln>
        </p:spPr>
      </p:sp>
      <p:sp>
        <p:nvSpPr>
          <p:cNvPr id="11" name="Text 9"/>
          <p:cNvSpPr/>
          <p:nvPr/>
        </p:nvSpPr>
        <p:spPr>
          <a:xfrm>
            <a:off x="4937760" y="1417320"/>
            <a:ext cx="749808" cy="256032"/>
          </a:xfrm>
          <a:prstGeom prst="rect">
            <a:avLst/>
          </a:prstGeom>
          <a:noFill/>
          <a:ln/>
        </p:spPr>
        <p:txBody>
          <a:bodyPr wrap="square" lIns="0" tIns="0" rIns="0" bIns="0" rtlCol="0" anchor="ctr"/>
          <a:lstStyle/>
          <a:p>
            <a:pPr algn="ctr" indent="0" marL="0">
              <a:buNone/>
            </a:pPr>
            <a:r>
              <a:rPr lang="en-US" sz="900" b="1" dirty="0">
                <a:solidFill>
                  <a:srgbClr val="FF9900"/>
                </a:solidFill>
                <a:latin typeface="Calibri" pitchFamily="34" charset="0"/>
                <a:ea typeface="Calibri" pitchFamily="34" charset="-122"/>
                <a:cs typeface="Calibri" pitchFamily="34" charset="-120"/>
              </a:rPr>
              <a:t>Phase 1</a:t>
            </a:r>
            <a:endParaRPr lang="en-US" sz="900" dirty="0"/>
          </a:p>
        </p:txBody>
      </p:sp>
      <p:sp>
        <p:nvSpPr>
          <p:cNvPr id="12" name="Text 10"/>
          <p:cNvSpPr/>
          <p:nvPr/>
        </p:nvSpPr>
        <p:spPr>
          <a:xfrm>
            <a:off x="5760720" y="1408176"/>
            <a:ext cx="2926080" cy="274320"/>
          </a:xfrm>
          <a:prstGeom prst="rect">
            <a:avLst/>
          </a:prstGeom>
          <a:noFill/>
          <a:ln/>
        </p:spPr>
        <p:txBody>
          <a:bodyPr wrap="square" lIns="0" tIns="0" rIns="0" bIns="0" rtlCol="0" anchor="ctr"/>
          <a:lstStyle/>
          <a:p>
            <a:pPr indent="0" marL="0">
              <a:buNone/>
            </a:pPr>
            <a:r>
              <a:rPr lang="en-US" sz="1300" b="1" dirty="0">
                <a:solidFill>
                  <a:srgbClr val="00A4BD"/>
                </a:solidFill>
                <a:latin typeface="Calibri" pitchFamily="34" charset="0"/>
                <a:ea typeface="Calibri" pitchFamily="34" charset="-122"/>
                <a:cs typeface="Calibri" pitchFamily="34" charset="-120"/>
              </a:rPr>
              <a:t>Service Mesh</a:t>
            </a:r>
            <a:endParaRPr lang="en-US" sz="1300" dirty="0"/>
          </a:p>
        </p:txBody>
      </p:sp>
      <p:sp>
        <p:nvSpPr>
          <p:cNvPr id="13" name="Text 11"/>
          <p:cNvSpPr/>
          <p:nvPr/>
        </p:nvSpPr>
        <p:spPr>
          <a:xfrm>
            <a:off x="4937760" y="1719072"/>
            <a:ext cx="374904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Istio / AWS App Mesh for mTLS, traffic splitting, and distributed tracing</a:t>
            </a:r>
            <a:endParaRPr lang="en-US" sz="1050" dirty="0"/>
          </a:p>
        </p:txBody>
      </p:sp>
      <p:sp>
        <p:nvSpPr>
          <p:cNvPr id="14" name="Shape 12"/>
          <p:cNvSpPr/>
          <p:nvPr/>
        </p:nvSpPr>
        <p:spPr>
          <a:xfrm>
            <a:off x="457200" y="2514600"/>
            <a:ext cx="4023360" cy="1024128"/>
          </a:xfrm>
          <a:prstGeom prst="roundRect">
            <a:avLst>
              <a:gd name="adj" fmla="val 7143"/>
            </a:avLst>
          </a:prstGeom>
          <a:solidFill>
            <a:srgbClr val="161B22"/>
          </a:solidFill>
          <a:ln w="12700">
            <a:solidFill>
              <a:srgbClr val="2EA44F"/>
            </a:solidFill>
            <a:prstDash val="solid"/>
          </a:ln>
          <a:effectLst>
            <a:outerShdw sx="100000" sy="100000" kx="0" ky="0" algn="bl" rotWithShape="0" blurRad="101600" dist="38100" dir="2700000">
              <a:srgbClr val="000000">
                <a:alpha val="30000"/>
              </a:srgbClr>
            </a:outerShdw>
          </a:effectLst>
        </p:spPr>
      </p:sp>
      <p:sp>
        <p:nvSpPr>
          <p:cNvPr id="15" name="Shape 13"/>
          <p:cNvSpPr/>
          <p:nvPr/>
        </p:nvSpPr>
        <p:spPr>
          <a:xfrm>
            <a:off x="594360" y="2606040"/>
            <a:ext cx="749808" cy="256032"/>
          </a:xfrm>
          <a:prstGeom prst="roundRect">
            <a:avLst>
              <a:gd name="adj" fmla="val 14286"/>
            </a:avLst>
          </a:prstGeom>
          <a:solidFill>
            <a:srgbClr val="2EA44F">
              <a:alpha val="20000"/>
            </a:srgbClr>
          </a:solidFill>
          <a:ln w="6350">
            <a:solidFill>
              <a:srgbClr val="2EA44F"/>
            </a:solidFill>
            <a:prstDash val="solid"/>
          </a:ln>
        </p:spPr>
      </p:sp>
      <p:sp>
        <p:nvSpPr>
          <p:cNvPr id="16" name="Text 14"/>
          <p:cNvSpPr/>
          <p:nvPr/>
        </p:nvSpPr>
        <p:spPr>
          <a:xfrm>
            <a:off x="594360" y="2606040"/>
            <a:ext cx="749808" cy="256032"/>
          </a:xfrm>
          <a:prstGeom prst="rect">
            <a:avLst/>
          </a:prstGeom>
          <a:noFill/>
          <a:ln/>
        </p:spPr>
        <p:txBody>
          <a:bodyPr wrap="square" lIns="0" tIns="0" rIns="0" bIns="0" rtlCol="0" anchor="ctr"/>
          <a:lstStyle/>
          <a:p>
            <a:pPr algn="ctr" indent="0" marL="0">
              <a:buNone/>
            </a:pPr>
            <a:r>
              <a:rPr lang="en-US" sz="900" b="1" dirty="0">
                <a:solidFill>
                  <a:srgbClr val="2EA44F"/>
                </a:solidFill>
                <a:latin typeface="Calibri" pitchFamily="34" charset="0"/>
                <a:ea typeface="Calibri" pitchFamily="34" charset="-122"/>
                <a:cs typeface="Calibri" pitchFamily="34" charset="-120"/>
              </a:rPr>
              <a:t>Phase 2</a:t>
            </a:r>
            <a:endParaRPr lang="en-US" sz="900" dirty="0"/>
          </a:p>
        </p:txBody>
      </p:sp>
      <p:sp>
        <p:nvSpPr>
          <p:cNvPr id="17" name="Text 15"/>
          <p:cNvSpPr/>
          <p:nvPr/>
        </p:nvSpPr>
        <p:spPr>
          <a:xfrm>
            <a:off x="1417320" y="2596896"/>
            <a:ext cx="2926080" cy="274320"/>
          </a:xfrm>
          <a:prstGeom prst="rect">
            <a:avLst/>
          </a:prstGeom>
          <a:noFill/>
          <a:ln/>
        </p:spPr>
        <p:txBody>
          <a:bodyPr wrap="square" lIns="0" tIns="0" rIns="0" bIns="0" rtlCol="0" anchor="ctr"/>
          <a:lstStyle/>
          <a:p>
            <a:pPr indent="0" marL="0">
              <a:buNone/>
            </a:pPr>
            <a:r>
              <a:rPr lang="en-US" sz="1300" b="1" dirty="0">
                <a:solidFill>
                  <a:srgbClr val="2EA44F"/>
                </a:solidFill>
                <a:latin typeface="Calibri" pitchFamily="34" charset="0"/>
                <a:ea typeface="Calibri" pitchFamily="34" charset="-122"/>
                <a:cs typeface="Calibri" pitchFamily="34" charset="-120"/>
              </a:rPr>
              <a:t>Multi-Region Deploy</a:t>
            </a:r>
            <a:endParaRPr lang="en-US" sz="1300" dirty="0"/>
          </a:p>
        </p:txBody>
      </p:sp>
      <p:sp>
        <p:nvSpPr>
          <p:cNvPr id="18" name="Text 16"/>
          <p:cNvSpPr/>
          <p:nvPr/>
        </p:nvSpPr>
        <p:spPr>
          <a:xfrm>
            <a:off x="594360" y="2907792"/>
            <a:ext cx="374904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Active-active across AWS regions with Route 53 latency routing</a:t>
            </a:r>
            <a:endParaRPr lang="en-US" sz="1050" dirty="0"/>
          </a:p>
        </p:txBody>
      </p:sp>
      <p:sp>
        <p:nvSpPr>
          <p:cNvPr id="19" name="Shape 17"/>
          <p:cNvSpPr/>
          <p:nvPr/>
        </p:nvSpPr>
        <p:spPr>
          <a:xfrm>
            <a:off x="4800600" y="2514600"/>
            <a:ext cx="4023360" cy="1024128"/>
          </a:xfrm>
          <a:prstGeom prst="roundRect">
            <a:avLst>
              <a:gd name="adj" fmla="val 7143"/>
            </a:avLst>
          </a:prstGeom>
          <a:solidFill>
            <a:srgbClr val="161B22"/>
          </a:solidFill>
          <a:ln w="12700">
            <a:solidFill>
              <a:srgbClr val="A371F7"/>
            </a:solidFill>
            <a:prstDash val="solid"/>
          </a:ln>
          <a:effectLst>
            <a:outerShdw sx="100000" sy="100000" kx="0" ky="0" algn="bl" rotWithShape="0" blurRad="101600" dist="38100" dir="2700000">
              <a:srgbClr val="000000">
                <a:alpha val="30000"/>
              </a:srgbClr>
            </a:outerShdw>
          </a:effectLst>
        </p:spPr>
      </p:sp>
      <p:sp>
        <p:nvSpPr>
          <p:cNvPr id="20" name="Shape 18"/>
          <p:cNvSpPr/>
          <p:nvPr/>
        </p:nvSpPr>
        <p:spPr>
          <a:xfrm>
            <a:off x="4937760" y="2606040"/>
            <a:ext cx="749808" cy="256032"/>
          </a:xfrm>
          <a:prstGeom prst="roundRect">
            <a:avLst>
              <a:gd name="adj" fmla="val 14286"/>
            </a:avLst>
          </a:prstGeom>
          <a:solidFill>
            <a:srgbClr val="2EA44F">
              <a:alpha val="20000"/>
            </a:srgbClr>
          </a:solidFill>
          <a:ln w="6350">
            <a:solidFill>
              <a:srgbClr val="2EA44F"/>
            </a:solidFill>
            <a:prstDash val="solid"/>
          </a:ln>
        </p:spPr>
      </p:sp>
      <p:sp>
        <p:nvSpPr>
          <p:cNvPr id="21" name="Text 19"/>
          <p:cNvSpPr/>
          <p:nvPr/>
        </p:nvSpPr>
        <p:spPr>
          <a:xfrm>
            <a:off x="4937760" y="2606040"/>
            <a:ext cx="749808" cy="256032"/>
          </a:xfrm>
          <a:prstGeom prst="rect">
            <a:avLst/>
          </a:prstGeom>
          <a:noFill/>
          <a:ln/>
        </p:spPr>
        <p:txBody>
          <a:bodyPr wrap="square" lIns="0" tIns="0" rIns="0" bIns="0" rtlCol="0" anchor="ctr"/>
          <a:lstStyle/>
          <a:p>
            <a:pPr algn="ctr" indent="0" marL="0">
              <a:buNone/>
            </a:pPr>
            <a:r>
              <a:rPr lang="en-US" sz="900" b="1" dirty="0">
                <a:solidFill>
                  <a:srgbClr val="2EA44F"/>
                </a:solidFill>
                <a:latin typeface="Calibri" pitchFamily="34" charset="0"/>
                <a:ea typeface="Calibri" pitchFamily="34" charset="-122"/>
                <a:cs typeface="Calibri" pitchFamily="34" charset="-120"/>
              </a:rPr>
              <a:t>Phase 2</a:t>
            </a:r>
            <a:endParaRPr lang="en-US" sz="900" dirty="0"/>
          </a:p>
        </p:txBody>
      </p:sp>
      <p:sp>
        <p:nvSpPr>
          <p:cNvPr id="22" name="Text 20"/>
          <p:cNvSpPr/>
          <p:nvPr/>
        </p:nvSpPr>
        <p:spPr>
          <a:xfrm>
            <a:off x="5760720" y="2596896"/>
            <a:ext cx="2926080" cy="274320"/>
          </a:xfrm>
          <a:prstGeom prst="rect">
            <a:avLst/>
          </a:prstGeom>
          <a:noFill/>
          <a:ln/>
        </p:spPr>
        <p:txBody>
          <a:bodyPr wrap="square" lIns="0" tIns="0" rIns="0" bIns="0" rtlCol="0" anchor="ctr"/>
          <a:lstStyle/>
          <a:p>
            <a:pPr indent="0" marL="0">
              <a:buNone/>
            </a:pPr>
            <a:r>
              <a:rPr lang="en-US" sz="1300" b="1" dirty="0">
                <a:solidFill>
                  <a:srgbClr val="A371F7"/>
                </a:solidFill>
                <a:latin typeface="Calibri" pitchFamily="34" charset="0"/>
                <a:ea typeface="Calibri" pitchFamily="34" charset="-122"/>
                <a:cs typeface="Calibri" pitchFamily="34" charset="-120"/>
              </a:rPr>
              <a:t>Blue/Green Deployments</a:t>
            </a:r>
            <a:endParaRPr lang="en-US" sz="1300" dirty="0"/>
          </a:p>
        </p:txBody>
      </p:sp>
      <p:sp>
        <p:nvSpPr>
          <p:cNvPr id="23" name="Text 21"/>
          <p:cNvSpPr/>
          <p:nvPr/>
        </p:nvSpPr>
        <p:spPr>
          <a:xfrm>
            <a:off x="4937760" y="2907792"/>
            <a:ext cx="374904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Zero-downtime releases with Argo Rollouts and weighted traffic shifting</a:t>
            </a:r>
            <a:endParaRPr lang="en-US" sz="1050" dirty="0"/>
          </a:p>
        </p:txBody>
      </p:sp>
      <p:sp>
        <p:nvSpPr>
          <p:cNvPr id="24" name="Shape 22"/>
          <p:cNvSpPr/>
          <p:nvPr/>
        </p:nvSpPr>
        <p:spPr>
          <a:xfrm>
            <a:off x="457200" y="3703320"/>
            <a:ext cx="4023360" cy="1024128"/>
          </a:xfrm>
          <a:prstGeom prst="roundRect">
            <a:avLst>
              <a:gd name="adj" fmla="val 7143"/>
            </a:avLst>
          </a:prstGeom>
          <a:solidFill>
            <a:srgbClr val="161B22"/>
          </a:solidFill>
          <a:ln w="12700">
            <a:solidFill>
              <a:srgbClr val="E3B341"/>
            </a:solidFill>
            <a:prstDash val="solid"/>
          </a:ln>
          <a:effectLst>
            <a:outerShdw sx="100000" sy="100000" kx="0" ky="0" algn="bl" rotWithShape="0" blurRad="101600" dist="38100" dir="2700000">
              <a:srgbClr val="000000">
                <a:alpha val="30000"/>
              </a:srgbClr>
            </a:outerShdw>
          </a:effectLst>
        </p:spPr>
      </p:sp>
      <p:sp>
        <p:nvSpPr>
          <p:cNvPr id="25" name="Shape 23"/>
          <p:cNvSpPr/>
          <p:nvPr/>
        </p:nvSpPr>
        <p:spPr>
          <a:xfrm>
            <a:off x="594360" y="3794760"/>
            <a:ext cx="749808" cy="256032"/>
          </a:xfrm>
          <a:prstGeom prst="roundRect">
            <a:avLst>
              <a:gd name="adj" fmla="val 14286"/>
            </a:avLst>
          </a:prstGeom>
          <a:solidFill>
            <a:srgbClr val="A371F7">
              <a:alpha val="20000"/>
            </a:srgbClr>
          </a:solidFill>
          <a:ln w="6350">
            <a:solidFill>
              <a:srgbClr val="A371F7"/>
            </a:solidFill>
            <a:prstDash val="solid"/>
          </a:ln>
        </p:spPr>
      </p:sp>
      <p:sp>
        <p:nvSpPr>
          <p:cNvPr id="26" name="Text 24"/>
          <p:cNvSpPr/>
          <p:nvPr/>
        </p:nvSpPr>
        <p:spPr>
          <a:xfrm>
            <a:off x="594360" y="3794760"/>
            <a:ext cx="749808" cy="256032"/>
          </a:xfrm>
          <a:prstGeom prst="rect">
            <a:avLst/>
          </a:prstGeom>
          <a:noFill/>
          <a:ln/>
        </p:spPr>
        <p:txBody>
          <a:bodyPr wrap="square" lIns="0" tIns="0" rIns="0" bIns="0" rtlCol="0" anchor="ctr"/>
          <a:lstStyle/>
          <a:p>
            <a:pPr algn="ctr" indent="0" marL="0">
              <a:buNone/>
            </a:pPr>
            <a:r>
              <a:rPr lang="en-US" sz="900" b="1" dirty="0">
                <a:solidFill>
                  <a:srgbClr val="A371F7"/>
                </a:solidFill>
                <a:latin typeface="Calibri" pitchFamily="34" charset="0"/>
                <a:ea typeface="Calibri" pitchFamily="34" charset="-122"/>
                <a:cs typeface="Calibri" pitchFamily="34" charset="-120"/>
              </a:rPr>
              <a:t>Phase 3</a:t>
            </a:r>
            <a:endParaRPr lang="en-US" sz="900" dirty="0"/>
          </a:p>
        </p:txBody>
      </p:sp>
      <p:sp>
        <p:nvSpPr>
          <p:cNvPr id="27" name="Text 25"/>
          <p:cNvSpPr/>
          <p:nvPr/>
        </p:nvSpPr>
        <p:spPr>
          <a:xfrm>
            <a:off x="1417320" y="3785616"/>
            <a:ext cx="2926080" cy="274320"/>
          </a:xfrm>
          <a:prstGeom prst="rect">
            <a:avLst/>
          </a:prstGeom>
          <a:noFill/>
          <a:ln/>
        </p:spPr>
        <p:txBody>
          <a:bodyPr wrap="square" lIns="0" tIns="0" rIns="0" bIns="0" rtlCol="0" anchor="ctr"/>
          <a:lstStyle/>
          <a:p>
            <a:pPr indent="0" marL="0">
              <a:buNone/>
            </a:pPr>
            <a:r>
              <a:rPr lang="en-US" sz="1300" b="1" dirty="0">
                <a:solidFill>
                  <a:srgbClr val="E3B341"/>
                </a:solidFill>
                <a:latin typeface="Calibri" pitchFamily="34" charset="0"/>
                <a:ea typeface="Calibri" pitchFamily="34" charset="-122"/>
                <a:cs typeface="Calibri" pitchFamily="34" charset="-120"/>
              </a:rPr>
              <a:t>Disaster Recovery</a:t>
            </a:r>
            <a:endParaRPr lang="en-US" sz="1300" dirty="0"/>
          </a:p>
        </p:txBody>
      </p:sp>
      <p:sp>
        <p:nvSpPr>
          <p:cNvPr id="28" name="Text 26"/>
          <p:cNvSpPr/>
          <p:nvPr/>
        </p:nvSpPr>
        <p:spPr>
          <a:xfrm>
            <a:off x="594360" y="4096512"/>
            <a:ext cx="374904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RTO/RPO objectives with cross-region RDS replicas and S3 replication</a:t>
            </a:r>
            <a:endParaRPr lang="en-US" sz="1050" dirty="0"/>
          </a:p>
        </p:txBody>
      </p:sp>
      <p:sp>
        <p:nvSpPr>
          <p:cNvPr id="29" name="Shape 27"/>
          <p:cNvSpPr/>
          <p:nvPr/>
        </p:nvSpPr>
        <p:spPr>
          <a:xfrm>
            <a:off x="4800600" y="3703320"/>
            <a:ext cx="4023360" cy="1024128"/>
          </a:xfrm>
          <a:prstGeom prst="roundRect">
            <a:avLst>
              <a:gd name="adj" fmla="val 7143"/>
            </a:avLst>
          </a:prstGeom>
          <a:solidFill>
            <a:srgbClr val="161B22"/>
          </a:solidFill>
          <a:ln w="12700">
            <a:solidFill>
              <a:srgbClr val="F85149"/>
            </a:solidFill>
            <a:prstDash val="solid"/>
          </a:ln>
          <a:effectLst>
            <a:outerShdw sx="100000" sy="100000" kx="0" ky="0" algn="bl" rotWithShape="0" blurRad="101600" dist="38100" dir="2700000">
              <a:srgbClr val="000000">
                <a:alpha val="30000"/>
              </a:srgbClr>
            </a:outerShdw>
          </a:effectLst>
        </p:spPr>
      </p:sp>
      <p:sp>
        <p:nvSpPr>
          <p:cNvPr id="30" name="Shape 28"/>
          <p:cNvSpPr/>
          <p:nvPr/>
        </p:nvSpPr>
        <p:spPr>
          <a:xfrm>
            <a:off x="4937760" y="3794760"/>
            <a:ext cx="749808" cy="256032"/>
          </a:xfrm>
          <a:prstGeom prst="roundRect">
            <a:avLst>
              <a:gd name="adj" fmla="val 14286"/>
            </a:avLst>
          </a:prstGeom>
          <a:solidFill>
            <a:srgbClr val="A371F7">
              <a:alpha val="20000"/>
            </a:srgbClr>
          </a:solidFill>
          <a:ln w="6350">
            <a:solidFill>
              <a:srgbClr val="A371F7"/>
            </a:solidFill>
            <a:prstDash val="solid"/>
          </a:ln>
        </p:spPr>
      </p:sp>
      <p:sp>
        <p:nvSpPr>
          <p:cNvPr id="31" name="Text 29"/>
          <p:cNvSpPr/>
          <p:nvPr/>
        </p:nvSpPr>
        <p:spPr>
          <a:xfrm>
            <a:off x="4937760" y="3794760"/>
            <a:ext cx="749808" cy="256032"/>
          </a:xfrm>
          <a:prstGeom prst="rect">
            <a:avLst/>
          </a:prstGeom>
          <a:noFill/>
          <a:ln/>
        </p:spPr>
        <p:txBody>
          <a:bodyPr wrap="square" lIns="0" tIns="0" rIns="0" bIns="0" rtlCol="0" anchor="ctr"/>
          <a:lstStyle/>
          <a:p>
            <a:pPr algn="ctr" indent="0" marL="0">
              <a:buNone/>
            </a:pPr>
            <a:r>
              <a:rPr lang="en-US" sz="900" b="1" dirty="0">
                <a:solidFill>
                  <a:srgbClr val="A371F7"/>
                </a:solidFill>
                <a:latin typeface="Calibri" pitchFamily="34" charset="0"/>
                <a:ea typeface="Calibri" pitchFamily="34" charset="-122"/>
                <a:cs typeface="Calibri" pitchFamily="34" charset="-120"/>
              </a:rPr>
              <a:t>Phase 3</a:t>
            </a:r>
            <a:endParaRPr lang="en-US" sz="900" dirty="0"/>
          </a:p>
        </p:txBody>
      </p:sp>
      <p:sp>
        <p:nvSpPr>
          <p:cNvPr id="32" name="Text 30"/>
          <p:cNvSpPr/>
          <p:nvPr/>
        </p:nvSpPr>
        <p:spPr>
          <a:xfrm>
            <a:off x="5760720" y="3785616"/>
            <a:ext cx="2926080" cy="274320"/>
          </a:xfrm>
          <a:prstGeom prst="rect">
            <a:avLst/>
          </a:prstGeom>
          <a:noFill/>
          <a:ln/>
        </p:spPr>
        <p:txBody>
          <a:bodyPr wrap="square" lIns="0" tIns="0" rIns="0" bIns="0" rtlCol="0" anchor="ctr"/>
          <a:lstStyle/>
          <a:p>
            <a:pPr indent="0" marL="0">
              <a:buNone/>
            </a:pPr>
            <a:r>
              <a:rPr lang="en-US" sz="1300" b="1" dirty="0">
                <a:solidFill>
                  <a:srgbClr val="F85149"/>
                </a:solidFill>
                <a:latin typeface="Calibri" pitchFamily="34" charset="0"/>
                <a:ea typeface="Calibri" pitchFamily="34" charset="-122"/>
                <a:cs typeface="Calibri" pitchFamily="34" charset="-120"/>
              </a:rPr>
              <a:t>AI Enhancements</a:t>
            </a:r>
            <a:endParaRPr lang="en-US" sz="1300" dirty="0"/>
          </a:p>
        </p:txBody>
      </p:sp>
      <p:sp>
        <p:nvSpPr>
          <p:cNvPr id="33" name="Text 31"/>
          <p:cNvSpPr/>
          <p:nvPr/>
        </p:nvSpPr>
        <p:spPr>
          <a:xfrm>
            <a:off x="4937760" y="4096512"/>
            <a:ext cx="3749040" cy="548640"/>
          </a:xfrm>
          <a:prstGeom prst="rect">
            <a:avLst/>
          </a:prstGeom>
          <a:noFill/>
          <a:ln/>
        </p:spPr>
        <p:txBody>
          <a:bodyPr wrap="square" lIns="0" tIns="0" rIns="0" bIns="0" rtlCol="0" anchor="ctr"/>
          <a:lstStyle/>
          <a:p>
            <a:pPr indent="0" marL="0">
              <a:buNone/>
            </a:pPr>
            <a:r>
              <a:rPr lang="en-US" sz="1050" dirty="0">
                <a:solidFill>
                  <a:srgbClr val="8B949E"/>
                </a:solidFill>
                <a:latin typeface="Calibri" pitchFamily="34" charset="0"/>
                <a:ea typeface="Calibri" pitchFamily="34" charset="-122"/>
                <a:cs typeface="Calibri" pitchFamily="34" charset="-120"/>
              </a:rPr>
              <a:t>RAG-powered event recommendations using vector search + Bedrock Knowledge Base</a:t>
            </a:r>
            <a:endParaRPr lang="en-US" sz="1050" dirty="0"/>
          </a:p>
        </p:txBody>
      </p:sp>
      <p:sp>
        <p:nvSpPr>
          <p:cNvPr id="34" name="Text 32"/>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1050" dirty="0">
                <a:solidFill>
                  <a:srgbClr val="6E7681"/>
                </a:solidFill>
                <a:latin typeface="Calibri" pitchFamily="34" charset="0"/>
                <a:ea typeface="Calibri" pitchFamily="34" charset="-122"/>
                <a:cs typeface="Calibri" pitchFamily="34" charset="-120"/>
              </a:rPr>
              <a:t>Architecture designed to scale — current foundation supports all future phases without re-architecture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0" y="-914400"/>
            <a:ext cx="6400800" cy="6400800"/>
          </a:xfrm>
          <a:prstGeom prst="ellipse">
            <a:avLst/>
          </a:prstGeom>
          <a:solidFill>
            <a:srgbClr val="FF9900">
              <a:alpha val="6000"/>
            </a:srgbClr>
          </a:solidFill>
          <a:ln w="12700">
            <a:solidFill>
              <a:srgbClr val="FF9900">
                <a:alpha val="6000"/>
              </a:srgbClr>
            </a:solidFill>
            <a:prstDash val="solid"/>
          </a:ln>
        </p:spPr>
      </p:sp>
      <p:sp>
        <p:nvSpPr>
          <p:cNvPr id="3" name="Shape 1"/>
          <p:cNvSpPr/>
          <p:nvPr/>
        </p:nvSpPr>
        <p:spPr>
          <a:xfrm>
            <a:off x="-1828800" y="1828800"/>
            <a:ext cx="5486400" cy="5486400"/>
          </a:xfrm>
          <a:prstGeom prst="ellipse">
            <a:avLst/>
          </a:prstGeom>
          <a:solidFill>
            <a:srgbClr val="00A4BD">
              <a:alpha val="6000"/>
            </a:srgbClr>
          </a:solidFill>
          <a:ln w="12700">
            <a:solidFill>
              <a:srgbClr val="00A4BD">
                <a:alpha val="6000"/>
              </a:srgbClr>
            </a:solidFill>
            <a:prstDash val="solid"/>
          </a:ln>
        </p:spPr>
      </p:sp>
      <p:sp>
        <p:nvSpPr>
          <p:cNvPr id="4" name="Text 2"/>
          <p:cNvSpPr/>
          <p:nvPr/>
        </p:nvSpPr>
        <p:spPr>
          <a:xfrm>
            <a:off x="457200" y="822960"/>
            <a:ext cx="8229600" cy="502920"/>
          </a:xfrm>
          <a:prstGeom prst="rect">
            <a:avLst/>
          </a:prstGeom>
          <a:noFill/>
          <a:ln/>
        </p:spPr>
        <p:txBody>
          <a:bodyPr wrap="square" lIns="0" tIns="0" rIns="0" bIns="0" rtlCol="0" anchor="ctr"/>
          <a:lstStyle/>
          <a:p>
            <a:pPr algn="ctr" indent="0" marL="0">
              <a:buNone/>
            </a:pPr>
            <a:r>
              <a:rPr lang="en-US" sz="1100" b="1" spc="800" kern="0" dirty="0">
                <a:solidFill>
                  <a:srgbClr val="FF9900"/>
                </a:solidFill>
                <a:latin typeface="Calibri" pitchFamily="34" charset="0"/>
                <a:ea typeface="Calibri" pitchFamily="34" charset="-122"/>
                <a:cs typeface="Calibri" pitchFamily="34" charset="-120"/>
              </a:rPr>
              <a:t>BLACKTICKETS</a:t>
            </a:r>
            <a:endParaRPr lang="en-US" sz="1100" dirty="0"/>
          </a:p>
        </p:txBody>
      </p:sp>
      <p:sp>
        <p:nvSpPr>
          <p:cNvPr id="5" name="Text 3"/>
          <p:cNvSpPr/>
          <p:nvPr/>
        </p:nvSpPr>
        <p:spPr>
          <a:xfrm>
            <a:off x="457200" y="1417320"/>
            <a:ext cx="8229600" cy="1188720"/>
          </a:xfrm>
          <a:prstGeom prst="rect">
            <a:avLst/>
          </a:prstGeom>
          <a:noFill/>
          <a:ln/>
        </p:spPr>
        <p:txBody>
          <a:bodyPr wrap="square" lIns="0" tIns="0" rIns="0" bIns="0" rtlCol="0" anchor="ctr"/>
          <a:lstStyle/>
          <a:p>
            <a:pPr algn="ctr" indent="0" marL="0">
              <a:buNone/>
            </a:pPr>
            <a:r>
              <a:rPr lang="en-US" sz="6800" b="1" dirty="0">
                <a:solidFill>
                  <a:srgbClr val="FFFFFF"/>
                </a:solidFill>
                <a:latin typeface="Cambria" pitchFamily="34" charset="0"/>
                <a:ea typeface="Cambria" pitchFamily="34" charset="-122"/>
                <a:cs typeface="Cambria" pitchFamily="34" charset="-120"/>
              </a:rPr>
              <a:t>Thank You</a:t>
            </a:r>
            <a:endParaRPr lang="en-US" sz="6800" dirty="0"/>
          </a:p>
        </p:txBody>
      </p:sp>
      <p:sp>
        <p:nvSpPr>
          <p:cNvPr id="6" name="Text 4"/>
          <p:cNvSpPr/>
          <p:nvPr/>
        </p:nvSpPr>
        <p:spPr>
          <a:xfrm>
            <a:off x="457200" y="2651760"/>
            <a:ext cx="8229600" cy="411480"/>
          </a:xfrm>
          <a:prstGeom prst="rect">
            <a:avLst/>
          </a:prstGeom>
          <a:noFill/>
          <a:ln/>
        </p:spPr>
        <p:txBody>
          <a:bodyPr wrap="square" lIns="0" tIns="0" rIns="0" bIns="0" rtlCol="0" anchor="ctr"/>
          <a:lstStyle/>
          <a:p>
            <a:pPr algn="ctr" indent="0" marL="0">
              <a:buNone/>
            </a:pPr>
            <a:r>
              <a:rPr lang="en-US" sz="1700" dirty="0">
                <a:solidFill>
                  <a:srgbClr val="00A4BD"/>
                </a:solidFill>
                <a:latin typeface="Calibri" pitchFamily="34" charset="0"/>
                <a:ea typeface="Calibri" pitchFamily="34" charset="-122"/>
                <a:cs typeface="Calibri" pitchFamily="34" charset="-120"/>
              </a:rPr>
              <a:t>Production-Grade DevOps · Kubernetes · AWS · AI Integration</a:t>
            </a:r>
            <a:endParaRPr lang="en-US" sz="1700" dirty="0"/>
          </a:p>
        </p:txBody>
      </p:sp>
      <p:sp>
        <p:nvSpPr>
          <p:cNvPr id="7" name="Shape 5"/>
          <p:cNvSpPr/>
          <p:nvPr/>
        </p:nvSpPr>
        <p:spPr>
          <a:xfrm>
            <a:off x="2286000" y="3246120"/>
            <a:ext cx="4572000" cy="0"/>
          </a:xfrm>
          <a:prstGeom prst="line">
            <a:avLst/>
          </a:prstGeom>
          <a:noFill/>
          <a:ln w="12700">
            <a:solidFill>
              <a:srgbClr val="30363D"/>
            </a:solidFill>
            <a:prstDash val="solid"/>
          </a:ln>
        </p:spPr>
      </p:sp>
      <p:sp>
        <p:nvSpPr>
          <p:cNvPr id="8" name="Text 6"/>
          <p:cNvSpPr/>
          <p:nvPr/>
        </p:nvSpPr>
        <p:spPr>
          <a:xfrm>
            <a:off x="914400" y="3429000"/>
            <a:ext cx="1645920" cy="457200"/>
          </a:xfrm>
          <a:prstGeom prst="rect">
            <a:avLst/>
          </a:prstGeom>
          <a:noFill/>
          <a:ln/>
        </p:spPr>
        <p:txBody>
          <a:bodyPr wrap="square" lIns="0" tIns="0" rIns="0" bIns="0" rtlCol="0" anchor="ctr"/>
          <a:lstStyle/>
          <a:p>
            <a:pPr algn="ctr" indent="0" marL="0">
              <a:buNone/>
            </a:pPr>
            <a:r>
              <a:rPr lang="en-US" sz="2200" b="1" dirty="0">
                <a:solidFill>
                  <a:srgbClr val="FF9900"/>
                </a:solidFill>
                <a:latin typeface="Cambria" pitchFamily="34" charset="0"/>
                <a:ea typeface="Cambria" pitchFamily="34" charset="-122"/>
                <a:cs typeface="Cambria" pitchFamily="34" charset="-120"/>
              </a:rPr>
              <a:t>EKS</a:t>
            </a:r>
            <a:endParaRPr lang="en-US" sz="2200" dirty="0"/>
          </a:p>
        </p:txBody>
      </p:sp>
      <p:sp>
        <p:nvSpPr>
          <p:cNvPr id="9" name="Text 7"/>
          <p:cNvSpPr/>
          <p:nvPr/>
        </p:nvSpPr>
        <p:spPr>
          <a:xfrm>
            <a:off x="914400" y="3858768"/>
            <a:ext cx="1645920" cy="274320"/>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Kubernetes</a:t>
            </a:r>
            <a:endParaRPr lang="en-US" sz="1100" dirty="0"/>
          </a:p>
        </p:txBody>
      </p:sp>
      <p:sp>
        <p:nvSpPr>
          <p:cNvPr id="10" name="Text 8"/>
          <p:cNvSpPr/>
          <p:nvPr/>
        </p:nvSpPr>
        <p:spPr>
          <a:xfrm>
            <a:off x="2743200" y="3429000"/>
            <a:ext cx="1645920" cy="457200"/>
          </a:xfrm>
          <a:prstGeom prst="rect">
            <a:avLst/>
          </a:prstGeom>
          <a:noFill/>
          <a:ln/>
        </p:spPr>
        <p:txBody>
          <a:bodyPr wrap="square" lIns="0" tIns="0" rIns="0" bIns="0" rtlCol="0" anchor="ctr"/>
          <a:lstStyle/>
          <a:p>
            <a:pPr algn="ctr" indent="0" marL="0">
              <a:buNone/>
            </a:pPr>
            <a:r>
              <a:rPr lang="en-US" sz="2200" b="1" dirty="0">
                <a:solidFill>
                  <a:srgbClr val="FF9900"/>
                </a:solidFill>
                <a:latin typeface="Cambria" pitchFamily="34" charset="0"/>
                <a:ea typeface="Cambria" pitchFamily="34" charset="-122"/>
                <a:cs typeface="Cambria" pitchFamily="34" charset="-120"/>
              </a:rPr>
              <a:t>GitOps</a:t>
            </a:r>
            <a:endParaRPr lang="en-US" sz="2200" dirty="0"/>
          </a:p>
        </p:txBody>
      </p:sp>
      <p:sp>
        <p:nvSpPr>
          <p:cNvPr id="11" name="Text 9"/>
          <p:cNvSpPr/>
          <p:nvPr/>
        </p:nvSpPr>
        <p:spPr>
          <a:xfrm>
            <a:off x="2743200" y="3858768"/>
            <a:ext cx="1645920" cy="274320"/>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ArgoCD</a:t>
            </a:r>
            <a:endParaRPr lang="en-US" sz="1100" dirty="0"/>
          </a:p>
        </p:txBody>
      </p:sp>
      <p:sp>
        <p:nvSpPr>
          <p:cNvPr id="12" name="Text 10"/>
          <p:cNvSpPr/>
          <p:nvPr/>
        </p:nvSpPr>
        <p:spPr>
          <a:xfrm>
            <a:off x="4572000" y="3429000"/>
            <a:ext cx="1645920" cy="457200"/>
          </a:xfrm>
          <a:prstGeom prst="rect">
            <a:avLst/>
          </a:prstGeom>
          <a:noFill/>
          <a:ln/>
        </p:spPr>
        <p:txBody>
          <a:bodyPr wrap="square" lIns="0" tIns="0" rIns="0" bIns="0" rtlCol="0" anchor="ctr"/>
          <a:lstStyle/>
          <a:p>
            <a:pPr algn="ctr" indent="0" marL="0">
              <a:buNone/>
            </a:pPr>
            <a:r>
              <a:rPr lang="en-US" sz="2200" b="1" dirty="0">
                <a:solidFill>
                  <a:srgbClr val="FF9900"/>
                </a:solidFill>
                <a:latin typeface="Cambria" pitchFamily="34" charset="0"/>
                <a:ea typeface="Cambria" pitchFamily="34" charset="-122"/>
                <a:cs typeface="Cambria" pitchFamily="34" charset="-120"/>
              </a:rPr>
              <a:t>AI</a:t>
            </a:r>
            <a:endParaRPr lang="en-US" sz="2200" dirty="0"/>
          </a:p>
        </p:txBody>
      </p:sp>
      <p:sp>
        <p:nvSpPr>
          <p:cNvPr id="13" name="Text 11"/>
          <p:cNvSpPr/>
          <p:nvPr/>
        </p:nvSpPr>
        <p:spPr>
          <a:xfrm>
            <a:off x="4572000" y="3858768"/>
            <a:ext cx="1645920" cy="274320"/>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Bedrock Agent</a:t>
            </a:r>
            <a:endParaRPr lang="en-US" sz="1100" dirty="0"/>
          </a:p>
        </p:txBody>
      </p:sp>
      <p:sp>
        <p:nvSpPr>
          <p:cNvPr id="14" name="Text 12"/>
          <p:cNvSpPr/>
          <p:nvPr/>
        </p:nvSpPr>
        <p:spPr>
          <a:xfrm>
            <a:off x="6400800" y="3429000"/>
            <a:ext cx="1645920" cy="457200"/>
          </a:xfrm>
          <a:prstGeom prst="rect">
            <a:avLst/>
          </a:prstGeom>
          <a:noFill/>
          <a:ln/>
        </p:spPr>
        <p:txBody>
          <a:bodyPr wrap="square" lIns="0" tIns="0" rIns="0" bIns="0" rtlCol="0" anchor="ctr"/>
          <a:lstStyle/>
          <a:p>
            <a:pPr algn="ctr" indent="0" marL="0">
              <a:buNone/>
            </a:pPr>
            <a:r>
              <a:rPr lang="en-US" sz="2200" b="1" dirty="0">
                <a:solidFill>
                  <a:srgbClr val="FF9900"/>
                </a:solidFill>
                <a:latin typeface="Cambria" pitchFamily="34" charset="0"/>
                <a:ea typeface="Cambria" pitchFamily="34" charset="-122"/>
                <a:cs typeface="Cambria" pitchFamily="34" charset="-120"/>
              </a:rPr>
              <a:t>IaC</a:t>
            </a:r>
            <a:endParaRPr lang="en-US" sz="2200" dirty="0"/>
          </a:p>
        </p:txBody>
      </p:sp>
      <p:sp>
        <p:nvSpPr>
          <p:cNvPr id="15" name="Text 13"/>
          <p:cNvSpPr/>
          <p:nvPr/>
        </p:nvSpPr>
        <p:spPr>
          <a:xfrm>
            <a:off x="6400800" y="3858768"/>
            <a:ext cx="1645920" cy="274320"/>
          </a:xfrm>
          <a:prstGeom prst="rect">
            <a:avLst/>
          </a:prstGeom>
          <a:noFill/>
          <a:ln/>
        </p:spPr>
        <p:txBody>
          <a:bodyPr wrap="square" lIns="0" tIns="0" rIns="0" bIns="0" rtlCol="0" anchor="ctr"/>
          <a:lstStyle/>
          <a:p>
            <a:pPr algn="ctr" indent="0" marL="0">
              <a:buNone/>
            </a:pPr>
            <a:r>
              <a:rPr lang="en-US" sz="1100" dirty="0">
                <a:solidFill>
                  <a:srgbClr val="8B949E"/>
                </a:solidFill>
                <a:latin typeface="Calibri" pitchFamily="34" charset="0"/>
                <a:ea typeface="Calibri" pitchFamily="34" charset="-122"/>
                <a:cs typeface="Calibri" pitchFamily="34" charset="-120"/>
              </a:rPr>
              <a:t>Terraform</a:t>
            </a:r>
            <a:endParaRPr lang="en-US" sz="1100" dirty="0"/>
          </a:p>
        </p:txBody>
      </p:sp>
      <p:sp>
        <p:nvSpPr>
          <p:cNvPr id="16" name="Text 14"/>
          <p:cNvSpPr/>
          <p:nvPr/>
        </p:nvSpPr>
        <p:spPr>
          <a:xfrm>
            <a:off x="457200" y="4434840"/>
            <a:ext cx="8229600" cy="320040"/>
          </a:xfrm>
          <a:prstGeom prst="rect">
            <a:avLst/>
          </a:prstGeom>
          <a:noFill/>
          <a:ln/>
        </p:spPr>
        <p:txBody>
          <a:bodyPr wrap="square" lIns="0" tIns="0" rIns="0" bIns="0" rtlCol="0" anchor="ctr"/>
          <a:lstStyle/>
          <a:p>
            <a:pPr algn="ctr" indent="0" marL="0">
              <a:buNone/>
            </a:pPr>
            <a:r>
              <a:rPr lang="en-US" sz="1300" i="1" dirty="0">
                <a:solidFill>
                  <a:srgbClr val="6E7681"/>
                </a:solidFill>
                <a:latin typeface="Calibri" pitchFamily="34" charset="0"/>
                <a:ea typeface="Calibri" pitchFamily="34" charset="-122"/>
                <a:cs typeface="Calibri" pitchFamily="34" charset="-120"/>
              </a:rPr>
              <a:t>Questions &amp;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BlackTickets – Production Grade Cloud Native Event Booking Platform</dc:title>
  <dc:subject>PptxGenJS Presentation</dc:subject>
  <dc:creator>PptxGenJS</dc:creator>
  <cp:lastModifiedBy>PptxGenJS</cp:lastModifiedBy>
  <cp:revision>1</cp:revision>
  <dcterms:created xsi:type="dcterms:W3CDTF">2026-06-24T10:31:03Z</dcterms:created>
  <dcterms:modified xsi:type="dcterms:W3CDTF">2026-06-24T10:31:03Z</dcterms:modified>
</cp:coreProperties>
</file>